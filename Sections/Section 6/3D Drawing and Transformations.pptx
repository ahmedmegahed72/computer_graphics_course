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1" r:id="rId1"/>
  </p:sldMasterIdLst>
  <p:notesMasterIdLst>
    <p:notesMasterId r:id="rId47"/>
  </p:notesMasterIdLst>
  <p:sldIdLst>
    <p:sldId id="256" r:id="rId2"/>
    <p:sldId id="267" r:id="rId3"/>
    <p:sldId id="268" r:id="rId4"/>
    <p:sldId id="269" r:id="rId5"/>
    <p:sldId id="311" r:id="rId6"/>
    <p:sldId id="271" r:id="rId7"/>
    <p:sldId id="270" r:id="rId8"/>
    <p:sldId id="272" r:id="rId9"/>
    <p:sldId id="273" r:id="rId10"/>
    <p:sldId id="274"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10" r:id="rId45"/>
    <p:sldId id="275"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AE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2375" autoAdjust="0"/>
  </p:normalViewPr>
  <p:slideViewPr>
    <p:cSldViewPr snapToGrid="0">
      <p:cViewPr>
        <p:scale>
          <a:sx n="60" d="100"/>
          <a:sy n="60" d="100"/>
        </p:scale>
        <p:origin x="114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A604EF-AEB0-4741-A1C6-8501E81A689B}" type="datetimeFigureOut">
              <a:rPr lang="en-US" smtClean="0"/>
              <a:t>5/17/2021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F57519-F7FC-4D00-A87F-B8D7C15D43BC}" type="slidenum">
              <a:rPr lang="en-US" smtClean="0"/>
              <a:t>‹#›</a:t>
            </a:fld>
            <a:endParaRPr lang="en-US"/>
          </a:p>
        </p:txBody>
      </p:sp>
    </p:spTree>
    <p:extLst>
      <p:ext uri="{BB962C8B-B14F-4D97-AF65-F5344CB8AC3E}">
        <p14:creationId xmlns:p14="http://schemas.microsoft.com/office/powerpoint/2010/main" val="2915815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1</a:t>
            </a:fld>
            <a:endParaRPr lang="en-US"/>
          </a:p>
        </p:txBody>
      </p:sp>
    </p:spTree>
    <p:extLst>
      <p:ext uri="{BB962C8B-B14F-4D97-AF65-F5344CB8AC3E}">
        <p14:creationId xmlns:p14="http://schemas.microsoft.com/office/powerpoint/2010/main" val="637496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Frustum:</a:t>
            </a:r>
            <a:r>
              <a:rPr lang="ar-EG" dirty="0"/>
              <a:t>المخروط الناقص</a:t>
            </a:r>
          </a:p>
          <a:p>
            <a:r>
              <a:rPr lang="en-US" dirty="0"/>
              <a:t>Plane:</a:t>
            </a:r>
            <a:r>
              <a:rPr lang="ar-EG" dirty="0"/>
              <a:t>مستوي</a:t>
            </a:r>
            <a:endParaRPr lang="en-US" dirty="0"/>
          </a:p>
          <a:p>
            <a:r>
              <a:rPr lang="en-US" dirty="0"/>
              <a:t>Portion:</a:t>
            </a:r>
            <a:r>
              <a:rPr lang="ar-EG" dirty="0"/>
              <a:t>جزء</a:t>
            </a:r>
          </a:p>
          <a:p>
            <a:r>
              <a:rPr lang="en-US" dirty="0"/>
              <a:t> an untruncated pyramid along the line of sight:</a:t>
            </a:r>
            <a:r>
              <a:rPr lang="ar-EG" dirty="0"/>
              <a:t>هرم غير مقطوع على طول خط البصر</a:t>
            </a:r>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6</a:t>
            </a:fld>
            <a:endParaRPr lang="en-US"/>
          </a:p>
        </p:txBody>
      </p:sp>
    </p:spTree>
    <p:extLst>
      <p:ext uri="{BB962C8B-B14F-4D97-AF65-F5344CB8AC3E}">
        <p14:creationId xmlns:p14="http://schemas.microsoft.com/office/powerpoint/2010/main" val="1015614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derived from :</a:t>
            </a:r>
            <a:r>
              <a:rPr lang="ar-EG" dirty="0"/>
              <a:t>مستمدة من</a:t>
            </a:r>
            <a:endParaRPr lang="en-US" dirty="0"/>
          </a:p>
          <a:p>
            <a:r>
              <a:rPr lang="en-US" dirty="0"/>
              <a:t>a reference point :</a:t>
            </a:r>
            <a:r>
              <a:rPr lang="ar-EG" dirty="0"/>
              <a:t>نقطة مرجعية</a:t>
            </a:r>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9</a:t>
            </a:fld>
            <a:endParaRPr lang="en-US"/>
          </a:p>
        </p:txBody>
      </p:sp>
    </p:spTree>
    <p:extLst>
      <p:ext uri="{BB962C8B-B14F-4D97-AF65-F5344CB8AC3E}">
        <p14:creationId xmlns:p14="http://schemas.microsoft.com/office/powerpoint/2010/main" val="2748290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dirty="0"/>
              <a:t>منتشر</a:t>
            </a:r>
            <a:r>
              <a:rPr lang="en-US" sz="1200" b="1" dirty="0">
                <a:solidFill>
                  <a:srgbClr val="53AE6E"/>
                </a:solidFill>
              </a:rPr>
              <a:t>DIFFUSE</a:t>
            </a:r>
            <a:endParaRPr lang="en-US" dirty="0"/>
          </a:p>
          <a:p>
            <a:r>
              <a:rPr lang="en-US" dirty="0"/>
              <a:t> radiates :</a:t>
            </a:r>
            <a:r>
              <a:rPr lang="ar-EG" dirty="0"/>
              <a:t>يشع</a:t>
            </a:r>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14</a:t>
            </a:fld>
            <a:endParaRPr lang="en-US"/>
          </a:p>
        </p:txBody>
      </p:sp>
    </p:spTree>
    <p:extLst>
      <p:ext uri="{BB962C8B-B14F-4D97-AF65-F5344CB8AC3E}">
        <p14:creationId xmlns:p14="http://schemas.microsoft.com/office/powerpoint/2010/main" val="2838090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Specular:</a:t>
            </a:r>
            <a:r>
              <a:rPr lang="ar-EG" dirty="0"/>
              <a:t>براق</a:t>
            </a:r>
            <a:endParaRPr lang="en-US" dirty="0"/>
          </a:p>
          <a:p>
            <a:r>
              <a:rPr lang="en-US" dirty="0"/>
              <a:t>like polished plastics and metals:</a:t>
            </a:r>
            <a:r>
              <a:rPr lang="ar-EG" dirty="0"/>
              <a:t>مثل البلاستيك المصقول والمعادن</a:t>
            </a:r>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15</a:t>
            </a:fld>
            <a:endParaRPr lang="en-US"/>
          </a:p>
        </p:txBody>
      </p:sp>
    </p:spTree>
    <p:extLst>
      <p:ext uri="{BB962C8B-B14F-4D97-AF65-F5344CB8AC3E}">
        <p14:creationId xmlns:p14="http://schemas.microsoft.com/office/powerpoint/2010/main" val="2833365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Ambient:</a:t>
            </a:r>
            <a:r>
              <a:rPr lang="ar-EG" dirty="0"/>
              <a:t>محيط ب</a:t>
            </a:r>
            <a:endParaRPr lang="en-US" dirty="0"/>
          </a:p>
          <a:p>
            <a:r>
              <a:rPr lang="ar-EG" dirty="0"/>
              <a:t>خضع</a:t>
            </a:r>
            <a:r>
              <a:rPr lang="en-US" dirty="0"/>
              <a:t>:undergo</a:t>
            </a:r>
          </a:p>
          <a:p>
            <a:r>
              <a:rPr lang="en-GB" dirty="0"/>
              <a:t>Emission:</a:t>
            </a:r>
            <a:r>
              <a:rPr lang="ar-EG" dirty="0"/>
              <a:t>انبعاث</a:t>
            </a:r>
          </a:p>
          <a:p>
            <a:r>
              <a:rPr lang="en-GB" dirty="0"/>
              <a:t>Emits:</a:t>
            </a:r>
            <a:r>
              <a:rPr lang="ar-EG" dirty="0"/>
              <a:t>يصدر</a:t>
            </a:r>
            <a:endParaRPr lang="en-US" dirty="0"/>
          </a:p>
        </p:txBody>
      </p:sp>
      <p:sp>
        <p:nvSpPr>
          <p:cNvPr id="4" name="Slide Number Placeholder 3"/>
          <p:cNvSpPr>
            <a:spLocks noGrp="1"/>
          </p:cNvSpPr>
          <p:nvPr>
            <p:ph type="sldNum" sz="quarter" idx="5"/>
          </p:nvPr>
        </p:nvSpPr>
        <p:spPr/>
        <p:txBody>
          <a:bodyPr/>
          <a:lstStyle/>
          <a:p>
            <a:fld id="{C6F57519-F7FC-4D00-A87F-B8D7C15D43BC}" type="slidenum">
              <a:rPr lang="en-US" smtClean="0"/>
              <a:t>16</a:t>
            </a:fld>
            <a:endParaRPr lang="en-US"/>
          </a:p>
        </p:txBody>
      </p:sp>
    </p:spTree>
    <p:extLst>
      <p:ext uri="{BB962C8B-B14F-4D97-AF65-F5344CB8AC3E}">
        <p14:creationId xmlns:p14="http://schemas.microsoft.com/office/powerpoint/2010/main" val="2097126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effectLst/>
              </a:rPr>
              <a:t>counter-clockwise order:</a:t>
            </a:r>
            <a:r>
              <a:rPr lang="ar-EG" sz="1200" b="0" dirty="0">
                <a:effectLst/>
              </a:rPr>
              <a:t>ترتيب عكس اتجاه عقارب الساعة</a:t>
            </a:r>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19</a:t>
            </a:fld>
            <a:endParaRPr lang="en-US"/>
          </a:p>
        </p:txBody>
      </p:sp>
    </p:spTree>
    <p:extLst>
      <p:ext uri="{BB962C8B-B14F-4D97-AF65-F5344CB8AC3E}">
        <p14:creationId xmlns:p14="http://schemas.microsoft.com/office/powerpoint/2010/main" val="3200497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https://learnopengl.com/Getting-started/Textures</a:t>
            </a:r>
          </a:p>
        </p:txBody>
      </p:sp>
      <p:sp>
        <p:nvSpPr>
          <p:cNvPr id="4" name="Slide Number Placeholder 3"/>
          <p:cNvSpPr>
            <a:spLocks noGrp="1"/>
          </p:cNvSpPr>
          <p:nvPr>
            <p:ph type="sldNum" sz="quarter" idx="10"/>
          </p:nvPr>
        </p:nvSpPr>
        <p:spPr/>
        <p:txBody>
          <a:bodyPr/>
          <a:lstStyle/>
          <a:p>
            <a:fld id="{C6F57519-F7FC-4D00-A87F-B8D7C15D43BC}" type="slidenum">
              <a:rPr lang="en-US" smtClean="0"/>
              <a:t>33</a:t>
            </a:fld>
            <a:endParaRPr lang="en-US"/>
          </a:p>
        </p:txBody>
      </p:sp>
    </p:spTree>
    <p:extLst>
      <p:ext uri="{BB962C8B-B14F-4D97-AF65-F5344CB8AC3E}">
        <p14:creationId xmlns:p14="http://schemas.microsoft.com/office/powerpoint/2010/main" val="3493474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https://learnopengl.com/Getting-started/Textures</a:t>
            </a:r>
          </a:p>
        </p:txBody>
      </p:sp>
      <p:sp>
        <p:nvSpPr>
          <p:cNvPr id="4" name="Slide Number Placeholder 3"/>
          <p:cNvSpPr>
            <a:spLocks noGrp="1"/>
          </p:cNvSpPr>
          <p:nvPr>
            <p:ph type="sldNum" sz="quarter" idx="10"/>
          </p:nvPr>
        </p:nvSpPr>
        <p:spPr/>
        <p:txBody>
          <a:bodyPr/>
          <a:lstStyle/>
          <a:p>
            <a:fld id="{C6F57519-F7FC-4D00-A87F-B8D7C15D43BC}" type="slidenum">
              <a:rPr lang="en-US" smtClean="0"/>
              <a:t>34</a:t>
            </a:fld>
            <a:endParaRPr lang="en-US"/>
          </a:p>
        </p:txBody>
      </p:sp>
    </p:spTree>
    <p:extLst>
      <p:ext uri="{BB962C8B-B14F-4D97-AF65-F5344CB8AC3E}">
        <p14:creationId xmlns:p14="http://schemas.microsoft.com/office/powerpoint/2010/main" val="515648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https://learnopengl.com/Getting-started/Textures</a:t>
            </a:r>
          </a:p>
        </p:txBody>
      </p:sp>
      <p:sp>
        <p:nvSpPr>
          <p:cNvPr id="4" name="Slide Number Placeholder 3"/>
          <p:cNvSpPr>
            <a:spLocks noGrp="1"/>
          </p:cNvSpPr>
          <p:nvPr>
            <p:ph type="sldNum" sz="quarter" idx="10"/>
          </p:nvPr>
        </p:nvSpPr>
        <p:spPr/>
        <p:txBody>
          <a:bodyPr/>
          <a:lstStyle/>
          <a:p>
            <a:fld id="{C6F57519-F7FC-4D00-A87F-B8D7C15D43BC}" type="slidenum">
              <a:rPr lang="en-US" smtClean="0"/>
              <a:t>43</a:t>
            </a:fld>
            <a:endParaRPr lang="en-US"/>
          </a:p>
        </p:txBody>
      </p:sp>
    </p:spTree>
    <p:extLst>
      <p:ext uri="{BB962C8B-B14F-4D97-AF65-F5344CB8AC3E}">
        <p14:creationId xmlns:p14="http://schemas.microsoft.com/office/powerpoint/2010/main" val="221851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48A87A34-81AB-432B-8DAE-1953F412C126}" type="datetimeFigureOut">
              <a:rPr lang="en-US" smtClean="0"/>
              <a:t>5/17/2021</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6D22F896-40B5-4ADD-8801-0D06FADFA095}" type="slidenum">
              <a:rPr lang="en-US" smtClean="0"/>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13655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25137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48A87A34-81AB-432B-8DAE-1953F412C126}" type="datetimeFigureOut">
              <a:rPr lang="en-US" smtClean="0"/>
              <a:pPr/>
              <a:t>5/17/2021</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6D22F896-40B5-4ADD-8801-0D06FADFA095}" type="slidenum">
              <a:rPr lang="en-US" smtClean="0"/>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62372977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5/17/2021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4978163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5/17/2021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4357507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5/17/2021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2354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5/17/2021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97060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65051" y="6375679"/>
            <a:ext cx="1233355" cy="348462"/>
          </a:xfrm>
        </p:spPr>
        <p:txBody>
          <a:bodyPr/>
          <a:lstStyle/>
          <a:p>
            <a:fld id="{48A87A34-81AB-432B-8DAE-1953F412C126}" type="datetimeFigureOut">
              <a:rPr lang="en-US" smtClean="0"/>
              <a:t>5/17/2021</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6D22F896-40B5-4ADD-8801-0D06FADFA095}"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51039830"/>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65950" y="6375679"/>
            <a:ext cx="1232456" cy="348462"/>
          </a:xfrm>
        </p:spPr>
        <p:txBody>
          <a:bodyPr/>
          <a:lstStyle/>
          <a:p>
            <a:fld id="{48A87A34-81AB-432B-8DAE-1953F412C126}" type="datetimeFigureOut">
              <a:rPr lang="en-US" smtClean="0"/>
              <a:t>5/17/2021</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55144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7600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62983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48A87A34-81AB-432B-8DAE-1953F412C126}" type="datetimeFigureOut">
              <a:rPr lang="en-US" smtClean="0"/>
              <a:pPr/>
              <a:t>5/17/2021</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6D22F896-40B5-4ADD-8801-0D06FADFA095}"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0232454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8" Type="http://schemas.openxmlformats.org/officeDocument/2006/relationships/hyperlink" Target="https://www.opengl.org/resources/libraries/glut/" TargetMode="External"/><Relationship Id="rId3" Type="http://schemas.openxmlformats.org/officeDocument/2006/relationships/hyperlink" Target="http://www.videotutorialsrock.com/" TargetMode="External"/><Relationship Id="rId7" Type="http://schemas.openxmlformats.org/officeDocument/2006/relationships/hyperlink" Target="https://open.gl/" TargetMode="External"/><Relationship Id="rId2" Type="http://schemas.openxmlformats.org/officeDocument/2006/relationships/hyperlink" Target="https://learnopengl.com/" TargetMode="External"/><Relationship Id="rId1" Type="http://schemas.openxmlformats.org/officeDocument/2006/relationships/slideLayout" Target="../slideLayouts/slideLayout2.xml"/><Relationship Id="rId6" Type="http://schemas.openxmlformats.org/officeDocument/2006/relationships/hyperlink" Target="https://hackr.io/tutorials/learn-opengl" TargetMode="External"/><Relationship Id="rId5" Type="http://schemas.openxmlformats.org/officeDocument/2006/relationships/hyperlink" Target="https://www.coders-hub.com/2013/06/opengl-code-for-collision-detection.html#.WttVyIhubIV" TargetMode="External"/><Relationship Id="rId4" Type="http://schemas.openxmlformats.org/officeDocument/2006/relationships/hyperlink" Target="https://www.ntu.edu.sg/home/ehchua/programming/opengl/CG_Introduction.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CFD77-CCD0-478D-87AC-D3BB5A384069}"/>
              </a:ext>
            </a:extLst>
          </p:cNvPr>
          <p:cNvSpPr>
            <a:spLocks noGrp="1"/>
          </p:cNvSpPr>
          <p:nvPr>
            <p:ph type="ctrTitle"/>
          </p:nvPr>
        </p:nvSpPr>
        <p:spPr/>
        <p:txBody>
          <a:bodyPr>
            <a:normAutofit/>
          </a:bodyPr>
          <a:lstStyle/>
          <a:p>
            <a:r>
              <a:rPr lang="en-US" sz="5400" b="1" dirty="0">
                <a:solidFill>
                  <a:schemeClr val="tx1"/>
                </a:solidFill>
              </a:rPr>
              <a:t>Section 5</a:t>
            </a:r>
          </a:p>
        </p:txBody>
      </p:sp>
      <p:sp>
        <p:nvSpPr>
          <p:cNvPr id="3" name="Subtitle 2">
            <a:extLst>
              <a:ext uri="{FF2B5EF4-FFF2-40B4-BE49-F238E27FC236}">
                <a16:creationId xmlns:a16="http://schemas.microsoft.com/office/drawing/2014/main" id="{1F79FFEA-93F3-4B00-9FCE-42F2C2A23900}"/>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208807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1" name="Freeform 6" title="scalloped circle">
            <a:extLst>
              <a:ext uri="{FF2B5EF4-FFF2-40B4-BE49-F238E27FC236}">
                <a16:creationId xmlns:a16="http://schemas.microsoft.com/office/drawing/2014/main" id="{AD447701-5C61-47D2-A56F-5FDCC544073C}"/>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2" name="Rectangle 12" title="left edge border">
            <a:extLst>
              <a:ext uri="{FF2B5EF4-FFF2-40B4-BE49-F238E27FC236}">
                <a16:creationId xmlns:a16="http://schemas.microsoft.com/office/drawing/2014/main" id="{7D5ECDCF-19AC-4A65-B2EF-088F9B7E1C62}"/>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6" name="Picture 5">
            <a:extLst>
              <a:ext uri="{FF2B5EF4-FFF2-40B4-BE49-F238E27FC236}">
                <a16:creationId xmlns:a16="http://schemas.microsoft.com/office/drawing/2014/main" id="{36BA13CA-5B56-41A2-B41A-95970AA82306}"/>
              </a:ext>
            </a:extLst>
          </p:cNvPr>
          <p:cNvPicPr>
            <a:picLocks noChangeAspect="1"/>
          </p:cNvPicPr>
          <p:nvPr/>
        </p:nvPicPr>
        <p:blipFill rotWithShape="1">
          <a:blip r:embed="rId2">
            <a:grayscl/>
          </a:blip>
          <a:srcRect t="18797" b="22704"/>
          <a:stretch/>
        </p:blipFill>
        <p:spPr>
          <a:xfrm>
            <a:off x="20" y="-6691"/>
            <a:ext cx="12191980" cy="6864691"/>
          </a:xfrm>
          <a:prstGeom prst="rect">
            <a:avLst/>
          </a:prstGeom>
        </p:spPr>
      </p:pic>
      <p:sp>
        <p:nvSpPr>
          <p:cNvPr id="23" name="Rectangle 14">
            <a:extLst>
              <a:ext uri="{FF2B5EF4-FFF2-40B4-BE49-F238E27FC236}">
                <a16:creationId xmlns:a16="http://schemas.microsoft.com/office/drawing/2014/main" id="{1FC56533-4B43-4E02-8E46-A756D64EB2CD}"/>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6858000"/>
          </a:xfrm>
          <a:prstGeom prst="rect">
            <a:avLst/>
          </a:prstGeom>
          <a:solidFill>
            <a:schemeClr val="tx2">
              <a:alpha val="75000"/>
            </a:schemeClr>
          </a:solidFill>
          <a:ln w="0">
            <a:noFill/>
            <a:prstDash val="solid"/>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6" title="scalloped circle">
            <a:extLst>
              <a:ext uri="{FF2B5EF4-FFF2-40B4-BE49-F238E27FC236}">
                <a16:creationId xmlns:a16="http://schemas.microsoft.com/office/drawing/2014/main" id="{DB1A161C-8798-4759-A64D-0012D9DE4D7C}"/>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5" name="Rectangle 18" title="left edge border">
            <a:extLst>
              <a:ext uri="{FF2B5EF4-FFF2-40B4-BE49-F238E27FC236}">
                <a16:creationId xmlns:a16="http://schemas.microsoft.com/office/drawing/2014/main" id="{2403F8C8-7B1D-4B7F-BFB3-52F427847533}"/>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C3FA468-E8E8-41C3-9F9D-5260CB00D279}"/>
              </a:ext>
            </a:extLst>
          </p:cNvPr>
          <p:cNvSpPr>
            <a:spLocks noGrp="1"/>
          </p:cNvSpPr>
          <p:nvPr>
            <p:ph type="title"/>
          </p:nvPr>
        </p:nvSpPr>
        <p:spPr>
          <a:xfrm>
            <a:off x="1015594" y="873508"/>
            <a:ext cx="10318418" cy="4467118"/>
          </a:xfrm>
        </p:spPr>
        <p:txBody>
          <a:bodyPr vert="horz" lIns="91440" tIns="45720" rIns="91440" bIns="45720" rtlCol="0" anchor="ctr">
            <a:normAutofit/>
          </a:bodyPr>
          <a:lstStyle/>
          <a:p>
            <a:pPr algn="ctr"/>
            <a:r>
              <a:rPr lang="en-US" sz="4000" b="1" dirty="0">
                <a:solidFill>
                  <a:schemeClr val="tx1"/>
                </a:solidFill>
              </a:rPr>
              <a:t>3D</a:t>
            </a:r>
            <a:br>
              <a:rPr lang="en-US" sz="4000" b="1" dirty="0">
                <a:solidFill>
                  <a:schemeClr val="tx1"/>
                </a:solidFill>
              </a:rPr>
            </a:br>
            <a:r>
              <a:rPr lang="en-US" sz="4000" b="1" dirty="0">
                <a:solidFill>
                  <a:schemeClr val="tx1"/>
                </a:solidFill>
              </a:rPr>
              <a:t> Environment</a:t>
            </a:r>
          </a:p>
        </p:txBody>
      </p:sp>
      <p:sp>
        <p:nvSpPr>
          <p:cNvPr id="3" name="Text Placeholder 2">
            <a:extLst>
              <a:ext uri="{FF2B5EF4-FFF2-40B4-BE49-F238E27FC236}">
                <a16:creationId xmlns:a16="http://schemas.microsoft.com/office/drawing/2014/main" id="{D03D37B3-71B6-4951-82CA-F9B490B8A58C}"/>
              </a:ext>
            </a:extLst>
          </p:cNvPr>
          <p:cNvSpPr>
            <a:spLocks noGrp="1"/>
          </p:cNvSpPr>
          <p:nvPr>
            <p:ph type="body" idx="1"/>
          </p:nvPr>
        </p:nvSpPr>
        <p:spPr>
          <a:xfrm>
            <a:off x="1596931" y="5956474"/>
            <a:ext cx="9281602" cy="534624"/>
          </a:xfrm>
        </p:spPr>
        <p:txBody>
          <a:bodyPr vert="horz" lIns="91440" tIns="45720" rIns="91440" bIns="45720" rtlCol="0" anchor="t">
            <a:normAutofit/>
          </a:bodyPr>
          <a:lstStyle/>
          <a:p>
            <a:pPr algn="ctr"/>
            <a:endParaRPr lang="en-US">
              <a:solidFill>
                <a:schemeClr val="bg2"/>
              </a:solidFill>
            </a:endParaRPr>
          </a:p>
        </p:txBody>
      </p:sp>
    </p:spTree>
    <p:extLst>
      <p:ext uri="{BB962C8B-B14F-4D97-AF65-F5344CB8AC3E}">
        <p14:creationId xmlns:p14="http://schemas.microsoft.com/office/powerpoint/2010/main" val="2198481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71C82-653F-40C8-A5C9-F45825BAA1B4}"/>
              </a:ext>
            </a:extLst>
          </p:cNvPr>
          <p:cNvSpPr>
            <a:spLocks noGrp="1"/>
          </p:cNvSpPr>
          <p:nvPr>
            <p:ph type="title"/>
          </p:nvPr>
        </p:nvSpPr>
        <p:spPr/>
        <p:txBody>
          <a:bodyPr>
            <a:noAutofit/>
          </a:bodyPr>
          <a:lstStyle/>
          <a:p>
            <a:r>
              <a:rPr lang="en-US" sz="4000" b="1" dirty="0"/>
              <a:t>Orthographic</a:t>
            </a:r>
            <a:r>
              <a:rPr lang="en-US" sz="4000" dirty="0"/>
              <a:t> Projection </a:t>
            </a:r>
            <a:r>
              <a:rPr lang="en-US" sz="4000" b="1" dirty="0">
                <a:solidFill>
                  <a:srgbClr val="53AE6E"/>
                </a:solidFill>
              </a:rPr>
              <a:t>vs</a:t>
            </a:r>
            <a:r>
              <a:rPr lang="en-US" sz="4000" dirty="0"/>
              <a:t>. </a:t>
            </a:r>
            <a:r>
              <a:rPr lang="en-US" sz="4000" b="1" dirty="0"/>
              <a:t>Perspective</a:t>
            </a:r>
            <a:r>
              <a:rPr lang="en-US" sz="4000" dirty="0"/>
              <a:t> Projection</a:t>
            </a:r>
          </a:p>
        </p:txBody>
      </p:sp>
      <p:sp>
        <p:nvSpPr>
          <p:cNvPr id="6" name="Text Placeholder 5">
            <a:extLst>
              <a:ext uri="{FF2B5EF4-FFF2-40B4-BE49-F238E27FC236}">
                <a16:creationId xmlns:a16="http://schemas.microsoft.com/office/drawing/2014/main" id="{F258A25A-0578-4197-8B1D-886947009C91}"/>
              </a:ext>
            </a:extLst>
          </p:cNvPr>
          <p:cNvSpPr>
            <a:spLocks noGrp="1"/>
          </p:cNvSpPr>
          <p:nvPr>
            <p:ph type="body" idx="1"/>
          </p:nvPr>
        </p:nvSpPr>
        <p:spPr/>
        <p:txBody>
          <a:bodyPr/>
          <a:lstStyle/>
          <a:p>
            <a:r>
              <a:rPr lang="en-US" sz="2400" dirty="0"/>
              <a:t>Orthographic</a:t>
            </a:r>
            <a:endParaRPr lang="en-US" dirty="0"/>
          </a:p>
        </p:txBody>
      </p:sp>
      <p:sp>
        <p:nvSpPr>
          <p:cNvPr id="7" name="Content Placeholder 6">
            <a:extLst>
              <a:ext uri="{FF2B5EF4-FFF2-40B4-BE49-F238E27FC236}">
                <a16:creationId xmlns:a16="http://schemas.microsoft.com/office/drawing/2014/main" id="{DB88F3BB-8089-497A-9AEC-81A9C79E0B56}"/>
              </a:ext>
            </a:extLst>
          </p:cNvPr>
          <p:cNvSpPr>
            <a:spLocks noGrp="1"/>
          </p:cNvSpPr>
          <p:nvPr>
            <p:ph sz="half" idx="2"/>
          </p:nvPr>
        </p:nvSpPr>
        <p:spPr/>
        <p:txBody>
          <a:bodyPr/>
          <a:lstStyle/>
          <a:p>
            <a:r>
              <a:rPr lang="en-US" dirty="0"/>
              <a:t>:Simply, it ignores the </a:t>
            </a:r>
            <a:r>
              <a:rPr lang="en-US" b="1" dirty="0">
                <a:solidFill>
                  <a:srgbClr val="53AE6E"/>
                </a:solidFill>
              </a:rPr>
              <a:t>z-component</a:t>
            </a:r>
            <a:r>
              <a:rPr lang="en-US" dirty="0"/>
              <a:t> of the point. Good for engineering designs but not realistic because if objects far from the eye should appear smaller than objects close the eye. However, this doesn't happen in orthographic projection</a:t>
            </a:r>
          </a:p>
        </p:txBody>
      </p:sp>
      <p:sp>
        <p:nvSpPr>
          <p:cNvPr id="8" name="Text Placeholder 7">
            <a:extLst>
              <a:ext uri="{FF2B5EF4-FFF2-40B4-BE49-F238E27FC236}">
                <a16:creationId xmlns:a16="http://schemas.microsoft.com/office/drawing/2014/main" id="{DC373C8D-4FD8-4A33-8436-586F27969D24}"/>
              </a:ext>
            </a:extLst>
          </p:cNvPr>
          <p:cNvSpPr>
            <a:spLocks noGrp="1"/>
          </p:cNvSpPr>
          <p:nvPr>
            <p:ph type="body" sz="quarter" idx="3"/>
          </p:nvPr>
        </p:nvSpPr>
        <p:spPr/>
        <p:txBody>
          <a:bodyPr/>
          <a:lstStyle/>
          <a:p>
            <a:r>
              <a:rPr lang="en-US" sz="2400" dirty="0"/>
              <a:t>Perspective</a:t>
            </a:r>
            <a:endParaRPr lang="en-US" dirty="0"/>
          </a:p>
        </p:txBody>
      </p:sp>
      <p:sp>
        <p:nvSpPr>
          <p:cNvPr id="9" name="Content Placeholder 8">
            <a:extLst>
              <a:ext uri="{FF2B5EF4-FFF2-40B4-BE49-F238E27FC236}">
                <a16:creationId xmlns:a16="http://schemas.microsoft.com/office/drawing/2014/main" id="{9277013F-CF37-413A-8A90-5D20B9AAC982}"/>
              </a:ext>
            </a:extLst>
          </p:cNvPr>
          <p:cNvSpPr>
            <a:spLocks noGrp="1"/>
          </p:cNvSpPr>
          <p:nvPr>
            <p:ph sz="quarter" idx="4"/>
          </p:nvPr>
        </p:nvSpPr>
        <p:spPr/>
        <p:txBody>
          <a:bodyPr/>
          <a:lstStyle/>
          <a:p>
            <a:r>
              <a:rPr lang="en-US" dirty="0"/>
              <a:t>Things far from the eye look smaller. It tries to model the viewing of </a:t>
            </a:r>
            <a:r>
              <a:rPr lang="en-US" b="1" dirty="0">
                <a:solidFill>
                  <a:srgbClr val="53AE6E"/>
                </a:solidFill>
              </a:rPr>
              <a:t>the human eye</a:t>
            </a:r>
            <a:r>
              <a:rPr lang="en-US" dirty="0"/>
              <a:t>: First, a ray from the point to the eye is drawn, and its projection on the near plane is observed. The projection on the near plane is what we see on the screen.</a:t>
            </a:r>
          </a:p>
        </p:txBody>
      </p:sp>
    </p:spTree>
    <p:extLst>
      <p:ext uri="{BB962C8B-B14F-4D97-AF65-F5344CB8AC3E}">
        <p14:creationId xmlns:p14="http://schemas.microsoft.com/office/powerpoint/2010/main" val="3974004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02F16-645D-4C5C-832E-9BDB941A7001}"/>
              </a:ext>
            </a:extLst>
          </p:cNvPr>
          <p:cNvSpPr>
            <a:spLocks noGrp="1"/>
          </p:cNvSpPr>
          <p:nvPr>
            <p:ph type="title"/>
          </p:nvPr>
        </p:nvSpPr>
        <p:spPr/>
        <p:txBody>
          <a:bodyPr/>
          <a:lstStyle/>
          <a:p>
            <a:r>
              <a:rPr lang="en-US" dirty="0"/>
              <a:t>Set UP 3D</a:t>
            </a:r>
          </a:p>
        </p:txBody>
      </p:sp>
      <p:graphicFrame>
        <p:nvGraphicFramePr>
          <p:cNvPr id="5" name="Content Placeholder 4">
            <a:extLst>
              <a:ext uri="{FF2B5EF4-FFF2-40B4-BE49-F238E27FC236}">
                <a16:creationId xmlns:a16="http://schemas.microsoft.com/office/drawing/2014/main" id="{8629BA11-7B19-443E-B6E7-569F04A5F65D}"/>
              </a:ext>
            </a:extLst>
          </p:cNvPr>
          <p:cNvGraphicFramePr>
            <a:graphicFrameLocks noGrp="1"/>
          </p:cNvGraphicFramePr>
          <p:nvPr>
            <p:ph idx="1"/>
            <p:extLst>
              <p:ext uri="{D42A27DB-BD31-4B8C-83A1-F6EECF244321}">
                <p14:modId xmlns:p14="http://schemas.microsoft.com/office/powerpoint/2010/main" val="4174420338"/>
              </p:ext>
            </p:extLst>
          </p:nvPr>
        </p:nvGraphicFramePr>
        <p:xfrm>
          <a:off x="962526" y="1278170"/>
          <a:ext cx="10467474" cy="5620195"/>
        </p:xfrm>
        <a:graphic>
          <a:graphicData uri="http://schemas.openxmlformats.org/drawingml/2006/table">
            <a:tbl>
              <a:tblPr>
                <a:tableStyleId>{5C22544A-7EE6-4342-B048-85BDC9FD1C3A}</a:tableStyleId>
              </a:tblPr>
              <a:tblGrid>
                <a:gridCol w="10467474">
                  <a:extLst>
                    <a:ext uri="{9D8B030D-6E8A-4147-A177-3AD203B41FA5}">
                      <a16:colId xmlns:a16="http://schemas.microsoft.com/office/drawing/2014/main" val="2460950494"/>
                    </a:ext>
                  </a:extLst>
                </a:gridCol>
              </a:tblGrid>
              <a:tr h="4420266">
                <a:tc>
                  <a:txBody>
                    <a:bodyPr/>
                    <a:lstStyle/>
                    <a:p>
                      <a:pPr marL="0" marR="0" algn="l">
                        <a:lnSpc>
                          <a:spcPct val="105000"/>
                        </a:lnSpc>
                        <a:spcBef>
                          <a:spcPts val="0"/>
                        </a:spcBef>
                        <a:spcAft>
                          <a:spcPts val="0"/>
                        </a:spcAft>
                      </a:pPr>
                      <a:r>
                        <a:rPr lang="en-US" sz="1800" b="1" dirty="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void</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SetTransformations</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a:solidFill>
                            <a:srgbClr val="008000"/>
                          </a:solidFill>
                          <a:effectLst/>
                          <a:latin typeface="Courier New" panose="02070309020205020404" pitchFamily="49" charset="0"/>
                          <a:ea typeface="Times New Roman" panose="02020603050405020304" pitchFamily="18" charset="0"/>
                          <a:cs typeface="Times New Roman" panose="02020603050405020304" pitchFamily="18" charset="0"/>
                        </a:rPr>
                        <a:t>//set up the logical coordinate system of the window: [-100, 100] x [-100, 100]</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glMatrixMode</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(GL_PROJECTION);</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glLoadIdentity</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gluPerspective</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(60,(</a:t>
                      </a:r>
                      <a:r>
                        <a:rPr lang="en-US" sz="1800" b="1" dirty="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double</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)800/ 600, 0.01, 1000);</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glEnable</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(GL_DEPTH_TEST);</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rgbClr val="008000"/>
                          </a:solidFill>
                          <a:effectLst/>
                          <a:latin typeface="Courier New" panose="02070309020205020404" pitchFamily="49" charset="0"/>
                          <a:ea typeface="Times New Roman" panose="02020603050405020304" pitchFamily="18" charset="0"/>
                          <a:cs typeface="Times New Roman" panose="02020603050405020304" pitchFamily="18" charset="0"/>
                        </a:rPr>
                        <a:t>// set the camera here</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err="1">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gluLookAt</a:t>
                      </a:r>
                      <a:r>
                        <a:rPr lang="en-US" sz="1800" b="1" dirty="0">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a:solidFill>
                            <a:srgbClr val="53AE6E"/>
                          </a:solidFill>
                          <a:effectLst/>
                          <a:latin typeface="Courier New" panose="02070309020205020404" pitchFamily="49" charset="0"/>
                          <a:ea typeface="Times New Roman" panose="02020603050405020304" pitchFamily="18" charset="0"/>
                          <a:cs typeface="Times New Roman" panose="02020603050405020304" pitchFamily="18" charset="0"/>
                        </a:rPr>
                        <a:t>//cam </a:t>
                      </a:r>
                      <a:r>
                        <a:rPr lang="en-US" sz="1800" b="1" dirty="0" err="1">
                          <a:solidFill>
                            <a:srgbClr val="53AE6E"/>
                          </a:solidFill>
                          <a:effectLst/>
                          <a:latin typeface="Courier New" panose="02070309020205020404" pitchFamily="49" charset="0"/>
                          <a:ea typeface="Times New Roman" panose="02020603050405020304" pitchFamily="18" charset="0"/>
                          <a:cs typeface="Times New Roman" panose="02020603050405020304" pitchFamily="18" charset="0"/>
                        </a:rPr>
                        <a:t>pos</a:t>
                      </a:r>
                      <a:endParaRPr lang="en-US" sz="1800" b="1" dirty="0">
                        <a:solidFill>
                          <a:srgbClr val="53AE6E"/>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                30, 40, 20,</a:t>
                      </a:r>
                      <a:endPar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rgbClr val="53AE6E"/>
                          </a:solidFill>
                          <a:effectLst/>
                          <a:latin typeface="Courier New" panose="02070309020205020404" pitchFamily="49" charset="0"/>
                          <a:ea typeface="Times New Roman" panose="02020603050405020304" pitchFamily="18" charset="0"/>
                          <a:cs typeface="Times New Roman" panose="02020603050405020304" pitchFamily="18" charset="0"/>
                        </a:rPr>
                        <a:t>                //looking at</a:t>
                      </a:r>
                      <a:endParaRPr lang="en-US" sz="1800" b="1" dirty="0">
                        <a:solidFill>
                          <a:srgbClr val="53AE6E"/>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                0, 0, 0,</a:t>
                      </a:r>
                      <a:endPar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rgbClr val="53AE6E"/>
                          </a:solidFill>
                          <a:effectLst/>
                          <a:latin typeface="Courier New" panose="02070309020205020404" pitchFamily="49" charset="0"/>
                          <a:ea typeface="Times New Roman" panose="02020603050405020304" pitchFamily="18" charset="0"/>
                          <a:cs typeface="Times New Roman" panose="02020603050405020304" pitchFamily="18" charset="0"/>
                        </a:rPr>
                        <a:t>                //up </a:t>
                      </a:r>
                      <a:r>
                        <a:rPr lang="en-US" sz="1800" b="1" dirty="0" err="1">
                          <a:solidFill>
                            <a:srgbClr val="53AE6E"/>
                          </a:solidFill>
                          <a:effectLst/>
                          <a:latin typeface="Courier New" panose="02070309020205020404" pitchFamily="49" charset="0"/>
                          <a:ea typeface="Times New Roman" panose="02020603050405020304" pitchFamily="18" charset="0"/>
                          <a:cs typeface="Times New Roman" panose="02020603050405020304" pitchFamily="18" charset="0"/>
                        </a:rPr>
                        <a:t>dir</a:t>
                      </a:r>
                      <a:endParaRPr lang="en-US" sz="1800" b="1" dirty="0">
                        <a:solidFill>
                          <a:srgbClr val="53AE6E"/>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                0, 1, 0);</a:t>
                      </a:r>
                      <a:endPar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747751812"/>
                  </a:ext>
                </a:extLst>
              </a:tr>
            </a:tbl>
          </a:graphicData>
        </a:graphic>
      </p:graphicFrame>
    </p:spTree>
    <p:extLst>
      <p:ext uri="{BB962C8B-B14F-4D97-AF65-F5344CB8AC3E}">
        <p14:creationId xmlns:p14="http://schemas.microsoft.com/office/powerpoint/2010/main" val="670629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02A8B-A13A-401E-8FB8-8CAF9BEB50D9}"/>
              </a:ext>
            </a:extLst>
          </p:cNvPr>
          <p:cNvSpPr>
            <a:spLocks noGrp="1"/>
          </p:cNvSpPr>
          <p:nvPr>
            <p:ph type="title"/>
          </p:nvPr>
        </p:nvSpPr>
        <p:spPr/>
        <p:txBody>
          <a:bodyPr/>
          <a:lstStyle/>
          <a:p>
            <a:r>
              <a:rPr lang="en-US" dirty="0"/>
              <a:t>Set UP 3D</a:t>
            </a:r>
            <a:endParaRPr lang="en-GB" dirty="0"/>
          </a:p>
        </p:txBody>
      </p:sp>
      <p:sp>
        <p:nvSpPr>
          <p:cNvPr id="3" name="Content Placeholder 2">
            <a:extLst>
              <a:ext uri="{FF2B5EF4-FFF2-40B4-BE49-F238E27FC236}">
                <a16:creationId xmlns:a16="http://schemas.microsoft.com/office/drawing/2014/main" id="{16044D75-A320-453D-AAC1-F4CADDDB069C}"/>
              </a:ext>
            </a:extLst>
          </p:cNvPr>
          <p:cNvSpPr>
            <a:spLocks noGrp="1"/>
          </p:cNvSpPr>
          <p:nvPr>
            <p:ph idx="1"/>
          </p:nvPr>
        </p:nvSpPr>
        <p:spPr>
          <a:xfrm>
            <a:off x="1251678" y="2021305"/>
            <a:ext cx="10178322" cy="4836695"/>
          </a:xfrm>
        </p:spPr>
        <p:txBody>
          <a:bodyPr>
            <a:noAutofit/>
          </a:bodyPr>
          <a:lstStyle/>
          <a:p>
            <a:r>
              <a:rPr lang="en-US" sz="1800" b="1" dirty="0" err="1"/>
              <a:t>fovy</a:t>
            </a:r>
            <a:endParaRPr lang="en-US" sz="1800" b="1" dirty="0"/>
          </a:p>
          <a:p>
            <a:r>
              <a:rPr lang="en-US" sz="1800" b="1" dirty="0"/>
              <a:t>Specifies the field of view angle, in degrees, in the y direction.</a:t>
            </a:r>
          </a:p>
          <a:p>
            <a:endParaRPr lang="en-US" sz="1800" b="1" dirty="0"/>
          </a:p>
          <a:p>
            <a:r>
              <a:rPr lang="en-US" sz="1800" b="1" dirty="0"/>
              <a:t>aspect</a:t>
            </a:r>
          </a:p>
          <a:p>
            <a:r>
              <a:rPr lang="en-US" sz="1800" b="1" dirty="0"/>
              <a:t>Specifies the aspect ratio that determines the field of view in the x direction. The aspect ratio is the ratio of x (width) to y (height).</a:t>
            </a:r>
          </a:p>
          <a:p>
            <a:endParaRPr lang="en-US" sz="1800" b="1" dirty="0"/>
          </a:p>
          <a:p>
            <a:r>
              <a:rPr lang="en-US" sz="1800" b="1" dirty="0" err="1"/>
              <a:t>zNear</a:t>
            </a:r>
            <a:endParaRPr lang="en-US" sz="1800" b="1" dirty="0"/>
          </a:p>
          <a:p>
            <a:r>
              <a:rPr lang="en-US" sz="1800" b="1" dirty="0"/>
              <a:t>Specifies the distance from the viewer to the near clipping plane (always positive).</a:t>
            </a:r>
          </a:p>
          <a:p>
            <a:endParaRPr lang="en-US" sz="1800" b="1" dirty="0"/>
          </a:p>
          <a:p>
            <a:r>
              <a:rPr lang="en-US" sz="1800" b="1" dirty="0" err="1"/>
              <a:t>zFar</a:t>
            </a:r>
            <a:endParaRPr lang="en-US" sz="1800" b="1" dirty="0"/>
          </a:p>
          <a:p>
            <a:r>
              <a:rPr lang="en-US" sz="1800" b="1" dirty="0"/>
              <a:t>Specifies the distance from the viewer to the far clipping plane (always positive).</a:t>
            </a:r>
            <a:endParaRPr lang="en-GB" sz="1800" b="1" dirty="0"/>
          </a:p>
        </p:txBody>
      </p:sp>
    </p:spTree>
    <p:extLst>
      <p:ext uri="{BB962C8B-B14F-4D97-AF65-F5344CB8AC3E}">
        <p14:creationId xmlns:p14="http://schemas.microsoft.com/office/powerpoint/2010/main" val="82455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00AF7-E78F-4D11-A51A-A20AF06EC76B}"/>
              </a:ext>
            </a:extLst>
          </p:cNvPr>
          <p:cNvSpPr>
            <a:spLocks noGrp="1"/>
          </p:cNvSpPr>
          <p:nvPr>
            <p:ph type="title"/>
          </p:nvPr>
        </p:nvSpPr>
        <p:spPr/>
        <p:txBody>
          <a:bodyPr/>
          <a:lstStyle/>
          <a:p>
            <a:r>
              <a:rPr lang="en-US" sz="5400" b="1" dirty="0" err="1"/>
              <a:t>Prespective</a:t>
            </a:r>
            <a:endParaRPr lang="en-US" b="1" dirty="0"/>
          </a:p>
        </p:txBody>
      </p:sp>
      <p:sp>
        <p:nvSpPr>
          <p:cNvPr id="5" name="Content Placeholder 4">
            <a:extLst>
              <a:ext uri="{FF2B5EF4-FFF2-40B4-BE49-F238E27FC236}">
                <a16:creationId xmlns:a16="http://schemas.microsoft.com/office/drawing/2014/main" id="{390CE445-072D-4D1D-A8EC-FCBA0F66F56E}"/>
              </a:ext>
            </a:extLst>
          </p:cNvPr>
          <p:cNvSpPr>
            <a:spLocks noGrp="1"/>
          </p:cNvSpPr>
          <p:nvPr>
            <p:ph idx="1"/>
          </p:nvPr>
        </p:nvSpPr>
        <p:spPr/>
        <p:txBody>
          <a:bodyPr/>
          <a:lstStyle/>
          <a:p>
            <a:r>
              <a:rPr lang="en-US" dirty="0"/>
              <a:t>The command </a:t>
            </a:r>
            <a:r>
              <a:rPr lang="en-US" sz="2400" b="1" dirty="0" err="1">
                <a:solidFill>
                  <a:srgbClr val="53AE6E"/>
                </a:solidFill>
              </a:rPr>
              <a:t>gluPerspective</a:t>
            </a:r>
            <a:r>
              <a:rPr lang="en-US" dirty="0"/>
              <a:t>() creates a viewing volume of the shape of a frustum, by </a:t>
            </a:r>
            <a:r>
              <a:rPr lang="en-US" dirty="0">
                <a:highlight>
                  <a:srgbClr val="FFFF00"/>
                </a:highlight>
              </a:rPr>
              <a:t>specifying the angle of the field of view in the y-z plane </a:t>
            </a:r>
            <a:r>
              <a:rPr lang="en-US" dirty="0"/>
              <a:t>and the </a:t>
            </a:r>
            <a:r>
              <a:rPr lang="en-US" dirty="0">
                <a:highlight>
                  <a:srgbClr val="FFFF00"/>
                </a:highlight>
              </a:rPr>
              <a:t>aspect ratio of the width to height (x/y). </a:t>
            </a:r>
            <a:r>
              <a:rPr lang="en-US" dirty="0"/>
              <a:t>(For a square portion of the screen, the aspect ratio is 1.0.) These two parameters are enough to determine an untruncated pyramid along the line of sight. You also </a:t>
            </a:r>
            <a:r>
              <a:rPr lang="en-US" dirty="0">
                <a:highlight>
                  <a:srgbClr val="FFFF00"/>
                </a:highlight>
              </a:rPr>
              <a:t>specify the distance between the viewpoint and the near and far clipping planes</a:t>
            </a:r>
            <a:r>
              <a:rPr lang="en-US" dirty="0"/>
              <a:t>, thereby truncating the pyramid. Note that </a:t>
            </a:r>
            <a:r>
              <a:rPr lang="en-US" sz="2400" b="1" dirty="0" err="1">
                <a:solidFill>
                  <a:srgbClr val="53AE6E"/>
                </a:solidFill>
              </a:rPr>
              <a:t>gluPerspective</a:t>
            </a:r>
            <a:r>
              <a:rPr lang="en-US" dirty="0"/>
              <a:t>() is limited to creating frustums that are symmetric in both the x- and y-axes along the line of sight, but this is usually what you want.</a:t>
            </a:r>
          </a:p>
        </p:txBody>
      </p:sp>
      <p:sp>
        <p:nvSpPr>
          <p:cNvPr id="4" name="Rectangle 3">
            <a:extLst>
              <a:ext uri="{FF2B5EF4-FFF2-40B4-BE49-F238E27FC236}">
                <a16:creationId xmlns:a16="http://schemas.microsoft.com/office/drawing/2014/main" id="{1B027755-DB97-49B8-94E6-7C9D64BD2862}"/>
              </a:ext>
            </a:extLst>
          </p:cNvPr>
          <p:cNvSpPr/>
          <p:nvPr/>
        </p:nvSpPr>
        <p:spPr>
          <a:xfrm>
            <a:off x="1444487" y="5090747"/>
            <a:ext cx="6096000" cy="1200329"/>
          </a:xfrm>
          <a:prstGeom prst="rect">
            <a:avLst/>
          </a:prstGeom>
        </p:spPr>
        <p:txBody>
          <a:bodyPr>
            <a:spAutoFit/>
          </a:bodyPr>
          <a:lstStyle/>
          <a:p>
            <a:r>
              <a:rPr lang="en-US" dirty="0"/>
              <a:t>void </a:t>
            </a:r>
            <a:r>
              <a:rPr lang="en-US" b="1" dirty="0" err="1">
                <a:solidFill>
                  <a:srgbClr val="53AE6E"/>
                </a:solidFill>
              </a:rPr>
              <a:t>gluPerspective</a:t>
            </a:r>
            <a:r>
              <a:rPr lang="en-US" dirty="0"/>
              <a:t>(	</a:t>
            </a:r>
            <a:r>
              <a:rPr lang="en-US" dirty="0" err="1"/>
              <a:t>GLdouble</a:t>
            </a:r>
            <a:r>
              <a:rPr lang="en-US" dirty="0"/>
              <a:t> </a:t>
            </a:r>
            <a:r>
              <a:rPr lang="en-US" dirty="0" err="1"/>
              <a:t>fovy</a:t>
            </a:r>
            <a:r>
              <a:rPr lang="en-US" dirty="0"/>
              <a:t>,</a:t>
            </a:r>
          </a:p>
          <a:p>
            <a:r>
              <a:rPr lang="en-US" dirty="0"/>
              <a:t> 					</a:t>
            </a:r>
            <a:r>
              <a:rPr lang="en-US" dirty="0" err="1"/>
              <a:t>GLdouble</a:t>
            </a:r>
            <a:r>
              <a:rPr lang="en-US" dirty="0"/>
              <a:t> aspect,</a:t>
            </a:r>
          </a:p>
          <a:p>
            <a:r>
              <a:rPr lang="en-US" dirty="0"/>
              <a:t> 					</a:t>
            </a:r>
            <a:r>
              <a:rPr lang="en-US" dirty="0" err="1"/>
              <a:t>GLdouble</a:t>
            </a:r>
            <a:r>
              <a:rPr lang="en-US" dirty="0"/>
              <a:t> </a:t>
            </a:r>
            <a:r>
              <a:rPr lang="en-US" dirty="0" err="1"/>
              <a:t>zNear</a:t>
            </a:r>
            <a:r>
              <a:rPr lang="en-US" dirty="0"/>
              <a:t>,</a:t>
            </a:r>
          </a:p>
          <a:p>
            <a:r>
              <a:rPr lang="en-US" dirty="0"/>
              <a:t> 					</a:t>
            </a:r>
            <a:r>
              <a:rPr lang="en-US" dirty="0" err="1"/>
              <a:t>GLdouble</a:t>
            </a:r>
            <a:r>
              <a:rPr lang="en-US" dirty="0"/>
              <a:t> </a:t>
            </a:r>
            <a:r>
              <a:rPr lang="en-US" dirty="0" err="1"/>
              <a:t>zFar</a:t>
            </a:r>
            <a:r>
              <a:rPr lang="en-US" dirty="0"/>
              <a:t>);</a:t>
            </a:r>
          </a:p>
        </p:txBody>
      </p:sp>
    </p:spTree>
    <p:extLst>
      <p:ext uri="{BB962C8B-B14F-4D97-AF65-F5344CB8AC3E}">
        <p14:creationId xmlns:p14="http://schemas.microsoft.com/office/powerpoint/2010/main" val="498375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00AF7-E78F-4D11-A51A-A20AF06EC76B}"/>
              </a:ext>
            </a:extLst>
          </p:cNvPr>
          <p:cNvSpPr>
            <a:spLocks noGrp="1"/>
          </p:cNvSpPr>
          <p:nvPr>
            <p:ph type="title"/>
          </p:nvPr>
        </p:nvSpPr>
        <p:spPr/>
        <p:txBody>
          <a:bodyPr/>
          <a:lstStyle/>
          <a:p>
            <a:r>
              <a:rPr lang="en-US" sz="5400" b="1" dirty="0" err="1"/>
              <a:t>Prespective</a:t>
            </a:r>
            <a:endParaRPr lang="en-US" b="1" dirty="0"/>
          </a:p>
        </p:txBody>
      </p:sp>
      <p:pic>
        <p:nvPicPr>
          <p:cNvPr id="4" name="Content Placeholder 3">
            <a:extLst>
              <a:ext uri="{FF2B5EF4-FFF2-40B4-BE49-F238E27FC236}">
                <a16:creationId xmlns:a16="http://schemas.microsoft.com/office/drawing/2014/main" id="{FB6C29AE-E6B5-4FF9-A4EF-C91C3E8A54FB}"/>
              </a:ext>
            </a:extLst>
          </p:cNvPr>
          <p:cNvPicPr>
            <a:picLocks noGrp="1"/>
          </p:cNvPicPr>
          <p:nvPr>
            <p:ph idx="1"/>
          </p:nvPr>
        </p:nvPicPr>
        <p:blipFill>
          <a:blip r:embed="rId2"/>
          <a:srcRect/>
          <a:stretch>
            <a:fillRect/>
          </a:stretch>
        </p:blipFill>
        <p:spPr bwMode="auto">
          <a:xfrm>
            <a:off x="1470992" y="2863849"/>
            <a:ext cx="9475304" cy="3483941"/>
          </a:xfrm>
          <a:prstGeom prst="rect">
            <a:avLst/>
          </a:prstGeom>
          <a:noFill/>
          <a:ln w="9525">
            <a:noFill/>
            <a:miter lim="800000"/>
            <a:headEnd/>
            <a:tailEnd/>
          </a:ln>
        </p:spPr>
      </p:pic>
    </p:spTree>
    <p:extLst>
      <p:ext uri="{BB962C8B-B14F-4D97-AF65-F5344CB8AC3E}">
        <p14:creationId xmlns:p14="http://schemas.microsoft.com/office/powerpoint/2010/main" val="2955378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3B871-24E5-4E53-A570-A428FCF0F922}"/>
              </a:ext>
            </a:extLst>
          </p:cNvPr>
          <p:cNvSpPr>
            <a:spLocks noGrp="1"/>
          </p:cNvSpPr>
          <p:nvPr>
            <p:ph type="title"/>
          </p:nvPr>
        </p:nvSpPr>
        <p:spPr/>
        <p:txBody>
          <a:bodyPr/>
          <a:lstStyle/>
          <a:p>
            <a:r>
              <a:rPr lang="en-US" b="1" dirty="0" err="1"/>
              <a:t>glEnable</a:t>
            </a:r>
            <a:r>
              <a:rPr lang="en-US" b="1" dirty="0"/>
              <a:t>()</a:t>
            </a:r>
            <a:endParaRPr lang="en-US" dirty="0"/>
          </a:p>
        </p:txBody>
      </p:sp>
      <p:sp>
        <p:nvSpPr>
          <p:cNvPr id="3" name="Content Placeholder 2">
            <a:extLst>
              <a:ext uri="{FF2B5EF4-FFF2-40B4-BE49-F238E27FC236}">
                <a16:creationId xmlns:a16="http://schemas.microsoft.com/office/drawing/2014/main" id="{22FF2C28-C85F-42EE-BC29-D120C45C5E1D}"/>
              </a:ext>
            </a:extLst>
          </p:cNvPr>
          <p:cNvSpPr>
            <a:spLocks noGrp="1"/>
          </p:cNvSpPr>
          <p:nvPr>
            <p:ph idx="1"/>
          </p:nvPr>
        </p:nvSpPr>
        <p:spPr/>
        <p:txBody>
          <a:bodyPr/>
          <a:lstStyle/>
          <a:p>
            <a:r>
              <a:rPr lang="en-US" dirty="0"/>
              <a:t>The command </a:t>
            </a:r>
            <a:r>
              <a:rPr lang="en-US" sz="2400" b="1" dirty="0" err="1">
                <a:solidFill>
                  <a:srgbClr val="53AE6E"/>
                </a:solidFill>
              </a:rPr>
              <a:t>glEnable</a:t>
            </a:r>
            <a:r>
              <a:rPr lang="en-US" b="1" dirty="0"/>
              <a:t>()</a:t>
            </a:r>
            <a:r>
              <a:rPr lang="en-US" dirty="0"/>
              <a:t> enables a given OpenGL capability, in our case we are enabling the depth buffer. The depth buffer holds the depth of each pixels of the frame. It is also called z buffer.</a:t>
            </a:r>
          </a:p>
          <a:p>
            <a:endParaRPr lang="en-US" dirty="0"/>
          </a:p>
          <a:p>
            <a:endParaRPr lang="en-US" dirty="0"/>
          </a:p>
        </p:txBody>
      </p:sp>
    </p:spTree>
    <p:extLst>
      <p:ext uri="{BB962C8B-B14F-4D97-AF65-F5344CB8AC3E}">
        <p14:creationId xmlns:p14="http://schemas.microsoft.com/office/powerpoint/2010/main" val="2698124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err="1"/>
              <a:t>gluLookAt</a:t>
            </a:r>
            <a:r>
              <a:rPr lang="en-US" b="1" dirty="0"/>
              <a:t>()</a:t>
            </a:r>
            <a:r>
              <a:rPr lang="en-US" dirty="0"/>
              <a:t> </a:t>
            </a:r>
          </a:p>
        </p:txBody>
      </p:sp>
      <p:sp>
        <p:nvSpPr>
          <p:cNvPr id="3" name="Content Placeholder 2">
            <a:extLst>
              <a:ext uri="{FF2B5EF4-FFF2-40B4-BE49-F238E27FC236}">
                <a16:creationId xmlns:a16="http://schemas.microsoft.com/office/drawing/2014/main" id="{2947FD3B-48E8-4974-B92D-82DC85E6266E}"/>
              </a:ext>
            </a:extLst>
          </p:cNvPr>
          <p:cNvSpPr>
            <a:spLocks noGrp="1"/>
          </p:cNvSpPr>
          <p:nvPr>
            <p:ph idx="1"/>
          </p:nvPr>
        </p:nvSpPr>
        <p:spPr/>
        <p:txBody>
          <a:bodyPr/>
          <a:lstStyle/>
          <a:p>
            <a:r>
              <a:rPr lang="en-US" dirty="0"/>
              <a:t>The command </a:t>
            </a:r>
            <a:r>
              <a:rPr lang="en-US" sz="2400" b="1" dirty="0" err="1">
                <a:solidFill>
                  <a:srgbClr val="53AE6E"/>
                </a:solidFill>
              </a:rPr>
              <a:t>gluLookAt</a:t>
            </a:r>
            <a:r>
              <a:rPr lang="en-US" dirty="0"/>
              <a:t> creates a viewing matrix derived from an </a:t>
            </a:r>
            <a:r>
              <a:rPr lang="en-US" b="1" dirty="0">
                <a:solidFill>
                  <a:srgbClr val="53AE6E"/>
                </a:solidFill>
              </a:rPr>
              <a:t>eye</a:t>
            </a:r>
            <a:r>
              <a:rPr lang="en-US" dirty="0"/>
              <a:t> point, a reference point indicating the </a:t>
            </a:r>
            <a:r>
              <a:rPr lang="en-US" b="1" dirty="0">
                <a:solidFill>
                  <a:srgbClr val="53AE6E"/>
                </a:solidFill>
              </a:rPr>
              <a:t>center</a:t>
            </a:r>
            <a:r>
              <a:rPr lang="en-US" dirty="0"/>
              <a:t> of the scene, and an </a:t>
            </a:r>
            <a:r>
              <a:rPr lang="en-US" b="1" i="1" dirty="0">
                <a:solidFill>
                  <a:srgbClr val="53AE6E"/>
                </a:solidFill>
              </a:rPr>
              <a:t>UP</a:t>
            </a:r>
            <a:r>
              <a:rPr lang="en-US" dirty="0"/>
              <a:t> vector.</a:t>
            </a:r>
          </a:p>
          <a:p>
            <a:endParaRPr lang="en-US" dirty="0"/>
          </a:p>
          <a:p>
            <a:pPr marL="0" indent="0">
              <a:buNone/>
            </a:pPr>
            <a:endParaRPr lang="en-US" dirty="0"/>
          </a:p>
          <a:p>
            <a:pPr marL="0" indent="0">
              <a:buNone/>
            </a:pPr>
            <a:endParaRPr lang="en-US" dirty="0"/>
          </a:p>
        </p:txBody>
      </p:sp>
      <p:sp>
        <p:nvSpPr>
          <p:cNvPr id="10" name="Rectangle 9">
            <a:extLst>
              <a:ext uri="{FF2B5EF4-FFF2-40B4-BE49-F238E27FC236}">
                <a16:creationId xmlns:a16="http://schemas.microsoft.com/office/drawing/2014/main" id="{0773C620-C520-4B7F-99A9-0C7C81AA13DF}"/>
              </a:ext>
            </a:extLst>
          </p:cNvPr>
          <p:cNvSpPr/>
          <p:nvPr/>
        </p:nvSpPr>
        <p:spPr>
          <a:xfrm>
            <a:off x="1444487" y="3294269"/>
            <a:ext cx="6096000" cy="2585323"/>
          </a:xfrm>
          <a:prstGeom prst="rect">
            <a:avLst/>
          </a:prstGeom>
        </p:spPr>
        <p:txBody>
          <a:bodyPr>
            <a:spAutoFit/>
          </a:bodyPr>
          <a:lstStyle/>
          <a:p>
            <a:r>
              <a:rPr lang="en-US" dirty="0"/>
              <a:t>void </a:t>
            </a:r>
            <a:r>
              <a:rPr lang="en-US" b="1" dirty="0" err="1">
                <a:solidFill>
                  <a:srgbClr val="53AE6E"/>
                </a:solidFill>
              </a:rPr>
              <a:t>gluLookAt</a:t>
            </a:r>
            <a:r>
              <a:rPr lang="en-US" dirty="0"/>
              <a:t>(	</a:t>
            </a:r>
            <a:r>
              <a:rPr lang="en-US" dirty="0" err="1"/>
              <a:t>GLdouble</a:t>
            </a:r>
            <a:r>
              <a:rPr lang="en-US" dirty="0"/>
              <a:t> </a:t>
            </a:r>
            <a:r>
              <a:rPr lang="en-US" dirty="0" err="1"/>
              <a:t>eyeX</a:t>
            </a:r>
            <a:r>
              <a:rPr lang="en-US" dirty="0"/>
              <a:t>,</a:t>
            </a:r>
          </a:p>
          <a:p>
            <a:r>
              <a:rPr lang="en-US" dirty="0"/>
              <a:t> 				</a:t>
            </a:r>
            <a:r>
              <a:rPr lang="en-US" dirty="0" err="1"/>
              <a:t>GLdouble</a:t>
            </a:r>
            <a:r>
              <a:rPr lang="en-US" dirty="0"/>
              <a:t> </a:t>
            </a:r>
            <a:r>
              <a:rPr lang="en-US" dirty="0" err="1"/>
              <a:t>eyeY</a:t>
            </a:r>
            <a:r>
              <a:rPr lang="en-US" dirty="0"/>
              <a:t>,</a:t>
            </a:r>
          </a:p>
          <a:p>
            <a:r>
              <a:rPr lang="en-US" dirty="0"/>
              <a:t> 				</a:t>
            </a:r>
            <a:r>
              <a:rPr lang="en-US" dirty="0" err="1"/>
              <a:t>GLdouble</a:t>
            </a:r>
            <a:r>
              <a:rPr lang="en-US" dirty="0"/>
              <a:t> </a:t>
            </a:r>
            <a:r>
              <a:rPr lang="en-US" dirty="0" err="1"/>
              <a:t>eyeZ</a:t>
            </a:r>
            <a:r>
              <a:rPr lang="en-US" dirty="0"/>
              <a:t>,</a:t>
            </a:r>
          </a:p>
          <a:p>
            <a:r>
              <a:rPr lang="en-US" dirty="0"/>
              <a:t> 				</a:t>
            </a:r>
            <a:r>
              <a:rPr lang="en-US" dirty="0" err="1"/>
              <a:t>GLdouble</a:t>
            </a:r>
            <a:r>
              <a:rPr lang="en-US" dirty="0"/>
              <a:t> </a:t>
            </a:r>
            <a:r>
              <a:rPr lang="en-US" dirty="0" err="1"/>
              <a:t>centerX</a:t>
            </a:r>
            <a:r>
              <a:rPr lang="en-US" dirty="0"/>
              <a:t>,</a:t>
            </a:r>
          </a:p>
          <a:p>
            <a:r>
              <a:rPr lang="en-US" dirty="0"/>
              <a:t> 				</a:t>
            </a:r>
            <a:r>
              <a:rPr lang="en-US" dirty="0" err="1"/>
              <a:t>GLdouble</a:t>
            </a:r>
            <a:r>
              <a:rPr lang="en-US" dirty="0"/>
              <a:t> </a:t>
            </a:r>
            <a:r>
              <a:rPr lang="en-US" dirty="0" err="1"/>
              <a:t>centerY</a:t>
            </a:r>
            <a:r>
              <a:rPr lang="en-US" dirty="0"/>
              <a:t>,</a:t>
            </a:r>
          </a:p>
          <a:p>
            <a:r>
              <a:rPr lang="en-US" dirty="0"/>
              <a:t> 				</a:t>
            </a:r>
            <a:r>
              <a:rPr lang="en-US" dirty="0" err="1"/>
              <a:t>GLdouble</a:t>
            </a:r>
            <a:r>
              <a:rPr lang="en-US" dirty="0"/>
              <a:t> </a:t>
            </a:r>
            <a:r>
              <a:rPr lang="en-US" dirty="0" err="1"/>
              <a:t>centerZ</a:t>
            </a:r>
            <a:r>
              <a:rPr lang="en-US" dirty="0"/>
              <a:t>,</a:t>
            </a:r>
          </a:p>
          <a:p>
            <a:r>
              <a:rPr lang="en-US" dirty="0"/>
              <a:t> 				</a:t>
            </a:r>
            <a:r>
              <a:rPr lang="en-US" dirty="0" err="1"/>
              <a:t>GLdouble</a:t>
            </a:r>
            <a:r>
              <a:rPr lang="en-US" dirty="0"/>
              <a:t> </a:t>
            </a:r>
            <a:r>
              <a:rPr lang="en-US" dirty="0" err="1"/>
              <a:t>upX</a:t>
            </a:r>
            <a:r>
              <a:rPr lang="en-US" dirty="0"/>
              <a:t>,</a:t>
            </a:r>
          </a:p>
          <a:p>
            <a:r>
              <a:rPr lang="en-US" dirty="0"/>
              <a:t> 				</a:t>
            </a:r>
            <a:r>
              <a:rPr lang="en-US" dirty="0" err="1"/>
              <a:t>GLdouble</a:t>
            </a:r>
            <a:r>
              <a:rPr lang="en-US" dirty="0"/>
              <a:t> </a:t>
            </a:r>
            <a:r>
              <a:rPr lang="en-US" dirty="0" err="1"/>
              <a:t>upY</a:t>
            </a:r>
            <a:r>
              <a:rPr lang="en-US" dirty="0"/>
              <a:t>,</a:t>
            </a:r>
          </a:p>
          <a:p>
            <a:r>
              <a:rPr lang="en-US" dirty="0"/>
              <a:t> 				</a:t>
            </a:r>
            <a:r>
              <a:rPr lang="en-US" dirty="0" err="1"/>
              <a:t>GLdouble</a:t>
            </a:r>
            <a:r>
              <a:rPr lang="en-US" dirty="0"/>
              <a:t> </a:t>
            </a:r>
            <a:r>
              <a:rPr lang="en-US" dirty="0" err="1"/>
              <a:t>upZ</a:t>
            </a:r>
            <a:r>
              <a:rPr lang="en-US" dirty="0"/>
              <a:t>);</a:t>
            </a:r>
          </a:p>
        </p:txBody>
      </p:sp>
    </p:spTree>
    <p:extLst>
      <p:ext uri="{BB962C8B-B14F-4D97-AF65-F5344CB8AC3E}">
        <p14:creationId xmlns:p14="http://schemas.microsoft.com/office/powerpoint/2010/main" val="3734072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5400" b="1" dirty="0"/>
              <a:t>Example</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29455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5400" b="1" dirty="0"/>
              <a:t>Lightening</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99945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a:t>Lightening</a:t>
            </a:r>
            <a:endParaRPr lang="en-US" dirty="0"/>
          </a:p>
        </p:txBody>
      </p:sp>
      <p:pic>
        <p:nvPicPr>
          <p:cNvPr id="5" name="Content Placeholder 4">
            <a:extLst>
              <a:ext uri="{FF2B5EF4-FFF2-40B4-BE49-F238E27FC236}">
                <a16:creationId xmlns:a16="http://schemas.microsoft.com/office/drawing/2014/main" id="{96174571-5F1E-4F28-BCCC-17B2EE4E3804}"/>
              </a:ext>
            </a:extLst>
          </p:cNvPr>
          <p:cNvPicPr>
            <a:picLocks noGrp="1"/>
          </p:cNvPicPr>
          <p:nvPr>
            <p:ph idx="1"/>
          </p:nvPr>
        </p:nvPicPr>
        <p:blipFill>
          <a:blip r:embed="rId2"/>
          <a:srcRect/>
          <a:stretch>
            <a:fillRect/>
          </a:stretch>
        </p:blipFill>
        <p:spPr bwMode="auto">
          <a:xfrm>
            <a:off x="4292600" y="3016250"/>
            <a:ext cx="4095750" cy="2133600"/>
          </a:xfrm>
          <a:prstGeom prst="rect">
            <a:avLst/>
          </a:prstGeom>
          <a:noFill/>
          <a:ln w="9525">
            <a:noFill/>
            <a:miter lim="800000"/>
            <a:headEnd/>
            <a:tailEnd/>
          </a:ln>
        </p:spPr>
      </p:pic>
    </p:spTree>
    <p:extLst>
      <p:ext uri="{BB962C8B-B14F-4D97-AF65-F5344CB8AC3E}">
        <p14:creationId xmlns:p14="http://schemas.microsoft.com/office/powerpoint/2010/main" val="1915162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a:t>Lightening</a:t>
            </a:r>
            <a:endParaRPr lang="en-US" dirty="0"/>
          </a:p>
        </p:txBody>
      </p:sp>
      <p:sp>
        <p:nvSpPr>
          <p:cNvPr id="4" name="Content Placeholder 3">
            <a:extLst>
              <a:ext uri="{FF2B5EF4-FFF2-40B4-BE49-F238E27FC236}">
                <a16:creationId xmlns:a16="http://schemas.microsoft.com/office/drawing/2014/main" id="{BF4E42C7-301C-4736-9B7F-5FB6EC4C570D}"/>
              </a:ext>
            </a:extLst>
          </p:cNvPr>
          <p:cNvSpPr>
            <a:spLocks noGrp="1"/>
          </p:cNvSpPr>
          <p:nvPr>
            <p:ph idx="1"/>
          </p:nvPr>
        </p:nvSpPr>
        <p:spPr/>
        <p:txBody>
          <a:bodyPr/>
          <a:lstStyle/>
          <a:p>
            <a:r>
              <a:rPr lang="en-US" dirty="0"/>
              <a:t>To use </a:t>
            </a:r>
            <a:r>
              <a:rPr lang="en-US" b="1" dirty="0">
                <a:solidFill>
                  <a:srgbClr val="53AE6E"/>
                </a:solidFill>
              </a:rPr>
              <a:t>lighting</a:t>
            </a:r>
            <a:r>
              <a:rPr lang="en-US" dirty="0"/>
              <a:t> in OpenGL, you have to:</a:t>
            </a:r>
          </a:p>
          <a:p>
            <a:pPr lvl="1"/>
            <a:r>
              <a:rPr lang="en-US" dirty="0"/>
              <a:t>define one or more light sources, and</a:t>
            </a:r>
          </a:p>
          <a:p>
            <a:pPr lvl="1"/>
            <a:r>
              <a:rPr lang="en-US" dirty="0"/>
              <a:t>specify a material for each primitive drawn that describes how the primitive reflects the incident light</a:t>
            </a:r>
          </a:p>
          <a:p>
            <a:endParaRPr lang="en-US" dirty="0"/>
          </a:p>
        </p:txBody>
      </p:sp>
      <p:pic>
        <p:nvPicPr>
          <p:cNvPr id="7" name="Picture 6" descr="C:\Everything\Work\Work Drive\StudyStuff\Courses Taught\Computer Graphics\2008-2009\Labs\Lab 6\gl8_files\amb2.jpg">
            <a:extLst>
              <a:ext uri="{FF2B5EF4-FFF2-40B4-BE49-F238E27FC236}">
                <a16:creationId xmlns:a16="http://schemas.microsoft.com/office/drawing/2014/main" id="{248BE680-68A9-4D09-8CED-4EB562B25E4D}"/>
              </a:ext>
            </a:extLst>
          </p:cNvPr>
          <p:cNvPicPr/>
          <p:nvPr/>
        </p:nvPicPr>
        <p:blipFill>
          <a:blip r:embed="rId2"/>
          <a:srcRect/>
          <a:stretch>
            <a:fillRect/>
          </a:stretch>
        </p:blipFill>
        <p:spPr bwMode="auto">
          <a:xfrm>
            <a:off x="4472940" y="4256532"/>
            <a:ext cx="1623060" cy="1623060"/>
          </a:xfrm>
          <a:prstGeom prst="rect">
            <a:avLst/>
          </a:prstGeom>
          <a:noFill/>
          <a:ln w="9525">
            <a:noFill/>
            <a:miter lim="800000"/>
            <a:headEnd/>
            <a:tailEnd/>
          </a:ln>
        </p:spPr>
      </p:pic>
      <p:pic>
        <p:nvPicPr>
          <p:cNvPr id="8" name="Picture 7" descr="C:\Everything\Work\Work Drive\StudyStuff\Courses Taught\Computer Graphics\2008-2009\Labs\Lab 6\gl8_files\spec1.jpg">
            <a:extLst>
              <a:ext uri="{FF2B5EF4-FFF2-40B4-BE49-F238E27FC236}">
                <a16:creationId xmlns:a16="http://schemas.microsoft.com/office/drawing/2014/main" id="{C3CD259D-8850-4FC5-BC9B-2E067E84C95C}"/>
              </a:ext>
            </a:extLst>
          </p:cNvPr>
          <p:cNvPicPr/>
          <p:nvPr/>
        </p:nvPicPr>
        <p:blipFill>
          <a:blip r:embed="rId3"/>
          <a:srcRect/>
          <a:stretch>
            <a:fillRect/>
          </a:stretch>
        </p:blipFill>
        <p:spPr bwMode="auto">
          <a:xfrm>
            <a:off x="6340839" y="4253992"/>
            <a:ext cx="1625600" cy="1625600"/>
          </a:xfrm>
          <a:prstGeom prst="rect">
            <a:avLst/>
          </a:prstGeom>
          <a:noFill/>
          <a:ln w="9525">
            <a:noFill/>
            <a:miter lim="800000"/>
            <a:headEnd/>
            <a:tailEnd/>
          </a:ln>
        </p:spPr>
      </p:pic>
    </p:spTree>
    <p:extLst>
      <p:ext uri="{BB962C8B-B14F-4D97-AF65-F5344CB8AC3E}">
        <p14:creationId xmlns:p14="http://schemas.microsoft.com/office/powerpoint/2010/main" val="2687938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a:t>Types of </a:t>
            </a:r>
            <a:r>
              <a:rPr lang="en-US" b="1" dirty="0" err="1"/>
              <a:t>reflectioN</a:t>
            </a:r>
            <a:endParaRPr lang="en-US" dirty="0"/>
          </a:p>
        </p:txBody>
      </p:sp>
      <p:sp>
        <p:nvSpPr>
          <p:cNvPr id="4" name="Content Placeholder 3">
            <a:extLst>
              <a:ext uri="{FF2B5EF4-FFF2-40B4-BE49-F238E27FC236}">
                <a16:creationId xmlns:a16="http://schemas.microsoft.com/office/drawing/2014/main" id="{11E2E30B-6076-439B-B25F-5BC0CE0DF27E}"/>
              </a:ext>
            </a:extLst>
          </p:cNvPr>
          <p:cNvSpPr>
            <a:spLocks noGrp="1"/>
          </p:cNvSpPr>
          <p:nvPr>
            <p:ph idx="1"/>
          </p:nvPr>
        </p:nvSpPr>
        <p:spPr>
          <a:xfrm>
            <a:off x="1251678" y="2286001"/>
            <a:ext cx="10178322" cy="3593591"/>
          </a:xfrm>
        </p:spPr>
        <p:txBody>
          <a:bodyPr/>
          <a:lstStyle/>
          <a:p>
            <a:r>
              <a:rPr lang="en-US" sz="2400" b="1" dirty="0">
                <a:solidFill>
                  <a:srgbClr val="53AE6E"/>
                </a:solidFill>
              </a:rPr>
              <a:t>DIFFUSE</a:t>
            </a:r>
            <a:r>
              <a:rPr lang="en-US" dirty="0"/>
              <a:t> - An incoming ray of light is reflected uniformly in all directions. So, you see it the same from any view point. However, once the light radiates from the surface, it does so equally in all directions. It is diffuse lighting that best defines the color of 3D objects. </a:t>
            </a:r>
          </a:p>
          <a:p>
            <a:endParaRPr lang="en-US" dirty="0"/>
          </a:p>
        </p:txBody>
      </p:sp>
      <p:pic>
        <p:nvPicPr>
          <p:cNvPr id="1026" name="Picture 2" descr="Diffuse1">
            <a:extLst>
              <a:ext uri="{FF2B5EF4-FFF2-40B4-BE49-F238E27FC236}">
                <a16:creationId xmlns:a16="http://schemas.microsoft.com/office/drawing/2014/main" id="{542A8924-A6A0-48EC-92FB-35753B231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8964" y="3763617"/>
            <a:ext cx="3945708" cy="2168362"/>
          </a:xfrm>
          <a:prstGeom prst="rect">
            <a:avLst/>
          </a:prstGeom>
          <a:solidFill>
            <a:srgbClr val="FFFFFF"/>
          </a:solidFill>
        </p:spPr>
      </p:pic>
      <p:pic>
        <p:nvPicPr>
          <p:cNvPr id="1025" name="Picture 3" descr="Diffuse2">
            <a:extLst>
              <a:ext uri="{FF2B5EF4-FFF2-40B4-BE49-F238E27FC236}">
                <a16:creationId xmlns:a16="http://schemas.microsoft.com/office/drawing/2014/main" id="{30D6AF5B-8F99-45D4-870F-9237AE54E9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5999" y="3763617"/>
            <a:ext cx="4155699" cy="2115975"/>
          </a:xfrm>
          <a:prstGeom prst="rect">
            <a:avLst/>
          </a:prstGeom>
          <a:solidFill>
            <a:srgbClr val="FFFFFF"/>
          </a:solidFill>
        </p:spPr>
      </p:pic>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594581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a:t>Types of </a:t>
            </a:r>
            <a:r>
              <a:rPr lang="en-US" b="1" dirty="0" err="1"/>
              <a:t>reflectioN</a:t>
            </a:r>
            <a:endParaRPr lang="en-US" dirty="0"/>
          </a:p>
        </p:txBody>
      </p:sp>
      <p:sp>
        <p:nvSpPr>
          <p:cNvPr id="4" name="Content Placeholder 3">
            <a:extLst>
              <a:ext uri="{FF2B5EF4-FFF2-40B4-BE49-F238E27FC236}">
                <a16:creationId xmlns:a16="http://schemas.microsoft.com/office/drawing/2014/main" id="{11E2E30B-6076-439B-B25F-5BC0CE0DF27E}"/>
              </a:ext>
            </a:extLst>
          </p:cNvPr>
          <p:cNvSpPr>
            <a:spLocks noGrp="1"/>
          </p:cNvSpPr>
          <p:nvPr>
            <p:ph idx="1"/>
          </p:nvPr>
        </p:nvSpPr>
        <p:spPr>
          <a:xfrm>
            <a:off x="1251678" y="2286001"/>
            <a:ext cx="10178322" cy="3593591"/>
          </a:xfrm>
        </p:spPr>
        <p:txBody>
          <a:bodyPr/>
          <a:lstStyle/>
          <a:p>
            <a:pPr lvl="0" fontAlgn="base"/>
            <a:r>
              <a:rPr lang="en-US" b="1" dirty="0">
                <a:solidFill>
                  <a:srgbClr val="53AE6E"/>
                </a:solidFill>
              </a:rPr>
              <a:t>specular</a:t>
            </a:r>
            <a:r>
              <a:rPr lang="en-US" dirty="0"/>
              <a:t> – Specular reflection is similar to reflections of light off a shiny, mirror-like surface. Specular lighting helps us to distinguish between flat, dull surfaces such as plaster and shiny surfaces like polished plastics and metals. </a:t>
            </a:r>
          </a:p>
          <a:p>
            <a:endParaRPr lang="en-US" dirty="0"/>
          </a:p>
        </p:txBody>
      </p:sp>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Picture 6" descr="phongpic">
            <a:extLst>
              <a:ext uri="{FF2B5EF4-FFF2-40B4-BE49-F238E27FC236}">
                <a16:creationId xmlns:a16="http://schemas.microsoft.com/office/drawing/2014/main" id="{CF774429-FCC5-48FF-B3A7-C84CF37EC0C7}"/>
              </a:ext>
            </a:extLst>
          </p:cNvPr>
          <p:cNvPicPr/>
          <p:nvPr/>
        </p:nvPicPr>
        <p:blipFill>
          <a:blip r:embed="rId3"/>
          <a:srcRect/>
          <a:stretch>
            <a:fillRect/>
          </a:stretch>
        </p:blipFill>
        <p:spPr bwMode="auto">
          <a:xfrm>
            <a:off x="4239039" y="3896139"/>
            <a:ext cx="3713922" cy="2579476"/>
          </a:xfrm>
          <a:prstGeom prst="rect">
            <a:avLst/>
          </a:prstGeom>
          <a:solidFill>
            <a:schemeClr val="bg1"/>
          </a:solidFill>
          <a:ln w="9525">
            <a:noFill/>
            <a:miter lim="800000"/>
            <a:headEnd/>
            <a:tailEnd/>
          </a:ln>
        </p:spPr>
      </p:pic>
    </p:spTree>
    <p:extLst>
      <p:ext uri="{BB962C8B-B14F-4D97-AF65-F5344CB8AC3E}">
        <p14:creationId xmlns:p14="http://schemas.microsoft.com/office/powerpoint/2010/main" val="2485620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a:t>Types of </a:t>
            </a:r>
            <a:r>
              <a:rPr lang="en-US" b="1" dirty="0" err="1"/>
              <a:t>reflectioN</a:t>
            </a:r>
            <a:endParaRPr lang="en-US" dirty="0"/>
          </a:p>
        </p:txBody>
      </p:sp>
      <p:sp>
        <p:nvSpPr>
          <p:cNvPr id="4" name="Content Placeholder 3">
            <a:extLst>
              <a:ext uri="{FF2B5EF4-FFF2-40B4-BE49-F238E27FC236}">
                <a16:creationId xmlns:a16="http://schemas.microsoft.com/office/drawing/2014/main" id="{11E2E30B-6076-439B-B25F-5BC0CE0DF27E}"/>
              </a:ext>
            </a:extLst>
          </p:cNvPr>
          <p:cNvSpPr>
            <a:spLocks noGrp="1"/>
          </p:cNvSpPr>
          <p:nvPr>
            <p:ph idx="1"/>
          </p:nvPr>
        </p:nvSpPr>
        <p:spPr>
          <a:xfrm>
            <a:off x="1251678" y="2286001"/>
            <a:ext cx="10178322" cy="3593591"/>
          </a:xfrm>
        </p:spPr>
        <p:txBody>
          <a:bodyPr/>
          <a:lstStyle/>
          <a:p>
            <a:pPr lvl="0"/>
            <a:r>
              <a:rPr lang="en-US" sz="2400" b="1" dirty="0">
                <a:solidFill>
                  <a:srgbClr val="53AE6E"/>
                </a:solidFill>
              </a:rPr>
              <a:t>ambient</a:t>
            </a:r>
            <a:r>
              <a:rPr lang="en-US" dirty="0"/>
              <a:t>– Some of the light rays from a light source undergo multiple reflections from various objects in the surroundings and from light sources that populate the environment before hitting and reflecting off the surface of the observed object. But it would be computationally very expensive to model this kind of light precisely. OpenGL approximates this by the </a:t>
            </a:r>
            <a:r>
              <a:rPr lang="en-US" b="1" dirty="0">
                <a:solidFill>
                  <a:srgbClr val="53AE6E"/>
                </a:solidFill>
              </a:rPr>
              <a:t>ambient</a:t>
            </a:r>
            <a:r>
              <a:rPr lang="en-US" dirty="0"/>
              <a:t> light which is </a:t>
            </a:r>
            <a:r>
              <a:rPr lang="en-US" dirty="0">
                <a:highlight>
                  <a:srgbClr val="FFFF00"/>
                </a:highlight>
              </a:rPr>
              <a:t>a uniform background light existing everywhere in the scene</a:t>
            </a:r>
            <a:r>
              <a:rPr lang="en-US" dirty="0"/>
              <a:t>. Similar to diffuse, the light is reflected off the surface uniformly in all directions. </a:t>
            </a:r>
          </a:p>
          <a:p>
            <a:pPr lvl="0"/>
            <a:endParaRPr lang="en-US" dirty="0"/>
          </a:p>
          <a:p>
            <a:pPr lvl="0"/>
            <a:r>
              <a:rPr lang="en-US" sz="2400" b="1" dirty="0">
                <a:solidFill>
                  <a:srgbClr val="53AE6E"/>
                </a:solidFill>
              </a:rPr>
              <a:t>emission</a:t>
            </a:r>
            <a:r>
              <a:rPr lang="en-US" dirty="0"/>
              <a:t> – </a:t>
            </a:r>
            <a:r>
              <a:rPr lang="en-US" dirty="0">
                <a:highlight>
                  <a:srgbClr val="FFFF00"/>
                </a:highlight>
              </a:rPr>
              <a:t>The polygon itself emits additional light </a:t>
            </a:r>
            <a:r>
              <a:rPr lang="en-US" dirty="0"/>
              <a:t>regardless of the light sources in the scene.</a:t>
            </a:r>
          </a:p>
          <a:p>
            <a:endParaRPr lang="en-US" dirty="0"/>
          </a:p>
        </p:txBody>
      </p:sp>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005808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normAutofit/>
          </a:bodyPr>
          <a:lstStyle/>
          <a:p>
            <a:r>
              <a:rPr lang="en-US" b="1" dirty="0"/>
              <a:t>light sources in OpenGL</a:t>
            </a:r>
            <a:endParaRPr lang="en-US" dirty="0"/>
          </a:p>
        </p:txBody>
      </p:sp>
      <p:graphicFrame>
        <p:nvGraphicFramePr>
          <p:cNvPr id="3" name="Content Placeholder 2">
            <a:extLst>
              <a:ext uri="{FF2B5EF4-FFF2-40B4-BE49-F238E27FC236}">
                <a16:creationId xmlns:a16="http://schemas.microsoft.com/office/drawing/2014/main" id="{E19B0025-6761-4ACA-92C7-F464B7E63E68}"/>
              </a:ext>
            </a:extLst>
          </p:cNvPr>
          <p:cNvGraphicFramePr>
            <a:graphicFrameLocks noGrp="1"/>
          </p:cNvGraphicFramePr>
          <p:nvPr>
            <p:ph idx="1"/>
            <p:extLst>
              <p:ext uri="{D42A27DB-BD31-4B8C-83A1-F6EECF244321}">
                <p14:modId xmlns:p14="http://schemas.microsoft.com/office/powerpoint/2010/main" val="2775019268"/>
              </p:ext>
            </p:extLst>
          </p:nvPr>
        </p:nvGraphicFramePr>
        <p:xfrm>
          <a:off x="1250949" y="3552474"/>
          <a:ext cx="10179050" cy="1492133"/>
        </p:xfrm>
        <a:graphic>
          <a:graphicData uri="http://schemas.openxmlformats.org/drawingml/2006/table">
            <a:tbl>
              <a:tblPr>
                <a:tableStyleId>{5C22544A-7EE6-4342-B048-85BDC9FD1C3A}</a:tableStyleId>
              </a:tblPr>
              <a:tblGrid>
                <a:gridCol w="10179050">
                  <a:extLst>
                    <a:ext uri="{9D8B030D-6E8A-4147-A177-3AD203B41FA5}">
                      <a16:colId xmlns:a16="http://schemas.microsoft.com/office/drawing/2014/main" val="2174049507"/>
                    </a:ext>
                  </a:extLst>
                </a:gridCol>
              </a:tblGrid>
              <a:tr h="1492133">
                <a:tc>
                  <a:txBody>
                    <a:bodyPr/>
                    <a:lstStyle/>
                    <a:p>
                      <a:pPr marL="0" marR="0" algn="l">
                        <a:lnSpc>
                          <a:spcPct val="80000"/>
                        </a:lnSpc>
                        <a:spcBef>
                          <a:spcPts val="600"/>
                        </a:spcBef>
                        <a:spcAft>
                          <a:spcPts val="600"/>
                        </a:spcAft>
                      </a:pPr>
                      <a:r>
                        <a:rPr lang="en-US" sz="1800" b="1" dirty="0">
                          <a:effectLst/>
                        </a:rPr>
                        <a:t>float </a:t>
                      </a:r>
                      <a:r>
                        <a:rPr lang="en-US" sz="1800" b="1" dirty="0" err="1">
                          <a:effectLst/>
                        </a:rPr>
                        <a:t>myLightPosition</a:t>
                      </a:r>
                      <a:r>
                        <a:rPr lang="en-US" sz="1800" b="1" dirty="0">
                          <a:effectLst/>
                        </a:rPr>
                        <a:t>[4] = {3.0, 6.0, 5.0, 1.0};</a:t>
                      </a:r>
                    </a:p>
                    <a:p>
                      <a:pPr marL="0" marR="0" algn="l">
                        <a:lnSpc>
                          <a:spcPct val="80000"/>
                        </a:lnSpc>
                        <a:spcBef>
                          <a:spcPts val="600"/>
                        </a:spcBef>
                        <a:spcAft>
                          <a:spcPts val="600"/>
                        </a:spcAft>
                      </a:pPr>
                      <a:r>
                        <a:rPr lang="en-US" sz="1800" b="1" dirty="0" err="1">
                          <a:effectLst/>
                        </a:rPr>
                        <a:t>glLightfv</a:t>
                      </a:r>
                      <a:r>
                        <a:rPr lang="en-US" sz="1800" b="1" dirty="0">
                          <a:effectLst/>
                        </a:rPr>
                        <a:t>(GL_LIGHT0, GL_POSITION, </a:t>
                      </a:r>
                      <a:r>
                        <a:rPr lang="en-US" sz="1800" b="1" dirty="0" err="1">
                          <a:effectLst/>
                        </a:rPr>
                        <a:t>myLightPosition</a:t>
                      </a:r>
                      <a:r>
                        <a:rPr lang="en-US" sz="1800" b="1" dirty="0">
                          <a:effectLst/>
                        </a:rPr>
                        <a:t>);</a:t>
                      </a:r>
                    </a:p>
                    <a:p>
                      <a:pPr marL="0" marR="0" algn="l">
                        <a:lnSpc>
                          <a:spcPct val="80000"/>
                        </a:lnSpc>
                        <a:spcBef>
                          <a:spcPts val="600"/>
                        </a:spcBef>
                        <a:spcAft>
                          <a:spcPts val="600"/>
                        </a:spcAft>
                      </a:pPr>
                      <a:r>
                        <a:rPr lang="en-US" sz="1800" b="1" dirty="0" err="1">
                          <a:effectLst/>
                        </a:rPr>
                        <a:t>glEnable</a:t>
                      </a:r>
                      <a:r>
                        <a:rPr lang="en-US" sz="1800" b="1" dirty="0">
                          <a:effectLst/>
                        </a:rPr>
                        <a:t>(GL_LIGHTING); // enable</a:t>
                      </a:r>
                    </a:p>
                    <a:p>
                      <a:pPr marL="0" marR="0" algn="l">
                        <a:lnSpc>
                          <a:spcPct val="80000"/>
                        </a:lnSpc>
                        <a:spcBef>
                          <a:spcPts val="600"/>
                        </a:spcBef>
                        <a:spcAft>
                          <a:spcPts val="600"/>
                        </a:spcAft>
                      </a:pPr>
                      <a:r>
                        <a:rPr lang="en-US" sz="1800" b="1" dirty="0" err="1">
                          <a:effectLst/>
                        </a:rPr>
                        <a:t>glEnable</a:t>
                      </a:r>
                      <a:r>
                        <a:rPr lang="en-US" sz="1800" b="1" dirty="0">
                          <a:effectLst/>
                        </a:rPr>
                        <a:t>(GL_LIGHT0); // enable this particular source</a:t>
                      </a:r>
                      <a:endParaRPr lang="en-US" sz="1800" b="1" dirty="0">
                        <a:effectLst/>
                        <a:latin typeface="Courier New" panose="02070309020205020404" pitchFamily="49"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74738337"/>
                  </a:ext>
                </a:extLst>
              </a:tr>
            </a:tbl>
          </a:graphicData>
        </a:graphic>
      </p:graphicFrame>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7">
            <a:extLst>
              <a:ext uri="{FF2B5EF4-FFF2-40B4-BE49-F238E27FC236}">
                <a16:creationId xmlns:a16="http://schemas.microsoft.com/office/drawing/2014/main" id="{D4D5EE88-9D4A-4DC1-AD34-C990DAF99FE7}"/>
              </a:ext>
            </a:extLst>
          </p:cNvPr>
          <p:cNvSpPr/>
          <p:nvPr/>
        </p:nvSpPr>
        <p:spPr>
          <a:xfrm>
            <a:off x="1006839" y="1982088"/>
            <a:ext cx="10178321" cy="1323439"/>
          </a:xfrm>
          <a:prstGeom prst="rect">
            <a:avLst/>
          </a:prstGeom>
        </p:spPr>
        <p:txBody>
          <a:bodyPr wrap="square">
            <a:spAutoFit/>
          </a:bodyPr>
          <a:lstStyle/>
          <a:p>
            <a:r>
              <a:rPr lang="en-US" sz="2000" dirty="0">
                <a:solidFill>
                  <a:schemeClr val="tx1">
                    <a:lumMod val="65000"/>
                    <a:lumOff val="35000"/>
                  </a:schemeClr>
                </a:solidFill>
              </a:rPr>
              <a:t>With OpenGL, you can define up to eight light sources, which are referred to through names GL_LIGHT0, GL_LIGHT1, etc. Each source is invested with various properties, and must be enabled. Each property has a default value.</a:t>
            </a:r>
            <a:r>
              <a:rPr lang="en-US" dirty="0"/>
              <a:t> </a:t>
            </a:r>
            <a:r>
              <a:rPr lang="en-US" sz="2000" dirty="0">
                <a:solidFill>
                  <a:schemeClr val="tx1">
                    <a:lumMod val="65000"/>
                    <a:lumOff val="35000"/>
                  </a:schemeClr>
                </a:solidFill>
              </a:rPr>
              <a:t>to create a source located at (3, 6, 5) in world coordinates, use:</a:t>
            </a:r>
          </a:p>
        </p:txBody>
      </p:sp>
    </p:spTree>
    <p:extLst>
      <p:ext uri="{BB962C8B-B14F-4D97-AF65-F5344CB8AC3E}">
        <p14:creationId xmlns:p14="http://schemas.microsoft.com/office/powerpoint/2010/main" val="1529639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normAutofit/>
          </a:bodyPr>
          <a:lstStyle/>
          <a:p>
            <a:r>
              <a:rPr lang="en-US" b="1" dirty="0"/>
              <a:t>light sources in OpenGL</a:t>
            </a:r>
            <a:endParaRPr lang="en-US" dirty="0"/>
          </a:p>
        </p:txBody>
      </p:sp>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Content Placeholder 4">
            <a:extLst>
              <a:ext uri="{FF2B5EF4-FFF2-40B4-BE49-F238E27FC236}">
                <a16:creationId xmlns:a16="http://schemas.microsoft.com/office/drawing/2014/main" id="{E779F605-E31F-4543-A8A5-250A3FCD0675}"/>
              </a:ext>
            </a:extLst>
          </p:cNvPr>
          <p:cNvSpPr>
            <a:spLocks noGrp="1"/>
          </p:cNvSpPr>
          <p:nvPr>
            <p:ph idx="1"/>
          </p:nvPr>
        </p:nvSpPr>
        <p:spPr/>
        <p:txBody>
          <a:bodyPr/>
          <a:lstStyle/>
          <a:p>
            <a:r>
              <a:rPr lang="en-US" dirty="0"/>
              <a:t>The command used to specify all properties of lights is </a:t>
            </a:r>
            <a:r>
              <a:rPr lang="en-US" b="1" dirty="0" err="1">
                <a:solidFill>
                  <a:srgbClr val="53AE6E"/>
                </a:solidFill>
              </a:rPr>
              <a:t>glLight</a:t>
            </a:r>
            <a:r>
              <a:rPr lang="en-US" dirty="0"/>
              <a:t>{if}[v](light,  </a:t>
            </a:r>
            <a:r>
              <a:rPr lang="en-US" dirty="0" err="1"/>
              <a:t>pname</a:t>
            </a:r>
            <a:r>
              <a:rPr lang="en-US" dirty="0"/>
              <a:t>, </a:t>
            </a:r>
            <a:r>
              <a:rPr lang="en-US" dirty="0" err="1"/>
              <a:t>param</a:t>
            </a:r>
            <a:r>
              <a:rPr lang="en-US" dirty="0"/>
              <a:t>), where:</a:t>
            </a:r>
          </a:p>
          <a:p>
            <a:endParaRPr lang="en-US" dirty="0"/>
          </a:p>
        </p:txBody>
      </p:sp>
      <p:graphicFrame>
        <p:nvGraphicFramePr>
          <p:cNvPr id="7" name="Table 6">
            <a:extLst>
              <a:ext uri="{FF2B5EF4-FFF2-40B4-BE49-F238E27FC236}">
                <a16:creationId xmlns:a16="http://schemas.microsoft.com/office/drawing/2014/main" id="{CC14EFA1-6B95-47B5-8462-C7B0CE8AF555}"/>
              </a:ext>
            </a:extLst>
          </p:cNvPr>
          <p:cNvGraphicFramePr>
            <a:graphicFrameLocks noGrp="1"/>
          </p:cNvGraphicFramePr>
          <p:nvPr>
            <p:extLst>
              <p:ext uri="{D42A27DB-BD31-4B8C-83A1-F6EECF244321}">
                <p14:modId xmlns:p14="http://schemas.microsoft.com/office/powerpoint/2010/main" val="1630415368"/>
              </p:ext>
            </p:extLst>
          </p:nvPr>
        </p:nvGraphicFramePr>
        <p:xfrm>
          <a:off x="2067338" y="3193774"/>
          <a:ext cx="8872984" cy="2831617"/>
        </p:xfrm>
        <a:graphic>
          <a:graphicData uri="http://schemas.openxmlformats.org/drawingml/2006/table">
            <a:tbl>
              <a:tblPr firstRow="1" firstCol="1" bandRow="1">
                <a:tableStyleId>{BC89EF96-8CEA-46FF-86C4-4CE0E7609802}</a:tableStyleId>
              </a:tblPr>
              <a:tblGrid>
                <a:gridCol w="4436492">
                  <a:extLst>
                    <a:ext uri="{9D8B030D-6E8A-4147-A177-3AD203B41FA5}">
                      <a16:colId xmlns:a16="http://schemas.microsoft.com/office/drawing/2014/main" val="3743072878"/>
                    </a:ext>
                  </a:extLst>
                </a:gridCol>
                <a:gridCol w="4436492">
                  <a:extLst>
                    <a:ext uri="{9D8B030D-6E8A-4147-A177-3AD203B41FA5}">
                      <a16:colId xmlns:a16="http://schemas.microsoft.com/office/drawing/2014/main" val="936411153"/>
                    </a:ext>
                  </a:extLst>
                </a:gridCol>
              </a:tblGrid>
              <a:tr h="769165">
                <a:tc>
                  <a:txBody>
                    <a:bodyPr/>
                    <a:lstStyle/>
                    <a:p>
                      <a:pPr marL="0" marR="0" algn="ctr">
                        <a:lnSpc>
                          <a:spcPct val="105000"/>
                        </a:lnSpc>
                        <a:spcBef>
                          <a:spcPts val="0"/>
                        </a:spcBef>
                        <a:spcAft>
                          <a:spcPts val="0"/>
                        </a:spcAft>
                      </a:pPr>
                      <a:r>
                        <a:rPr lang="en-US" sz="1600" dirty="0">
                          <a:effectLst/>
                        </a:rPr>
                        <a:t>Light</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lnSpc>
                          <a:spcPct val="105000"/>
                        </a:lnSpc>
                        <a:spcBef>
                          <a:spcPts val="0"/>
                        </a:spcBef>
                        <a:spcAft>
                          <a:spcPts val="0"/>
                        </a:spcAft>
                      </a:pPr>
                      <a:r>
                        <a:rPr lang="en-US" sz="1600" b="0" dirty="0">
                          <a:effectLst/>
                        </a:rPr>
                        <a:t>refers to the light source being modified. It can be either GL_LIGHT0, GL_LIGHT1, …, or GL_LIGHT7.</a:t>
                      </a:r>
                      <a:endParaRPr lang="en-US" sz="16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05070083"/>
                  </a:ext>
                </a:extLst>
              </a:tr>
              <a:tr h="769165">
                <a:tc>
                  <a:txBody>
                    <a:bodyPr/>
                    <a:lstStyle/>
                    <a:p>
                      <a:pPr marL="0" marR="0" algn="ctr">
                        <a:lnSpc>
                          <a:spcPct val="105000"/>
                        </a:lnSpc>
                        <a:spcBef>
                          <a:spcPts val="0"/>
                        </a:spcBef>
                        <a:spcAft>
                          <a:spcPts val="0"/>
                        </a:spcAft>
                      </a:pPr>
                      <a:r>
                        <a:rPr lang="en-US" sz="1600" dirty="0" err="1">
                          <a:effectLst/>
                        </a:rPr>
                        <a:t>Pname</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lnSpc>
                          <a:spcPct val="105000"/>
                        </a:lnSpc>
                        <a:spcBef>
                          <a:spcPts val="0"/>
                        </a:spcBef>
                        <a:spcAft>
                          <a:spcPts val="0"/>
                        </a:spcAft>
                      </a:pPr>
                      <a:r>
                        <a:rPr lang="en-US" sz="1600" dirty="0">
                          <a:effectLst/>
                        </a:rPr>
                        <a:t>refers to the characteristic of the light being set. It can be any of the named parameters given in table 1.</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81342519"/>
                  </a:ext>
                </a:extLst>
              </a:tr>
              <a:tr h="1293287">
                <a:tc>
                  <a:txBody>
                    <a:bodyPr/>
                    <a:lstStyle/>
                    <a:p>
                      <a:pPr marL="0" marR="0" algn="ctr">
                        <a:lnSpc>
                          <a:spcPct val="105000"/>
                        </a:lnSpc>
                        <a:spcBef>
                          <a:spcPts val="0"/>
                        </a:spcBef>
                        <a:spcAft>
                          <a:spcPts val="0"/>
                        </a:spcAft>
                      </a:pPr>
                      <a:r>
                        <a:rPr lang="en-US" sz="1600" dirty="0">
                          <a:effectLst/>
                        </a:rPr>
                        <a:t>Param</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lnSpc>
                          <a:spcPct val="105000"/>
                        </a:lnSpc>
                        <a:spcBef>
                          <a:spcPts val="0"/>
                        </a:spcBef>
                        <a:spcAft>
                          <a:spcPts val="0"/>
                        </a:spcAft>
                      </a:pPr>
                      <a:r>
                        <a:rPr lang="en-US" sz="1600" dirty="0">
                          <a:effectLst/>
                        </a:rPr>
                        <a:t>indicates the values to which the </a:t>
                      </a:r>
                      <a:r>
                        <a:rPr lang="en-US" sz="1600" dirty="0" err="1">
                          <a:effectLst/>
                        </a:rPr>
                        <a:t>pname</a:t>
                      </a:r>
                      <a:r>
                        <a:rPr lang="en-US" sz="1600" dirty="0">
                          <a:effectLst/>
                        </a:rPr>
                        <a:t> characteristic is set. It can be an array of values if you are calling the vector version </a:t>
                      </a:r>
                      <a:r>
                        <a:rPr lang="en-US" sz="1600" dirty="0" err="1">
                          <a:effectLst/>
                        </a:rPr>
                        <a:t>glLight</a:t>
                      </a:r>
                      <a:r>
                        <a:rPr lang="en-US" sz="1600" dirty="0">
                          <a:effectLst/>
                        </a:rPr>
                        <a:t>{if}v (). If you the suffix v is dropped, it should be a single value.</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53721537"/>
                  </a:ext>
                </a:extLst>
              </a:tr>
            </a:tbl>
          </a:graphicData>
        </a:graphic>
      </p:graphicFrame>
    </p:spTree>
    <p:extLst>
      <p:ext uri="{BB962C8B-B14F-4D97-AF65-F5344CB8AC3E}">
        <p14:creationId xmlns:p14="http://schemas.microsoft.com/office/powerpoint/2010/main" val="1683355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normAutofit/>
          </a:bodyPr>
          <a:lstStyle/>
          <a:p>
            <a:r>
              <a:rPr lang="en-US" b="1" dirty="0"/>
              <a:t>Material Properties</a:t>
            </a:r>
            <a:endParaRPr lang="en-US" dirty="0"/>
          </a:p>
        </p:txBody>
      </p:sp>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Content Placeholder 4">
            <a:extLst>
              <a:ext uri="{FF2B5EF4-FFF2-40B4-BE49-F238E27FC236}">
                <a16:creationId xmlns:a16="http://schemas.microsoft.com/office/drawing/2014/main" id="{E779F605-E31F-4543-A8A5-250A3FCD0675}"/>
              </a:ext>
            </a:extLst>
          </p:cNvPr>
          <p:cNvSpPr>
            <a:spLocks noGrp="1"/>
          </p:cNvSpPr>
          <p:nvPr>
            <p:ph idx="1"/>
          </p:nvPr>
        </p:nvSpPr>
        <p:spPr/>
        <p:txBody>
          <a:bodyPr/>
          <a:lstStyle/>
          <a:p>
            <a:r>
              <a:rPr lang="en-US" dirty="0"/>
              <a:t>The material properties define how the surface of the primitive reflects the incident light.</a:t>
            </a:r>
          </a:p>
          <a:p>
            <a:r>
              <a:rPr lang="en-US" dirty="0"/>
              <a:t>All material properties can be set using the command </a:t>
            </a:r>
            <a:r>
              <a:rPr lang="en-US" b="1" dirty="0" err="1">
                <a:solidFill>
                  <a:srgbClr val="53AE6E"/>
                </a:solidFill>
              </a:rPr>
              <a:t>glMaterial</a:t>
            </a:r>
            <a:r>
              <a:rPr lang="en-US" dirty="0"/>
              <a:t>{if}[v](face, </a:t>
            </a:r>
            <a:r>
              <a:rPr lang="en-US" dirty="0" err="1"/>
              <a:t>pname</a:t>
            </a:r>
            <a:r>
              <a:rPr lang="en-US" dirty="0"/>
              <a:t>, </a:t>
            </a:r>
            <a:r>
              <a:rPr lang="en-US" dirty="0" err="1"/>
              <a:t>param</a:t>
            </a:r>
            <a:r>
              <a:rPr lang="en-US" dirty="0"/>
              <a:t>), where</a:t>
            </a:r>
          </a:p>
          <a:p>
            <a:endParaRPr lang="en-US" dirty="0"/>
          </a:p>
        </p:txBody>
      </p:sp>
      <p:graphicFrame>
        <p:nvGraphicFramePr>
          <p:cNvPr id="3" name="Table 2">
            <a:extLst>
              <a:ext uri="{FF2B5EF4-FFF2-40B4-BE49-F238E27FC236}">
                <a16:creationId xmlns:a16="http://schemas.microsoft.com/office/drawing/2014/main" id="{C73079AF-A790-40FC-802E-625D9A31CAD5}"/>
              </a:ext>
            </a:extLst>
          </p:cNvPr>
          <p:cNvGraphicFramePr>
            <a:graphicFrameLocks noGrp="1"/>
          </p:cNvGraphicFramePr>
          <p:nvPr>
            <p:extLst>
              <p:ext uri="{D42A27DB-BD31-4B8C-83A1-F6EECF244321}">
                <p14:modId xmlns:p14="http://schemas.microsoft.com/office/powerpoint/2010/main" val="3781929181"/>
              </p:ext>
            </p:extLst>
          </p:nvPr>
        </p:nvGraphicFramePr>
        <p:xfrm>
          <a:off x="1251677" y="3428999"/>
          <a:ext cx="10178322" cy="3272735"/>
        </p:xfrm>
        <a:graphic>
          <a:graphicData uri="http://schemas.openxmlformats.org/drawingml/2006/table">
            <a:tbl>
              <a:tblPr firstRow="1" firstCol="1" bandRow="1">
                <a:tableStyleId>{BC89EF96-8CEA-46FF-86C4-4CE0E7609802}</a:tableStyleId>
              </a:tblPr>
              <a:tblGrid>
                <a:gridCol w="5089161">
                  <a:extLst>
                    <a:ext uri="{9D8B030D-6E8A-4147-A177-3AD203B41FA5}">
                      <a16:colId xmlns:a16="http://schemas.microsoft.com/office/drawing/2014/main" val="1652609396"/>
                    </a:ext>
                  </a:extLst>
                </a:gridCol>
                <a:gridCol w="5089161">
                  <a:extLst>
                    <a:ext uri="{9D8B030D-6E8A-4147-A177-3AD203B41FA5}">
                      <a16:colId xmlns:a16="http://schemas.microsoft.com/office/drawing/2014/main" val="3465823018"/>
                    </a:ext>
                  </a:extLst>
                </a:gridCol>
              </a:tblGrid>
              <a:tr h="1338846">
                <a:tc>
                  <a:txBody>
                    <a:bodyPr/>
                    <a:lstStyle/>
                    <a:p>
                      <a:pPr marL="0" marR="0" algn="ctr">
                        <a:lnSpc>
                          <a:spcPct val="105000"/>
                        </a:lnSpc>
                        <a:spcBef>
                          <a:spcPts val="0"/>
                        </a:spcBef>
                        <a:spcAft>
                          <a:spcPts val="0"/>
                        </a:spcAft>
                      </a:pPr>
                      <a:r>
                        <a:rPr lang="en-US" sz="1400" dirty="0">
                          <a:effectLst/>
                        </a:rPr>
                        <a:t>Face</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tc>
                  <a:txBody>
                    <a:bodyPr/>
                    <a:lstStyle/>
                    <a:p>
                      <a:pPr marL="0" marR="0" algn="l">
                        <a:lnSpc>
                          <a:spcPct val="105000"/>
                        </a:lnSpc>
                        <a:spcBef>
                          <a:spcPts val="0"/>
                        </a:spcBef>
                        <a:spcAft>
                          <a:spcPts val="0"/>
                        </a:spcAft>
                      </a:pPr>
                      <a:r>
                        <a:rPr lang="en-US" sz="1400" b="0" dirty="0">
                          <a:effectLst/>
                        </a:rPr>
                        <a:t>can be GL_FRONT, GL_BACK, or GL_FRONT_AND_BACK to indicate which face of the object the material should be applied to. A primitive is front-facing when its vertices appear to the camera in a counter-clockwise order. Otherwise, the primitive is back-facing. OpenGL allows you to put different material to front- and back-facing primitives. </a:t>
                      </a:r>
                      <a:endParaRPr lang="en-US" sz="14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extLst>
                  <a:ext uri="{0D108BD9-81ED-4DB2-BD59-A6C34878D82A}">
                    <a16:rowId xmlns:a16="http://schemas.microsoft.com/office/drawing/2014/main" val="258461350"/>
                  </a:ext>
                </a:extLst>
              </a:tr>
              <a:tr h="297521">
                <a:tc>
                  <a:txBody>
                    <a:bodyPr/>
                    <a:lstStyle/>
                    <a:p>
                      <a:pPr marL="0" marR="0" algn="ctr">
                        <a:lnSpc>
                          <a:spcPct val="105000"/>
                        </a:lnSpc>
                        <a:spcBef>
                          <a:spcPts val="0"/>
                        </a:spcBef>
                        <a:spcAft>
                          <a:spcPts val="0"/>
                        </a:spcAft>
                      </a:pPr>
                      <a:r>
                        <a:rPr lang="en-US" sz="1400">
                          <a:effectLst/>
                        </a:rPr>
                        <a:t>Pname</a:t>
                      </a:r>
                      <a:endParaRPr lang="en-US"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tc>
                  <a:txBody>
                    <a:bodyPr/>
                    <a:lstStyle/>
                    <a:p>
                      <a:pPr marL="0" marR="0" algn="l">
                        <a:lnSpc>
                          <a:spcPct val="105000"/>
                        </a:lnSpc>
                        <a:spcBef>
                          <a:spcPts val="0"/>
                        </a:spcBef>
                        <a:spcAft>
                          <a:spcPts val="0"/>
                        </a:spcAft>
                      </a:pPr>
                      <a:r>
                        <a:rPr lang="en-US" sz="1400" dirty="0">
                          <a:effectLst/>
                        </a:rPr>
                        <a:t>refers to the particular material property being set.</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extLst>
                  <a:ext uri="{0D108BD9-81ED-4DB2-BD59-A6C34878D82A}">
                    <a16:rowId xmlns:a16="http://schemas.microsoft.com/office/drawing/2014/main" val="1513684993"/>
                  </a:ext>
                </a:extLst>
              </a:tr>
              <a:tr h="1636368">
                <a:tc>
                  <a:txBody>
                    <a:bodyPr/>
                    <a:lstStyle/>
                    <a:p>
                      <a:pPr marL="0" marR="0" algn="ctr">
                        <a:lnSpc>
                          <a:spcPct val="105000"/>
                        </a:lnSpc>
                        <a:spcBef>
                          <a:spcPts val="0"/>
                        </a:spcBef>
                        <a:spcAft>
                          <a:spcPts val="0"/>
                        </a:spcAft>
                      </a:pPr>
                      <a:r>
                        <a:rPr lang="en-US" sz="1400" dirty="0">
                          <a:effectLst/>
                        </a:rPr>
                        <a:t>Param</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tc>
                  <a:txBody>
                    <a:bodyPr/>
                    <a:lstStyle/>
                    <a:p>
                      <a:pPr marL="0" marR="0" algn="l">
                        <a:lnSpc>
                          <a:spcPct val="105000"/>
                        </a:lnSpc>
                        <a:spcBef>
                          <a:spcPts val="0"/>
                        </a:spcBef>
                        <a:spcAft>
                          <a:spcPts val="0"/>
                        </a:spcAft>
                      </a:pPr>
                      <a:r>
                        <a:rPr lang="en-US" sz="1400" dirty="0">
                          <a:effectLst/>
                        </a:rPr>
                        <a:t>is the desired values for that property, which is either an array of values (if the vector version is used) or the actual value (if the </a:t>
                      </a:r>
                      <a:r>
                        <a:rPr lang="en-US" sz="1400" dirty="0" err="1">
                          <a:effectLst/>
                        </a:rPr>
                        <a:t>nonvector</a:t>
                      </a:r>
                      <a:r>
                        <a:rPr lang="en-US" sz="1400" dirty="0">
                          <a:effectLst/>
                        </a:rPr>
                        <a:t> version is used). The </a:t>
                      </a:r>
                      <a:r>
                        <a:rPr lang="en-US" sz="1400" dirty="0" err="1">
                          <a:effectLst/>
                        </a:rPr>
                        <a:t>nonvector</a:t>
                      </a:r>
                      <a:r>
                        <a:rPr lang="en-US" sz="1400" dirty="0">
                          <a:effectLst/>
                        </a:rPr>
                        <a:t> version works only for setting GL_SHININESS. The possible values for </a:t>
                      </a:r>
                      <a:r>
                        <a:rPr lang="en-US" sz="1400" dirty="0" err="1">
                          <a:effectLst/>
                        </a:rPr>
                        <a:t>pname</a:t>
                      </a:r>
                      <a:r>
                        <a:rPr lang="en-US" sz="1400" dirty="0">
                          <a:effectLst/>
                        </a:rPr>
                        <a:t> are shown in table 2. Note that GL_AMBIENT_AND_DIFFUSE allows you to set both the ambient and diffuse material colors simultaneously to the same RGBA value. </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extLst>
                  <a:ext uri="{0D108BD9-81ED-4DB2-BD59-A6C34878D82A}">
                    <a16:rowId xmlns:a16="http://schemas.microsoft.com/office/drawing/2014/main" val="3541747086"/>
                  </a:ext>
                </a:extLst>
              </a:tr>
            </a:tbl>
          </a:graphicData>
        </a:graphic>
      </p:graphicFrame>
    </p:spTree>
    <p:extLst>
      <p:ext uri="{BB962C8B-B14F-4D97-AF65-F5344CB8AC3E}">
        <p14:creationId xmlns:p14="http://schemas.microsoft.com/office/powerpoint/2010/main" val="2174451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5400" b="1" dirty="0"/>
              <a:t>Example</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85661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6000" b="1" dirty="0"/>
              <a:t>Texture</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15165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DA2CD-4D14-4090-BA29-4586003F2E51}"/>
              </a:ext>
            </a:extLst>
          </p:cNvPr>
          <p:cNvSpPr>
            <a:spLocks noGrp="1"/>
          </p:cNvSpPr>
          <p:nvPr>
            <p:ph type="title"/>
          </p:nvPr>
        </p:nvSpPr>
        <p:spPr>
          <a:xfrm>
            <a:off x="1251678" y="382385"/>
            <a:ext cx="10178322" cy="1492132"/>
          </a:xfrm>
        </p:spPr>
        <p:txBody>
          <a:bodyPr anchor="ctr"/>
          <a:lstStyle/>
          <a:p>
            <a:r>
              <a:rPr lang="en-US" b="1" dirty="0"/>
              <a:t>Texture</a:t>
            </a:r>
          </a:p>
        </p:txBody>
      </p:sp>
      <p:sp>
        <p:nvSpPr>
          <p:cNvPr id="3" name="Content Placeholder 2">
            <a:extLst>
              <a:ext uri="{FF2B5EF4-FFF2-40B4-BE49-F238E27FC236}">
                <a16:creationId xmlns:a16="http://schemas.microsoft.com/office/drawing/2014/main" id="{AE2E5960-11A1-4839-A55F-4D2FA87D240D}"/>
              </a:ext>
            </a:extLst>
          </p:cNvPr>
          <p:cNvSpPr>
            <a:spLocks noGrp="1"/>
          </p:cNvSpPr>
          <p:nvPr>
            <p:ph idx="1"/>
          </p:nvPr>
        </p:nvSpPr>
        <p:spPr>
          <a:xfrm>
            <a:off x="1251678" y="2135529"/>
            <a:ext cx="10178322" cy="4340086"/>
          </a:xfrm>
        </p:spPr>
        <p:txBody>
          <a:bodyPr>
            <a:normAutofit/>
          </a:bodyPr>
          <a:lstStyle/>
          <a:p>
            <a:pPr algn="just"/>
            <a:r>
              <a:rPr lang="en-US" sz="2400" dirty="0"/>
              <a:t>What artists and programmers generally prefer is to use a </a:t>
            </a:r>
            <a:r>
              <a:rPr lang="en-US" sz="2400" b="1" dirty="0">
                <a:solidFill>
                  <a:srgbClr val="53AE6E"/>
                </a:solidFill>
              </a:rPr>
              <a:t>texture</a:t>
            </a:r>
            <a:r>
              <a:rPr lang="en-US" sz="2400" dirty="0"/>
              <a:t>. A </a:t>
            </a:r>
            <a:r>
              <a:rPr lang="en-US" sz="2400" dirty="0">
                <a:solidFill>
                  <a:srgbClr val="53AE6E"/>
                </a:solidFill>
              </a:rPr>
              <a:t>texture</a:t>
            </a:r>
            <a:r>
              <a:rPr lang="en-US" sz="2400" dirty="0"/>
              <a:t> is a 2D image (even 1D and 3D textures exist) used to add detail to an object; think of a texture as a piece of paper with a nice brick image (for example) on it neatly folded over your 3D house so it looks like your house has a stone exterior. Because we can insert a lot of detail in a single image, we can give the illusion the object is extremely detailed without having to specify extra vertices.</a:t>
            </a:r>
          </a:p>
          <a:p>
            <a:pPr algn="just"/>
            <a:endParaRPr lang="en-US" sz="2400" dirty="0"/>
          </a:p>
        </p:txBody>
      </p:sp>
    </p:spTree>
    <p:extLst>
      <p:ext uri="{BB962C8B-B14F-4D97-AF65-F5344CB8AC3E}">
        <p14:creationId xmlns:p14="http://schemas.microsoft.com/office/powerpoint/2010/main" val="2903918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166903F1-68FA-4B15-B68A-23851CB9EABA}"/>
              </a:ext>
            </a:extLst>
          </p:cNvPr>
          <p:cNvPicPr>
            <a:picLocks noGrp="1" noChangeAspect="1"/>
          </p:cNvPicPr>
          <p:nvPr>
            <p:ph type="pic" idx="1"/>
          </p:nvPr>
        </p:nvPicPr>
        <p:blipFill>
          <a:blip r:embed="rId2"/>
          <a:srcRect l="7996" r="7996"/>
          <a:stretch>
            <a:fillRect/>
          </a:stretch>
        </p:blipFill>
        <p:spPr>
          <a:xfrm>
            <a:off x="0" y="0"/>
            <a:ext cx="7354957" cy="6857999"/>
          </a:xfrm>
        </p:spPr>
      </p:pic>
      <p:sp>
        <p:nvSpPr>
          <p:cNvPr id="2" name="Title 1">
            <a:extLst>
              <a:ext uri="{FF2B5EF4-FFF2-40B4-BE49-F238E27FC236}">
                <a16:creationId xmlns:a16="http://schemas.microsoft.com/office/drawing/2014/main" id="{012DA2CD-4D14-4090-BA29-4586003F2E51}"/>
              </a:ext>
            </a:extLst>
          </p:cNvPr>
          <p:cNvSpPr>
            <a:spLocks noGrp="1"/>
          </p:cNvSpPr>
          <p:nvPr>
            <p:ph type="title"/>
          </p:nvPr>
        </p:nvSpPr>
        <p:spPr/>
        <p:txBody>
          <a:bodyPr anchor="ctr">
            <a:normAutofit/>
          </a:bodyPr>
          <a:lstStyle/>
          <a:p>
            <a:r>
              <a:rPr lang="en-US" sz="3200" b="1" dirty="0"/>
              <a:t>Texture</a:t>
            </a:r>
          </a:p>
        </p:txBody>
      </p:sp>
      <p:sp>
        <p:nvSpPr>
          <p:cNvPr id="5" name="Text Placeholder 4">
            <a:extLst>
              <a:ext uri="{FF2B5EF4-FFF2-40B4-BE49-F238E27FC236}">
                <a16:creationId xmlns:a16="http://schemas.microsoft.com/office/drawing/2014/main" id="{92434369-2F17-428C-B3FB-081DDE5E73F1}"/>
              </a:ext>
            </a:extLst>
          </p:cNvPr>
          <p:cNvSpPr>
            <a:spLocks noGrp="1"/>
          </p:cNvSpPr>
          <p:nvPr>
            <p:ph type="body" sz="half" idx="2"/>
          </p:nvPr>
        </p:nvSpPr>
        <p:spPr/>
        <p:txBody>
          <a:bodyPr>
            <a:normAutofit/>
          </a:bodyPr>
          <a:lstStyle/>
          <a:p>
            <a:r>
              <a:rPr lang="en-US" sz="1800" dirty="0"/>
              <a:t>In order to map a texture to the triangle we need to tell each vertex of the triangle which part of the texture it corresponds to. Each vertex should thus have a texture coordinate associated with them that specifies what part of the texture image to sample from. Fragment interpolation then does the rest for the other fragments.</a:t>
            </a:r>
          </a:p>
        </p:txBody>
      </p:sp>
    </p:spTree>
    <p:extLst>
      <p:ext uri="{BB962C8B-B14F-4D97-AF65-F5344CB8AC3E}">
        <p14:creationId xmlns:p14="http://schemas.microsoft.com/office/powerpoint/2010/main" val="792652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C9AB5B-374C-461D-ACE6-0E57D1688A73}"/>
              </a:ext>
            </a:extLst>
          </p:cNvPr>
          <p:cNvPicPr>
            <a:picLocks noChangeAspect="1"/>
          </p:cNvPicPr>
          <p:nvPr/>
        </p:nvPicPr>
        <p:blipFill>
          <a:blip r:embed="rId2"/>
          <a:stretch>
            <a:fillRect/>
          </a:stretch>
        </p:blipFill>
        <p:spPr>
          <a:xfrm>
            <a:off x="6098193" y="1425422"/>
            <a:ext cx="5176744" cy="4033415"/>
          </a:xfrm>
          <a:prstGeom prst="rect">
            <a:avLst/>
          </a:prstGeom>
        </p:spPr>
      </p:pic>
      <p:sp>
        <p:nvSpPr>
          <p:cNvPr id="2" name="Title 1">
            <a:extLst>
              <a:ext uri="{FF2B5EF4-FFF2-40B4-BE49-F238E27FC236}">
                <a16:creationId xmlns:a16="http://schemas.microsoft.com/office/drawing/2014/main" id="{11459232-8BF7-417C-862B-5C978227E3F6}"/>
              </a:ext>
            </a:extLst>
          </p:cNvPr>
          <p:cNvSpPr>
            <a:spLocks noGrp="1"/>
          </p:cNvSpPr>
          <p:nvPr>
            <p:ph type="title"/>
          </p:nvPr>
        </p:nvSpPr>
        <p:spPr>
          <a:xfrm>
            <a:off x="1251677" y="645105"/>
            <a:ext cx="4357499" cy="1320855"/>
          </a:xfrm>
        </p:spPr>
        <p:txBody>
          <a:bodyPr>
            <a:normAutofit/>
          </a:bodyPr>
          <a:lstStyle/>
          <a:p>
            <a:r>
              <a:rPr lang="en-US" sz="4400" b="1"/>
              <a:t>Texture</a:t>
            </a:r>
          </a:p>
        </p:txBody>
      </p:sp>
      <p:sp>
        <p:nvSpPr>
          <p:cNvPr id="3" name="Content Placeholder 2">
            <a:extLst>
              <a:ext uri="{FF2B5EF4-FFF2-40B4-BE49-F238E27FC236}">
                <a16:creationId xmlns:a16="http://schemas.microsoft.com/office/drawing/2014/main" id="{5A405EFD-BF68-4D5C-8498-107BD72DB6C9}"/>
              </a:ext>
            </a:extLst>
          </p:cNvPr>
          <p:cNvSpPr>
            <a:spLocks noGrp="1"/>
          </p:cNvSpPr>
          <p:nvPr>
            <p:ph idx="1"/>
          </p:nvPr>
        </p:nvSpPr>
        <p:spPr>
          <a:xfrm>
            <a:off x="1251678" y="2286001"/>
            <a:ext cx="4363595" cy="3593591"/>
          </a:xfrm>
        </p:spPr>
        <p:txBody>
          <a:bodyPr>
            <a:normAutofit/>
          </a:bodyPr>
          <a:lstStyle/>
          <a:p>
            <a:pPr>
              <a:lnSpc>
                <a:spcPct val="100000"/>
              </a:lnSpc>
            </a:pPr>
            <a:r>
              <a:rPr lang="en-US">
                <a:solidFill>
                  <a:srgbClr val="000000"/>
                </a:solidFill>
              </a:rPr>
              <a:t>Texture coordinates range from 0 to 1 in the x and y axis (remember that we use 2D texture images). Retrieving the texture color using texture coordinates is called sampling. Texture coordinates start at (0,0) for the lower left corner of a texture image to (1,1) for the upper right corner of a texture image. The following image shows how we map texture coordinates to the triangle.</a:t>
            </a:r>
          </a:p>
          <a:p>
            <a:pPr>
              <a:lnSpc>
                <a:spcPct val="100000"/>
              </a:lnSpc>
            </a:pPr>
            <a:endParaRPr lang="en-US">
              <a:solidFill>
                <a:srgbClr val="000000"/>
              </a:solidFill>
            </a:endParaRPr>
          </a:p>
        </p:txBody>
      </p:sp>
    </p:spTree>
    <p:extLst>
      <p:ext uri="{BB962C8B-B14F-4D97-AF65-F5344CB8AC3E}">
        <p14:creationId xmlns:p14="http://schemas.microsoft.com/office/powerpoint/2010/main" val="418970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69836-7C0A-47C1-8BD3-91641DEACE22}"/>
              </a:ext>
            </a:extLst>
          </p:cNvPr>
          <p:cNvSpPr>
            <a:spLocks noGrp="1"/>
          </p:cNvSpPr>
          <p:nvPr>
            <p:ph type="title"/>
          </p:nvPr>
        </p:nvSpPr>
        <p:spPr/>
        <p:txBody>
          <a:bodyPr anchor="ctr">
            <a:normAutofit/>
          </a:bodyPr>
          <a:lstStyle/>
          <a:p>
            <a:r>
              <a:rPr lang="en-US" b="1" dirty="0"/>
              <a:t>Texture Wrapping</a:t>
            </a:r>
            <a:endParaRPr lang="en-US" dirty="0"/>
          </a:p>
        </p:txBody>
      </p:sp>
      <p:sp>
        <p:nvSpPr>
          <p:cNvPr id="3" name="Content Placeholder 2">
            <a:extLst>
              <a:ext uri="{FF2B5EF4-FFF2-40B4-BE49-F238E27FC236}">
                <a16:creationId xmlns:a16="http://schemas.microsoft.com/office/drawing/2014/main" id="{6540800D-B147-43D3-BE40-5D0ABE3C4C50}"/>
              </a:ext>
            </a:extLst>
          </p:cNvPr>
          <p:cNvSpPr>
            <a:spLocks noGrp="1"/>
          </p:cNvSpPr>
          <p:nvPr>
            <p:ph idx="1"/>
          </p:nvPr>
        </p:nvSpPr>
        <p:spPr/>
        <p:txBody>
          <a:bodyPr>
            <a:normAutofit fontScale="92500" lnSpcReduction="10000"/>
          </a:bodyPr>
          <a:lstStyle/>
          <a:p>
            <a:pPr marL="0" indent="0" algn="just">
              <a:buNone/>
            </a:pPr>
            <a:r>
              <a:rPr lang="en-US" sz="2400" dirty="0"/>
              <a:t>The default behavior of OpenGL is to repeat the texture images , but there are more options OpenGL offers:</a:t>
            </a:r>
          </a:p>
          <a:p>
            <a:pPr algn="just"/>
            <a:r>
              <a:rPr lang="en-US" sz="2400" b="1" dirty="0">
                <a:solidFill>
                  <a:srgbClr val="53AE6E"/>
                </a:solidFill>
              </a:rPr>
              <a:t>GL_REPEAT</a:t>
            </a:r>
            <a:r>
              <a:rPr lang="en-US" sz="2400" dirty="0">
                <a:solidFill>
                  <a:srgbClr val="53AE6E"/>
                </a:solidFill>
              </a:rPr>
              <a:t>: </a:t>
            </a:r>
            <a:r>
              <a:rPr lang="en-US" sz="2400" dirty="0"/>
              <a:t>The default behavior for textures. Repeats the texture image.</a:t>
            </a:r>
          </a:p>
          <a:p>
            <a:pPr algn="just"/>
            <a:r>
              <a:rPr lang="en-US" sz="2400" b="1" dirty="0">
                <a:solidFill>
                  <a:srgbClr val="53AE6E"/>
                </a:solidFill>
              </a:rPr>
              <a:t>GL_MIRRORED_REPEAT</a:t>
            </a:r>
            <a:r>
              <a:rPr lang="en-US" sz="2400" dirty="0"/>
              <a:t>: Same as GL_REPEAT but mirrors the image with each repeat.</a:t>
            </a:r>
          </a:p>
          <a:p>
            <a:pPr algn="just"/>
            <a:r>
              <a:rPr lang="en-US" sz="2400" b="1" dirty="0">
                <a:solidFill>
                  <a:srgbClr val="53AE6E"/>
                </a:solidFill>
              </a:rPr>
              <a:t>GL_CLAMP_TO_EDGE</a:t>
            </a:r>
            <a:r>
              <a:rPr lang="en-US" sz="2400" dirty="0"/>
              <a:t>: Clamps the coordinates between 0 and 1. The result is that higher coordinates become clamped to the edge, resulting in a stretched edge pattern.</a:t>
            </a:r>
          </a:p>
          <a:p>
            <a:pPr algn="just"/>
            <a:r>
              <a:rPr lang="en-US" sz="2400" b="1" dirty="0">
                <a:solidFill>
                  <a:srgbClr val="53AE6E"/>
                </a:solidFill>
              </a:rPr>
              <a:t>GL_CLAMP_TO_BORDER</a:t>
            </a:r>
            <a:r>
              <a:rPr lang="en-US" sz="2400" dirty="0"/>
              <a:t>: Coordinates outside the range are now given a user-specified border color.</a:t>
            </a:r>
          </a:p>
        </p:txBody>
      </p:sp>
    </p:spTree>
    <p:extLst>
      <p:ext uri="{BB962C8B-B14F-4D97-AF65-F5344CB8AC3E}">
        <p14:creationId xmlns:p14="http://schemas.microsoft.com/office/powerpoint/2010/main" val="14296366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52DFE-BA65-4CFF-850A-C150D8FA0DCE}"/>
              </a:ext>
            </a:extLst>
          </p:cNvPr>
          <p:cNvSpPr>
            <a:spLocks noGrp="1"/>
          </p:cNvSpPr>
          <p:nvPr>
            <p:ph type="title"/>
          </p:nvPr>
        </p:nvSpPr>
        <p:spPr/>
        <p:txBody>
          <a:bodyPr anchor="ctr"/>
          <a:lstStyle/>
          <a:p>
            <a:r>
              <a:rPr lang="en-US" b="1" dirty="0"/>
              <a:t>Texture Wrapping</a:t>
            </a:r>
            <a:endParaRPr lang="en-US" dirty="0"/>
          </a:p>
        </p:txBody>
      </p:sp>
      <p:pic>
        <p:nvPicPr>
          <p:cNvPr id="5" name="Content Placeholder 4">
            <a:extLst>
              <a:ext uri="{FF2B5EF4-FFF2-40B4-BE49-F238E27FC236}">
                <a16:creationId xmlns:a16="http://schemas.microsoft.com/office/drawing/2014/main" id="{4F72816D-E12D-47D5-8C43-964273B38A9E}"/>
              </a:ext>
            </a:extLst>
          </p:cNvPr>
          <p:cNvPicPr>
            <a:picLocks noGrp="1" noChangeAspect="1"/>
          </p:cNvPicPr>
          <p:nvPr>
            <p:ph idx="1"/>
          </p:nvPr>
        </p:nvPicPr>
        <p:blipFill>
          <a:blip r:embed="rId2"/>
          <a:stretch>
            <a:fillRect/>
          </a:stretch>
        </p:blipFill>
        <p:spPr>
          <a:xfrm>
            <a:off x="1251678" y="1541295"/>
            <a:ext cx="10158730" cy="2857143"/>
          </a:xfrm>
        </p:spPr>
      </p:pic>
      <p:sp>
        <p:nvSpPr>
          <p:cNvPr id="6" name="Rectangle 5">
            <a:extLst>
              <a:ext uri="{FF2B5EF4-FFF2-40B4-BE49-F238E27FC236}">
                <a16:creationId xmlns:a16="http://schemas.microsoft.com/office/drawing/2014/main" id="{78F61ABB-E36E-49CF-BD5F-5E8CB85162D6}"/>
              </a:ext>
            </a:extLst>
          </p:cNvPr>
          <p:cNvSpPr/>
          <p:nvPr/>
        </p:nvSpPr>
        <p:spPr>
          <a:xfrm>
            <a:off x="1251678" y="4591375"/>
            <a:ext cx="9880148"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err="1"/>
              <a:t>glTexParameter</a:t>
            </a:r>
            <a:r>
              <a:rPr lang="en-US" dirty="0" err="1">
                <a:latin typeface="Courier New" panose="02070309020205020404" pitchFamily="49" charset="0"/>
              </a:rPr>
              <a:t>i</a:t>
            </a:r>
            <a:r>
              <a:rPr lang="en-US" dirty="0">
                <a:latin typeface="Courier New" panose="02070309020205020404" pitchFamily="49" charset="0"/>
              </a:rPr>
              <a:t>(GL_TEXTURE_2D, GL_TEXTURE_WRAP_S, GL_MIRRORED_REPEAT); </a:t>
            </a:r>
            <a:r>
              <a:rPr lang="en-US" dirty="0" err="1"/>
              <a:t>glTexParameter</a:t>
            </a:r>
            <a:r>
              <a:rPr lang="en-US" dirty="0" err="1">
                <a:latin typeface="Courier New" panose="02070309020205020404" pitchFamily="49" charset="0"/>
              </a:rPr>
              <a:t>i</a:t>
            </a:r>
            <a:r>
              <a:rPr lang="en-US" dirty="0">
                <a:latin typeface="Courier New" panose="02070309020205020404" pitchFamily="49" charset="0"/>
              </a:rPr>
              <a:t>(GL_TEXTURE_2D, GL_TEXTURE_WRAP_T, GL_MIRRORED_REPEAT);</a:t>
            </a:r>
            <a:endParaRPr lang="en-US" dirty="0"/>
          </a:p>
        </p:txBody>
      </p:sp>
    </p:spTree>
    <p:extLst>
      <p:ext uri="{BB962C8B-B14F-4D97-AF65-F5344CB8AC3E}">
        <p14:creationId xmlns:p14="http://schemas.microsoft.com/office/powerpoint/2010/main" val="4018389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74C8B-A4C1-49CF-BF99-710FBE402518}"/>
              </a:ext>
            </a:extLst>
          </p:cNvPr>
          <p:cNvSpPr>
            <a:spLocks noGrp="1"/>
          </p:cNvSpPr>
          <p:nvPr>
            <p:ph type="title"/>
          </p:nvPr>
        </p:nvSpPr>
        <p:spPr/>
        <p:txBody>
          <a:bodyPr anchor="ctr"/>
          <a:lstStyle/>
          <a:p>
            <a:r>
              <a:rPr lang="en-US" b="1" dirty="0"/>
              <a:t>Texture Filtering</a:t>
            </a:r>
            <a:endParaRPr lang="en-US" dirty="0"/>
          </a:p>
        </p:txBody>
      </p:sp>
      <p:sp>
        <p:nvSpPr>
          <p:cNvPr id="3" name="Content Placeholder 2">
            <a:extLst>
              <a:ext uri="{FF2B5EF4-FFF2-40B4-BE49-F238E27FC236}">
                <a16:creationId xmlns:a16="http://schemas.microsoft.com/office/drawing/2014/main" id="{84FE4170-3AB3-4788-9FCD-AE07A9958EC2}"/>
              </a:ext>
            </a:extLst>
          </p:cNvPr>
          <p:cNvSpPr>
            <a:spLocks noGrp="1"/>
          </p:cNvSpPr>
          <p:nvPr>
            <p:ph idx="1"/>
          </p:nvPr>
        </p:nvSpPr>
        <p:spPr/>
        <p:txBody>
          <a:bodyPr/>
          <a:lstStyle/>
          <a:p>
            <a:pPr algn="just"/>
            <a:r>
              <a:rPr lang="en-US" dirty="0"/>
              <a:t>OpenGL has options for texture filtering as well. There are several options available but for now we'll discuss the most important options: </a:t>
            </a:r>
            <a:r>
              <a:rPr lang="en-US" b="1" dirty="0">
                <a:solidFill>
                  <a:srgbClr val="53AE6E"/>
                </a:solidFill>
              </a:rPr>
              <a:t>GL_NEAREST</a:t>
            </a:r>
            <a:r>
              <a:rPr lang="en-US" dirty="0"/>
              <a:t> and </a:t>
            </a:r>
            <a:r>
              <a:rPr lang="en-US" b="1" dirty="0">
                <a:solidFill>
                  <a:srgbClr val="53AE6E"/>
                </a:solidFill>
              </a:rPr>
              <a:t>GL_LINEAR</a:t>
            </a:r>
            <a:r>
              <a:rPr lang="en-US" dirty="0"/>
              <a:t>.</a:t>
            </a:r>
          </a:p>
          <a:p>
            <a:pPr algn="just"/>
            <a:endParaRPr lang="en-US" dirty="0"/>
          </a:p>
          <a:p>
            <a:pPr algn="just"/>
            <a:r>
              <a:rPr lang="en-US" b="1" dirty="0">
                <a:solidFill>
                  <a:srgbClr val="53AE6E"/>
                </a:solidFill>
              </a:rPr>
              <a:t>GL_NEAREST</a:t>
            </a:r>
            <a:r>
              <a:rPr lang="en-US" dirty="0"/>
              <a:t> (also known as nearest neighbor filtering) is the default texture filtering method of OpenGL. When set to GL_NEAREST, OpenGL selects the pixel which center is closest to the texture coordinate. Below you can see 4 pixels where the cross represents the exact texture coordinate. The upper-left </a:t>
            </a:r>
            <a:r>
              <a:rPr lang="en-US" dirty="0" err="1"/>
              <a:t>texel</a:t>
            </a:r>
            <a:r>
              <a:rPr lang="en-US" dirty="0"/>
              <a:t> has its center closest to the texture coordinate and is therefore chosen as the sampled color:</a:t>
            </a:r>
          </a:p>
        </p:txBody>
      </p:sp>
      <p:pic>
        <p:nvPicPr>
          <p:cNvPr id="5" name="Picture 4">
            <a:extLst>
              <a:ext uri="{FF2B5EF4-FFF2-40B4-BE49-F238E27FC236}">
                <a16:creationId xmlns:a16="http://schemas.microsoft.com/office/drawing/2014/main" id="{B082BE9B-F351-4DF5-8960-15C4C1B77765}"/>
              </a:ext>
            </a:extLst>
          </p:cNvPr>
          <p:cNvPicPr>
            <a:picLocks noChangeAspect="1"/>
          </p:cNvPicPr>
          <p:nvPr/>
        </p:nvPicPr>
        <p:blipFill>
          <a:blip r:embed="rId2"/>
          <a:stretch>
            <a:fillRect/>
          </a:stretch>
        </p:blipFill>
        <p:spPr>
          <a:xfrm>
            <a:off x="8890318" y="5092290"/>
            <a:ext cx="2539682" cy="1574603"/>
          </a:xfrm>
          <a:prstGeom prst="rect">
            <a:avLst/>
          </a:prstGeom>
        </p:spPr>
      </p:pic>
    </p:spTree>
    <p:extLst>
      <p:ext uri="{BB962C8B-B14F-4D97-AF65-F5344CB8AC3E}">
        <p14:creationId xmlns:p14="http://schemas.microsoft.com/office/powerpoint/2010/main" val="3389058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B3BF2-23D7-4C0A-915F-9FAC85EB7D0E}"/>
              </a:ext>
            </a:extLst>
          </p:cNvPr>
          <p:cNvSpPr>
            <a:spLocks noGrp="1"/>
          </p:cNvSpPr>
          <p:nvPr>
            <p:ph type="title"/>
          </p:nvPr>
        </p:nvSpPr>
        <p:spPr/>
        <p:txBody>
          <a:bodyPr anchor="ctr"/>
          <a:lstStyle/>
          <a:p>
            <a:r>
              <a:rPr lang="en-US" b="1" dirty="0"/>
              <a:t>Texture Filtering</a:t>
            </a:r>
            <a:endParaRPr lang="en-US" dirty="0"/>
          </a:p>
        </p:txBody>
      </p:sp>
      <p:sp>
        <p:nvSpPr>
          <p:cNvPr id="3" name="Content Placeholder 2">
            <a:extLst>
              <a:ext uri="{FF2B5EF4-FFF2-40B4-BE49-F238E27FC236}">
                <a16:creationId xmlns:a16="http://schemas.microsoft.com/office/drawing/2014/main" id="{3555C590-E4F0-4882-8B88-7232B2188997}"/>
              </a:ext>
            </a:extLst>
          </p:cNvPr>
          <p:cNvSpPr>
            <a:spLocks noGrp="1"/>
          </p:cNvSpPr>
          <p:nvPr>
            <p:ph idx="1"/>
          </p:nvPr>
        </p:nvSpPr>
        <p:spPr/>
        <p:txBody>
          <a:bodyPr/>
          <a:lstStyle/>
          <a:p>
            <a:pPr algn="just"/>
            <a:r>
              <a:rPr lang="en-US" b="1" dirty="0">
                <a:solidFill>
                  <a:srgbClr val="53AE6E"/>
                </a:solidFill>
              </a:rPr>
              <a:t>GL_LINEAR</a:t>
            </a:r>
            <a:r>
              <a:rPr lang="en-US" dirty="0"/>
              <a:t> (also known as (bi)linear filtering) takes an interpolated value from the texture coordinate's neighboring </a:t>
            </a:r>
            <a:r>
              <a:rPr lang="en-US" dirty="0" err="1"/>
              <a:t>texels</a:t>
            </a:r>
            <a:r>
              <a:rPr lang="en-US" dirty="0"/>
              <a:t>, approximating a color between the </a:t>
            </a:r>
            <a:r>
              <a:rPr lang="en-US" dirty="0" err="1"/>
              <a:t>texels</a:t>
            </a:r>
            <a:r>
              <a:rPr lang="en-US" dirty="0"/>
              <a:t>. The smaller the distance from the texture coordinate to a </a:t>
            </a:r>
            <a:r>
              <a:rPr lang="en-US" dirty="0" err="1"/>
              <a:t>texel's</a:t>
            </a:r>
            <a:r>
              <a:rPr lang="en-US" dirty="0"/>
              <a:t> center, the more that </a:t>
            </a:r>
            <a:r>
              <a:rPr lang="en-US" dirty="0" err="1"/>
              <a:t>texel's</a:t>
            </a:r>
            <a:r>
              <a:rPr lang="en-US" dirty="0"/>
              <a:t> color contributes to the sampled color. Below we can see that a mixed color of the neighboring pixels is returned:</a:t>
            </a:r>
          </a:p>
          <a:p>
            <a:pPr marL="0" indent="0" algn="just">
              <a:buNone/>
            </a:pPr>
            <a:endParaRPr lang="en-US" dirty="0"/>
          </a:p>
        </p:txBody>
      </p:sp>
      <p:pic>
        <p:nvPicPr>
          <p:cNvPr id="5" name="Picture 4">
            <a:extLst>
              <a:ext uri="{FF2B5EF4-FFF2-40B4-BE49-F238E27FC236}">
                <a16:creationId xmlns:a16="http://schemas.microsoft.com/office/drawing/2014/main" id="{7DAA66EC-66B3-462E-857D-E556CB923715}"/>
              </a:ext>
            </a:extLst>
          </p:cNvPr>
          <p:cNvPicPr>
            <a:picLocks noChangeAspect="1"/>
          </p:cNvPicPr>
          <p:nvPr/>
        </p:nvPicPr>
        <p:blipFill>
          <a:blip r:embed="rId2"/>
          <a:stretch>
            <a:fillRect/>
          </a:stretch>
        </p:blipFill>
        <p:spPr>
          <a:xfrm>
            <a:off x="9000593" y="4304989"/>
            <a:ext cx="2539682" cy="1574603"/>
          </a:xfrm>
          <a:prstGeom prst="rect">
            <a:avLst/>
          </a:prstGeom>
        </p:spPr>
      </p:pic>
    </p:spTree>
    <p:extLst>
      <p:ext uri="{BB962C8B-B14F-4D97-AF65-F5344CB8AC3E}">
        <p14:creationId xmlns:p14="http://schemas.microsoft.com/office/powerpoint/2010/main" val="580105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D803F-0B34-44D7-8BC2-2B86A361F48B}"/>
              </a:ext>
            </a:extLst>
          </p:cNvPr>
          <p:cNvSpPr>
            <a:spLocks noGrp="1"/>
          </p:cNvSpPr>
          <p:nvPr>
            <p:ph type="title"/>
          </p:nvPr>
        </p:nvSpPr>
        <p:spPr/>
        <p:txBody>
          <a:bodyPr anchor="ctr"/>
          <a:lstStyle/>
          <a:p>
            <a:r>
              <a:rPr lang="en-US" b="1" dirty="0"/>
              <a:t>Texture Filtering</a:t>
            </a:r>
            <a:endParaRPr lang="en-US" dirty="0"/>
          </a:p>
        </p:txBody>
      </p:sp>
      <p:pic>
        <p:nvPicPr>
          <p:cNvPr id="9" name="Content Placeholder 8">
            <a:extLst>
              <a:ext uri="{FF2B5EF4-FFF2-40B4-BE49-F238E27FC236}">
                <a16:creationId xmlns:a16="http://schemas.microsoft.com/office/drawing/2014/main" id="{465613A5-65D8-4C56-9B7D-AFFCBBFDE4A6}"/>
              </a:ext>
            </a:extLst>
          </p:cNvPr>
          <p:cNvPicPr>
            <a:picLocks noGrp="1" noChangeAspect="1"/>
          </p:cNvPicPr>
          <p:nvPr>
            <p:ph idx="1"/>
          </p:nvPr>
        </p:nvPicPr>
        <p:blipFill>
          <a:blip r:embed="rId2"/>
          <a:stretch>
            <a:fillRect/>
          </a:stretch>
        </p:blipFill>
        <p:spPr>
          <a:xfrm>
            <a:off x="2100470" y="2387811"/>
            <a:ext cx="7991059" cy="2595673"/>
          </a:xfrm>
        </p:spPr>
      </p:pic>
      <p:sp>
        <p:nvSpPr>
          <p:cNvPr id="10" name="Rectangle 9">
            <a:extLst>
              <a:ext uri="{FF2B5EF4-FFF2-40B4-BE49-F238E27FC236}">
                <a16:creationId xmlns:a16="http://schemas.microsoft.com/office/drawing/2014/main" id="{C9979C8E-2BF9-4B98-A734-FFDFE8345DC9}"/>
              </a:ext>
            </a:extLst>
          </p:cNvPr>
          <p:cNvSpPr/>
          <p:nvPr/>
        </p:nvSpPr>
        <p:spPr>
          <a:xfrm>
            <a:off x="1251678" y="5173612"/>
            <a:ext cx="9880148"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err="1"/>
              <a:t>glTexParameteri</a:t>
            </a:r>
            <a:r>
              <a:rPr lang="en-US" dirty="0"/>
              <a:t>(GL_TEXTURE_2D, GL_TEXTURE_MIN_FILTER, GL_NEAREST); </a:t>
            </a:r>
            <a:r>
              <a:rPr lang="en-US" dirty="0" err="1"/>
              <a:t>glTexParameteri</a:t>
            </a:r>
            <a:r>
              <a:rPr lang="en-US" dirty="0"/>
              <a:t>(GL_TEXTURE_2D, GL_TEXTURE_MAG_FILTER, GL_LINEAR);</a:t>
            </a:r>
          </a:p>
        </p:txBody>
      </p:sp>
    </p:spTree>
    <p:extLst>
      <p:ext uri="{BB962C8B-B14F-4D97-AF65-F5344CB8AC3E}">
        <p14:creationId xmlns:p14="http://schemas.microsoft.com/office/powerpoint/2010/main" val="3527774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28195-A2F9-4194-8987-A91F7E5F2E1E}"/>
              </a:ext>
            </a:extLst>
          </p:cNvPr>
          <p:cNvSpPr>
            <a:spLocks noGrp="1"/>
          </p:cNvSpPr>
          <p:nvPr>
            <p:ph type="title"/>
          </p:nvPr>
        </p:nvSpPr>
        <p:spPr/>
        <p:txBody>
          <a:bodyPr anchor="ctr">
            <a:normAutofit/>
          </a:bodyPr>
          <a:lstStyle/>
          <a:p>
            <a:r>
              <a:rPr lang="en-US" b="1" dirty="0"/>
              <a:t>Generating a texture</a:t>
            </a:r>
            <a:endParaRPr lang="en-US" dirty="0"/>
          </a:p>
        </p:txBody>
      </p:sp>
      <p:sp>
        <p:nvSpPr>
          <p:cNvPr id="3" name="Content Placeholder 2">
            <a:extLst>
              <a:ext uri="{FF2B5EF4-FFF2-40B4-BE49-F238E27FC236}">
                <a16:creationId xmlns:a16="http://schemas.microsoft.com/office/drawing/2014/main" id="{614E04E4-E25D-4E42-976E-CB11118E0B27}"/>
              </a:ext>
            </a:extLst>
          </p:cNvPr>
          <p:cNvSpPr>
            <a:spLocks noGrp="1"/>
          </p:cNvSpPr>
          <p:nvPr>
            <p:ph idx="1"/>
          </p:nvPr>
        </p:nvSpPr>
        <p:spPr/>
        <p:txBody>
          <a:bodyPr/>
          <a:lstStyle/>
          <a:p>
            <a:r>
              <a:rPr lang="en-US" dirty="0"/>
              <a:t>Like any of the previous objects in OpenGL, textures are referenced with an ID; let's create one:</a:t>
            </a:r>
          </a:p>
          <a:p>
            <a:endParaRPr lang="en-US" dirty="0"/>
          </a:p>
          <a:p>
            <a:pPr marL="0" indent="0">
              <a:buNone/>
            </a:pPr>
            <a:endParaRPr lang="en-US" dirty="0"/>
          </a:p>
          <a:p>
            <a:pPr marL="0" indent="0">
              <a:buNone/>
            </a:pPr>
            <a:endParaRPr lang="en-US" dirty="0"/>
          </a:p>
          <a:p>
            <a:r>
              <a:rPr lang="en-US" dirty="0"/>
              <a:t>The </a:t>
            </a:r>
            <a:r>
              <a:rPr lang="en-US" b="1" dirty="0" err="1">
                <a:solidFill>
                  <a:srgbClr val="53AE6E"/>
                </a:solidFill>
              </a:rPr>
              <a:t>glGenTextures</a:t>
            </a:r>
            <a:r>
              <a:rPr lang="en-US" dirty="0"/>
              <a:t> function first takes as input how many textures we want to generate and stores them in a unsigned </a:t>
            </a:r>
            <a:r>
              <a:rPr lang="en-US" dirty="0" err="1"/>
              <a:t>int</a:t>
            </a:r>
            <a:r>
              <a:rPr lang="en-US" dirty="0"/>
              <a:t> array given as its second argument. Just like other objects we need to bind it so any subsequent texture commands will configure the currently bound texture:</a:t>
            </a:r>
          </a:p>
          <a:p>
            <a:pPr marL="0" indent="0">
              <a:buNone/>
            </a:pPr>
            <a:endParaRPr lang="en-US" dirty="0"/>
          </a:p>
        </p:txBody>
      </p:sp>
      <p:sp>
        <p:nvSpPr>
          <p:cNvPr id="5" name="Rectangle 4">
            <a:extLst>
              <a:ext uri="{FF2B5EF4-FFF2-40B4-BE49-F238E27FC236}">
                <a16:creationId xmlns:a16="http://schemas.microsoft.com/office/drawing/2014/main" id="{405266E7-193A-428E-8152-1D14FBE0EBBE}"/>
              </a:ext>
            </a:extLst>
          </p:cNvPr>
          <p:cNvSpPr/>
          <p:nvPr/>
        </p:nvSpPr>
        <p:spPr>
          <a:xfrm>
            <a:off x="1556803" y="2840790"/>
            <a:ext cx="9568071"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endParaRPr lang="en-US" b="1" dirty="0"/>
          </a:p>
          <a:p>
            <a:r>
              <a:rPr lang="en-US" dirty="0" err="1"/>
              <a:t>GLuint</a:t>
            </a:r>
            <a:r>
              <a:rPr lang="en-US" dirty="0"/>
              <a:t>  texture; //The id of the texture</a:t>
            </a:r>
          </a:p>
          <a:p>
            <a:r>
              <a:rPr lang="en-US" dirty="0" err="1"/>
              <a:t>glGenTextures</a:t>
            </a:r>
            <a:r>
              <a:rPr lang="en-US" dirty="0"/>
              <a:t>(1, &amp;texture); </a:t>
            </a:r>
          </a:p>
        </p:txBody>
      </p:sp>
      <p:sp>
        <p:nvSpPr>
          <p:cNvPr id="8" name="Rectangle 7">
            <a:extLst>
              <a:ext uri="{FF2B5EF4-FFF2-40B4-BE49-F238E27FC236}">
                <a16:creationId xmlns:a16="http://schemas.microsoft.com/office/drawing/2014/main" id="{B61EFCC3-5A9F-48D2-971A-112567AFEB6C}"/>
              </a:ext>
            </a:extLst>
          </p:cNvPr>
          <p:cNvSpPr/>
          <p:nvPr/>
        </p:nvSpPr>
        <p:spPr>
          <a:xfrm>
            <a:off x="1556803" y="5233261"/>
            <a:ext cx="9568071"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endParaRPr lang="fr-FR" dirty="0"/>
          </a:p>
          <a:p>
            <a:r>
              <a:rPr lang="fr-FR" dirty="0" err="1"/>
              <a:t>glBindTexture</a:t>
            </a:r>
            <a:r>
              <a:rPr lang="fr-FR" dirty="0"/>
              <a:t>(GL_TEXTURE_2D, texture); </a:t>
            </a:r>
            <a:endParaRPr lang="en-US" dirty="0"/>
          </a:p>
        </p:txBody>
      </p:sp>
    </p:spTree>
    <p:extLst>
      <p:ext uri="{BB962C8B-B14F-4D97-AF65-F5344CB8AC3E}">
        <p14:creationId xmlns:p14="http://schemas.microsoft.com/office/powerpoint/2010/main" val="1118536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8C50C-C832-4B4C-880B-AF8FF37F7B42}"/>
              </a:ext>
            </a:extLst>
          </p:cNvPr>
          <p:cNvSpPr>
            <a:spLocks noGrp="1"/>
          </p:cNvSpPr>
          <p:nvPr>
            <p:ph type="title"/>
          </p:nvPr>
        </p:nvSpPr>
        <p:spPr/>
        <p:txBody>
          <a:bodyPr anchor="ctr"/>
          <a:lstStyle/>
          <a:p>
            <a:r>
              <a:rPr lang="en-US" b="1" dirty="0"/>
              <a:t>Generating a texture</a:t>
            </a:r>
            <a:endParaRPr lang="en-US" dirty="0"/>
          </a:p>
        </p:txBody>
      </p:sp>
      <p:sp>
        <p:nvSpPr>
          <p:cNvPr id="3" name="Content Placeholder 2">
            <a:extLst>
              <a:ext uri="{FF2B5EF4-FFF2-40B4-BE49-F238E27FC236}">
                <a16:creationId xmlns:a16="http://schemas.microsoft.com/office/drawing/2014/main" id="{AA21255E-1B35-4E65-9D5E-9A7B6D8AF029}"/>
              </a:ext>
            </a:extLst>
          </p:cNvPr>
          <p:cNvSpPr>
            <a:spLocks noGrp="1"/>
          </p:cNvSpPr>
          <p:nvPr>
            <p:ph idx="1"/>
          </p:nvPr>
        </p:nvSpPr>
        <p:spPr>
          <a:xfrm>
            <a:off x="1251678" y="2535298"/>
            <a:ext cx="10178322" cy="4322701"/>
          </a:xfrm>
        </p:spPr>
        <p:txBody>
          <a:bodyPr>
            <a:noAutofit/>
          </a:bodyPr>
          <a:lstStyle/>
          <a:p>
            <a:pPr marL="0" indent="0">
              <a:buNone/>
            </a:pPr>
            <a:endParaRPr lang="en-US" sz="1600" dirty="0"/>
          </a:p>
        </p:txBody>
      </p:sp>
      <p:sp>
        <p:nvSpPr>
          <p:cNvPr id="5" name="Rectangle 4">
            <a:extLst>
              <a:ext uri="{FF2B5EF4-FFF2-40B4-BE49-F238E27FC236}">
                <a16:creationId xmlns:a16="http://schemas.microsoft.com/office/drawing/2014/main" id="{ED1B517E-101A-4344-A8FA-06D6CE53CBA6}"/>
              </a:ext>
            </a:extLst>
          </p:cNvPr>
          <p:cNvSpPr/>
          <p:nvPr/>
        </p:nvSpPr>
        <p:spPr>
          <a:xfrm>
            <a:off x="1556803" y="3773318"/>
            <a:ext cx="9568071"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br>
              <a:rPr lang="en-US" dirty="0"/>
            </a:br>
            <a:r>
              <a:rPr lang="en-US" dirty="0"/>
              <a:t>glTexImage2D(GL_TEXTURE_2D, 0, GL_RGB, width, height, 0, GL_RGB, GL_UNSIGNED_BYTE, data); </a:t>
            </a:r>
            <a:r>
              <a:rPr lang="en-US" dirty="0" err="1"/>
              <a:t>glGenerateMipmap</a:t>
            </a:r>
            <a:r>
              <a:rPr lang="en-US" dirty="0"/>
              <a:t>(GL_TEXTURE_2D);</a:t>
            </a:r>
          </a:p>
        </p:txBody>
      </p:sp>
    </p:spTree>
    <p:extLst>
      <p:ext uri="{BB962C8B-B14F-4D97-AF65-F5344CB8AC3E}">
        <p14:creationId xmlns:p14="http://schemas.microsoft.com/office/powerpoint/2010/main" val="1837548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Generating a texture</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fontScale="92500" lnSpcReduction="10000"/>
          </a:bodyPr>
          <a:lstStyle/>
          <a:p>
            <a:pPr marL="0" indent="0">
              <a:buNone/>
            </a:pPr>
            <a:r>
              <a:rPr lang="en-US" dirty="0"/>
              <a:t>This is a large function with quite a few parameters so we'll walk through them step-by-step:</a:t>
            </a:r>
          </a:p>
          <a:p>
            <a:r>
              <a:rPr lang="en-US" dirty="0"/>
              <a:t>The </a:t>
            </a:r>
            <a:r>
              <a:rPr lang="en-US" b="1" dirty="0">
                <a:solidFill>
                  <a:srgbClr val="53AE6E"/>
                </a:solidFill>
              </a:rPr>
              <a:t>first argument </a:t>
            </a:r>
            <a:r>
              <a:rPr lang="en-US" dirty="0"/>
              <a:t>specifies the texture target; setting this to GL_TEXTURE_2D means this operation will generate a texture on the currently bound texture object at the same target.</a:t>
            </a:r>
          </a:p>
          <a:p>
            <a:r>
              <a:rPr lang="en-US" dirty="0"/>
              <a:t>The </a:t>
            </a:r>
            <a:r>
              <a:rPr lang="en-US" b="1" dirty="0">
                <a:solidFill>
                  <a:srgbClr val="53AE6E"/>
                </a:solidFill>
              </a:rPr>
              <a:t>second argument </a:t>
            </a:r>
            <a:r>
              <a:rPr lang="en-US" dirty="0"/>
              <a:t>specifies the mipmap level for which we want to create a texture for if you want to set each mipmap level manually, but we'll leave it at the base level which is 0.</a:t>
            </a:r>
          </a:p>
          <a:p>
            <a:r>
              <a:rPr lang="en-US" dirty="0"/>
              <a:t>The </a:t>
            </a:r>
            <a:r>
              <a:rPr lang="en-US" b="1" dirty="0">
                <a:solidFill>
                  <a:srgbClr val="53AE6E"/>
                </a:solidFill>
              </a:rPr>
              <a:t>third argument </a:t>
            </a:r>
            <a:r>
              <a:rPr lang="en-US" dirty="0"/>
              <a:t>tells OpenGL in what kind of format we want to store the texture. Our image has only RGB values so we'll store the texture with RGB values as well.</a:t>
            </a:r>
          </a:p>
          <a:p>
            <a:r>
              <a:rPr lang="en-US" dirty="0"/>
              <a:t>The </a:t>
            </a:r>
            <a:r>
              <a:rPr lang="en-US" b="1" dirty="0">
                <a:solidFill>
                  <a:srgbClr val="53AE6E"/>
                </a:solidFill>
              </a:rPr>
              <a:t>4th and 5th argument </a:t>
            </a:r>
            <a:r>
              <a:rPr lang="en-US" dirty="0"/>
              <a:t>sets the width and height of the resulting texture. We stored those earlier when loading the image so we'll use the corresponding variables.</a:t>
            </a:r>
          </a:p>
          <a:p>
            <a:r>
              <a:rPr lang="en-US" dirty="0"/>
              <a:t>The </a:t>
            </a:r>
            <a:r>
              <a:rPr lang="en-US" b="1" dirty="0">
                <a:solidFill>
                  <a:srgbClr val="53AE6E"/>
                </a:solidFill>
              </a:rPr>
              <a:t>next argument </a:t>
            </a:r>
            <a:r>
              <a:rPr lang="en-US" dirty="0"/>
              <a:t>should always be 0 (some legacy stuff).</a:t>
            </a:r>
          </a:p>
          <a:p>
            <a:r>
              <a:rPr lang="en-US" dirty="0"/>
              <a:t>The </a:t>
            </a:r>
            <a:r>
              <a:rPr lang="en-US" b="1" dirty="0">
                <a:solidFill>
                  <a:srgbClr val="53AE6E"/>
                </a:solidFill>
              </a:rPr>
              <a:t>7th and 8th argument </a:t>
            </a:r>
            <a:r>
              <a:rPr lang="en-US" dirty="0"/>
              <a:t>specify the format and datatype of the source image. We loaded the image with RGB values and stored them as chars (bytes) so we'll pass in the corresponding values.</a:t>
            </a:r>
          </a:p>
          <a:p>
            <a:r>
              <a:rPr lang="en-US" dirty="0"/>
              <a:t>The </a:t>
            </a:r>
            <a:r>
              <a:rPr lang="en-US" b="1" dirty="0">
                <a:solidFill>
                  <a:srgbClr val="53AE6E"/>
                </a:solidFill>
              </a:rPr>
              <a:t>last argument </a:t>
            </a:r>
            <a:r>
              <a:rPr lang="en-US" dirty="0"/>
              <a:t>is the actual image data.</a:t>
            </a:r>
          </a:p>
          <a:p>
            <a:endParaRPr lang="en-US" dirty="0"/>
          </a:p>
        </p:txBody>
      </p:sp>
    </p:spTree>
    <p:extLst>
      <p:ext uri="{BB962C8B-B14F-4D97-AF65-F5344CB8AC3E}">
        <p14:creationId xmlns:p14="http://schemas.microsoft.com/office/powerpoint/2010/main" val="2710387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5400" b="1" dirty="0"/>
              <a:t>Example</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09803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6000" b="1" dirty="0"/>
              <a:t>Collision</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208418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Collision</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a:bodyPr>
          <a:lstStyle/>
          <a:p>
            <a:pPr algn="just"/>
            <a:r>
              <a:rPr lang="en-US" sz="2400" dirty="0"/>
              <a:t>When trying to determine if a </a:t>
            </a:r>
            <a:r>
              <a:rPr lang="en-US" sz="2400" b="1" dirty="0">
                <a:solidFill>
                  <a:srgbClr val="53AE6E"/>
                </a:solidFill>
              </a:rPr>
              <a:t>collision</a:t>
            </a:r>
            <a:r>
              <a:rPr lang="en-US" sz="2400" dirty="0"/>
              <a:t> occurs between two objects, we generally do not use the data of the objects themselves since these objects are often quite complicated; this in turn also makes the </a:t>
            </a:r>
            <a:r>
              <a:rPr lang="en-US" sz="2400" b="1" dirty="0">
                <a:solidFill>
                  <a:srgbClr val="53AE6E"/>
                </a:solidFill>
              </a:rPr>
              <a:t>collision</a:t>
            </a:r>
            <a:r>
              <a:rPr lang="en-US" sz="2400" dirty="0"/>
              <a:t> detection complicated. For this reason, it is a common practice to use more simple shapes (that usually have a nice mathematical definition) for </a:t>
            </a:r>
            <a:r>
              <a:rPr lang="en-US" sz="2400" b="1" dirty="0">
                <a:solidFill>
                  <a:srgbClr val="53AE6E"/>
                </a:solidFill>
              </a:rPr>
              <a:t>collision</a:t>
            </a:r>
            <a:r>
              <a:rPr lang="en-US" sz="2400" dirty="0"/>
              <a:t> detection that we overlay on top of the original object. We then check for collisions based on these simple shapes which makes the code easier and saves a lot of performance. Several examples of such </a:t>
            </a:r>
            <a:r>
              <a:rPr lang="en-US" sz="2400" b="1" dirty="0">
                <a:solidFill>
                  <a:srgbClr val="53AE6E"/>
                </a:solidFill>
              </a:rPr>
              <a:t>collision</a:t>
            </a:r>
            <a:r>
              <a:rPr lang="en-US" sz="2400" dirty="0"/>
              <a:t> shapes are circles, spheres, rectangles and boxes; these are a lot simpler to work with compared to meshes with hundreds of triangles.</a:t>
            </a:r>
          </a:p>
        </p:txBody>
      </p:sp>
    </p:spTree>
    <p:extLst>
      <p:ext uri="{BB962C8B-B14F-4D97-AF65-F5344CB8AC3E}">
        <p14:creationId xmlns:p14="http://schemas.microsoft.com/office/powerpoint/2010/main" val="4203828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AABB - AABB collisions</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a:bodyPr>
          <a:lstStyle/>
          <a:p>
            <a:pPr algn="just"/>
            <a:r>
              <a:rPr lang="en-US" b="1" dirty="0">
                <a:solidFill>
                  <a:srgbClr val="53AE6E"/>
                </a:solidFill>
              </a:rPr>
              <a:t>AABB</a:t>
            </a:r>
            <a:r>
              <a:rPr lang="en-US" dirty="0"/>
              <a:t> stands for </a:t>
            </a:r>
            <a:r>
              <a:rPr lang="en-US" b="1" i="1" dirty="0">
                <a:solidFill>
                  <a:srgbClr val="53AE6E"/>
                </a:solidFill>
              </a:rPr>
              <a:t>axis-aligned bounding </a:t>
            </a:r>
            <a:r>
              <a:rPr lang="en-US" dirty="0"/>
              <a:t>box which is a rectangular collision shape aligned to the base axes of the scene, which in 2D aligns to the x and y axis. Being axis-aligned means the rectangular box is not rotated and its edges are parallel to the base axes of the scene (e.g. left and right edge are parallel to the y axis). The fact that these boxes are always aligned to the axes of the scene makes all calculations easier. Here we surround the ball object with an AABB:</a:t>
            </a:r>
          </a:p>
        </p:txBody>
      </p:sp>
      <p:pic>
        <p:nvPicPr>
          <p:cNvPr id="4" name="Picture 3">
            <a:extLst>
              <a:ext uri="{FF2B5EF4-FFF2-40B4-BE49-F238E27FC236}">
                <a16:creationId xmlns:a16="http://schemas.microsoft.com/office/drawing/2014/main" id="{A327C73E-A81F-45AE-94A1-1ED27A20A40C}"/>
              </a:ext>
            </a:extLst>
          </p:cNvPr>
          <p:cNvPicPr>
            <a:picLocks noChangeAspect="1"/>
          </p:cNvPicPr>
          <p:nvPr/>
        </p:nvPicPr>
        <p:blipFill>
          <a:blip r:embed="rId2"/>
          <a:stretch>
            <a:fillRect/>
          </a:stretch>
        </p:blipFill>
        <p:spPr>
          <a:xfrm>
            <a:off x="8572500" y="3875290"/>
            <a:ext cx="2857500" cy="2600325"/>
          </a:xfrm>
          <a:prstGeom prst="rect">
            <a:avLst/>
          </a:prstGeom>
        </p:spPr>
      </p:pic>
    </p:spTree>
    <p:extLst>
      <p:ext uri="{BB962C8B-B14F-4D97-AF65-F5344CB8AC3E}">
        <p14:creationId xmlns:p14="http://schemas.microsoft.com/office/powerpoint/2010/main" val="3132612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how do we determine collisions?</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a:bodyPr>
          <a:lstStyle/>
          <a:p>
            <a:pPr algn="just"/>
            <a:r>
              <a:rPr lang="en-US" dirty="0"/>
              <a:t>A collision occurs when two collision shapes enter each other's regions e.g. the shape that determines the first object is in some way inside the shape of the second object. For </a:t>
            </a:r>
            <a:r>
              <a:rPr lang="en-US" b="1" dirty="0">
                <a:solidFill>
                  <a:srgbClr val="53AE6E"/>
                </a:solidFill>
              </a:rPr>
              <a:t>AABBs</a:t>
            </a:r>
            <a:r>
              <a:rPr lang="en-US" dirty="0"/>
              <a:t> this is quite easy to determine due to the fact that they're aligned to the scene's axes: we check for each axis if the two object' edges on that axis overlap. So basically we check if the horizontal edges overlap and if the vertical edges overlap of both objects. If both the horizontal </a:t>
            </a:r>
            <a:r>
              <a:rPr lang="en-US" b="1" dirty="0"/>
              <a:t>and </a:t>
            </a:r>
            <a:r>
              <a:rPr lang="en-US" dirty="0"/>
              <a:t>vertical edges overlap we have a collision.</a:t>
            </a:r>
          </a:p>
        </p:txBody>
      </p:sp>
      <p:pic>
        <p:nvPicPr>
          <p:cNvPr id="1026" name="Picture 2" descr="Image of overlapping edges of AABB">
            <a:extLst>
              <a:ext uri="{FF2B5EF4-FFF2-40B4-BE49-F238E27FC236}">
                <a16:creationId xmlns:a16="http://schemas.microsoft.com/office/drawing/2014/main" id="{59D99764-340D-4D72-A7CE-5C6A4998C7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4342015"/>
            <a:ext cx="57150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444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how do we determine collisions?</a:t>
            </a:r>
            <a:endParaRPr lang="en-US" dirty="0"/>
          </a:p>
        </p:txBody>
      </p:sp>
      <p:pic>
        <p:nvPicPr>
          <p:cNvPr id="4" name="collisions">
            <a:hlinkClick r:id="" action="ppaction://media"/>
            <a:extLst>
              <a:ext uri="{FF2B5EF4-FFF2-40B4-BE49-F238E27FC236}">
                <a16:creationId xmlns:a16="http://schemas.microsoft.com/office/drawing/2014/main" id="{021E83C5-4DA9-4D9B-BB9E-AC2E4630641A}"/>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257550" y="2054225"/>
            <a:ext cx="6165850" cy="4624388"/>
          </a:xfrm>
        </p:spPr>
      </p:pic>
    </p:spTree>
    <p:extLst>
      <p:ext uri="{BB962C8B-B14F-4D97-AF65-F5344CB8AC3E}">
        <p14:creationId xmlns:p14="http://schemas.microsoft.com/office/powerpoint/2010/main" val="3307317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73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050" name="Picture 2" descr="Ball colliding with brick as an AABB">
            <a:extLst>
              <a:ext uri="{FF2B5EF4-FFF2-40B4-BE49-F238E27FC236}">
                <a16:creationId xmlns:a16="http://schemas.microsoft.com/office/drawing/2014/main" id="{857AE449-2AC8-40F6-9250-7FE6F189F1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2954" b="3"/>
          <a:stretch/>
        </p:blipFill>
        <p:spPr bwMode="auto">
          <a:xfrm>
            <a:off x="7373816" y="2145636"/>
            <a:ext cx="4261588" cy="3954707"/>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8" title="scalloped circle">
            <a:extLst>
              <a:ext uri="{FF2B5EF4-FFF2-40B4-BE49-F238E27FC236}">
                <a16:creationId xmlns:a16="http://schemas.microsoft.com/office/drawing/2014/main" id="{F2AF447E-E08D-4A51-ABEE-3A2D71E1E44C}"/>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5" fmla="*/ 9528486 w 12192000"/>
              <a:gd name="connsiteY5" fmla="*/ 2197353 h 6858000"/>
              <a:gd name="connsiteX6" fmla="*/ 9491031 w 12192000"/>
              <a:gd name="connsiteY6" fmla="*/ 2200864 h 6858000"/>
              <a:gd name="connsiteX7" fmla="*/ 9454747 w 12192000"/>
              <a:gd name="connsiteY7" fmla="*/ 2210228 h 6858000"/>
              <a:gd name="connsiteX8" fmla="*/ 9419633 w 12192000"/>
              <a:gd name="connsiteY8" fmla="*/ 2224273 h 6858000"/>
              <a:gd name="connsiteX9" fmla="*/ 9383349 w 12192000"/>
              <a:gd name="connsiteY9" fmla="*/ 2241830 h 6858000"/>
              <a:gd name="connsiteX10" fmla="*/ 9349405 w 12192000"/>
              <a:gd name="connsiteY10" fmla="*/ 2261728 h 6858000"/>
              <a:gd name="connsiteX11" fmla="*/ 9314292 w 12192000"/>
              <a:gd name="connsiteY11" fmla="*/ 2282796 h 6858000"/>
              <a:gd name="connsiteX12" fmla="*/ 9279178 w 12192000"/>
              <a:gd name="connsiteY12" fmla="*/ 2301524 h 6858000"/>
              <a:gd name="connsiteX13" fmla="*/ 9244064 w 12192000"/>
              <a:gd name="connsiteY13" fmla="*/ 2320251 h 6858000"/>
              <a:gd name="connsiteX14" fmla="*/ 9208950 w 12192000"/>
              <a:gd name="connsiteY14" fmla="*/ 2334296 h 6858000"/>
              <a:gd name="connsiteX15" fmla="*/ 9172666 w 12192000"/>
              <a:gd name="connsiteY15" fmla="*/ 2343660 h 6858000"/>
              <a:gd name="connsiteX16" fmla="*/ 9136382 w 12192000"/>
              <a:gd name="connsiteY16" fmla="*/ 2348342 h 6858000"/>
              <a:gd name="connsiteX17" fmla="*/ 9097757 w 12192000"/>
              <a:gd name="connsiteY17" fmla="*/ 2348342 h 6858000"/>
              <a:gd name="connsiteX18" fmla="*/ 9057961 w 12192000"/>
              <a:gd name="connsiteY18" fmla="*/ 2346001 h 6858000"/>
              <a:gd name="connsiteX19" fmla="*/ 9018166 w 12192000"/>
              <a:gd name="connsiteY19" fmla="*/ 2341319 h 6858000"/>
              <a:gd name="connsiteX20" fmla="*/ 8978370 w 12192000"/>
              <a:gd name="connsiteY20" fmla="*/ 2335467 h 6858000"/>
              <a:gd name="connsiteX21" fmla="*/ 8938575 w 12192000"/>
              <a:gd name="connsiteY21" fmla="*/ 2330785 h 6858000"/>
              <a:gd name="connsiteX22" fmla="*/ 8898779 w 12192000"/>
              <a:gd name="connsiteY22" fmla="*/ 2327274 h 6858000"/>
              <a:gd name="connsiteX23" fmla="*/ 8861324 w 12192000"/>
              <a:gd name="connsiteY23" fmla="*/ 2328444 h 6858000"/>
              <a:gd name="connsiteX24" fmla="*/ 8825040 w 12192000"/>
              <a:gd name="connsiteY24" fmla="*/ 2333126 h 6858000"/>
              <a:gd name="connsiteX25" fmla="*/ 8789926 w 12192000"/>
              <a:gd name="connsiteY25" fmla="*/ 2343660 h 6858000"/>
              <a:gd name="connsiteX26" fmla="*/ 8760665 w 12192000"/>
              <a:gd name="connsiteY26" fmla="*/ 2358876 h 6858000"/>
              <a:gd name="connsiteX27" fmla="*/ 8732574 w 12192000"/>
              <a:gd name="connsiteY27" fmla="*/ 2378774 h 6858000"/>
              <a:gd name="connsiteX28" fmla="*/ 8707994 w 12192000"/>
              <a:gd name="connsiteY28" fmla="*/ 2402183 h 6858000"/>
              <a:gd name="connsiteX29" fmla="*/ 8683415 w 12192000"/>
              <a:gd name="connsiteY29" fmla="*/ 2429103 h 6858000"/>
              <a:gd name="connsiteX30" fmla="*/ 8661176 w 12192000"/>
              <a:gd name="connsiteY30" fmla="*/ 2457194 h 6858000"/>
              <a:gd name="connsiteX31" fmla="*/ 8638937 w 12192000"/>
              <a:gd name="connsiteY31" fmla="*/ 2486456 h 6858000"/>
              <a:gd name="connsiteX32" fmla="*/ 8616699 w 12192000"/>
              <a:gd name="connsiteY32" fmla="*/ 2515717 h 6858000"/>
              <a:gd name="connsiteX33" fmla="*/ 8594460 w 12192000"/>
              <a:gd name="connsiteY33" fmla="*/ 2543808 h 6858000"/>
              <a:gd name="connsiteX34" fmla="*/ 8571051 w 12192000"/>
              <a:gd name="connsiteY34" fmla="*/ 2570729 h 6858000"/>
              <a:gd name="connsiteX35" fmla="*/ 8544130 w 12192000"/>
              <a:gd name="connsiteY35" fmla="*/ 2594138 h 6858000"/>
              <a:gd name="connsiteX36" fmla="*/ 8518380 w 12192000"/>
              <a:gd name="connsiteY36" fmla="*/ 2615206 h 6858000"/>
              <a:gd name="connsiteX37" fmla="*/ 8489119 w 12192000"/>
              <a:gd name="connsiteY37" fmla="*/ 2631593 h 6858000"/>
              <a:gd name="connsiteX38" fmla="*/ 8457516 w 12192000"/>
              <a:gd name="connsiteY38" fmla="*/ 2645638 h 6858000"/>
              <a:gd name="connsiteX39" fmla="*/ 8423573 w 12192000"/>
              <a:gd name="connsiteY39" fmla="*/ 2657343 h 6858000"/>
              <a:gd name="connsiteX40" fmla="*/ 8388459 w 12192000"/>
              <a:gd name="connsiteY40" fmla="*/ 2667877 h 6858000"/>
              <a:gd name="connsiteX41" fmla="*/ 8353346 w 12192000"/>
              <a:gd name="connsiteY41" fmla="*/ 2677241 h 6858000"/>
              <a:gd name="connsiteX42" fmla="*/ 8317062 w 12192000"/>
              <a:gd name="connsiteY42" fmla="*/ 2686604 h 6858000"/>
              <a:gd name="connsiteX43" fmla="*/ 8283118 w 12192000"/>
              <a:gd name="connsiteY43" fmla="*/ 2697138 h 6858000"/>
              <a:gd name="connsiteX44" fmla="*/ 8249175 w 12192000"/>
              <a:gd name="connsiteY44" fmla="*/ 2708843 h 6858000"/>
              <a:gd name="connsiteX45" fmla="*/ 8217573 w 12192000"/>
              <a:gd name="connsiteY45" fmla="*/ 2722888 h 6858000"/>
              <a:gd name="connsiteX46" fmla="*/ 8189482 w 12192000"/>
              <a:gd name="connsiteY46" fmla="*/ 2740445 h 6858000"/>
              <a:gd name="connsiteX47" fmla="*/ 8163732 w 12192000"/>
              <a:gd name="connsiteY47" fmla="*/ 2761514 h 6858000"/>
              <a:gd name="connsiteX48" fmla="*/ 8142663 w 12192000"/>
              <a:gd name="connsiteY48" fmla="*/ 2787264 h 6858000"/>
              <a:gd name="connsiteX49" fmla="*/ 8125106 w 12192000"/>
              <a:gd name="connsiteY49" fmla="*/ 2815355 h 6858000"/>
              <a:gd name="connsiteX50" fmla="*/ 8111061 w 12192000"/>
              <a:gd name="connsiteY50" fmla="*/ 2846957 h 6858000"/>
              <a:gd name="connsiteX51" fmla="*/ 8099356 w 12192000"/>
              <a:gd name="connsiteY51" fmla="*/ 2880900 h 6858000"/>
              <a:gd name="connsiteX52" fmla="*/ 8088822 w 12192000"/>
              <a:gd name="connsiteY52" fmla="*/ 2914844 h 6858000"/>
              <a:gd name="connsiteX53" fmla="*/ 8079459 w 12192000"/>
              <a:gd name="connsiteY53" fmla="*/ 2951128 h 6858000"/>
              <a:gd name="connsiteX54" fmla="*/ 8070095 w 12192000"/>
              <a:gd name="connsiteY54" fmla="*/ 2986242 h 6858000"/>
              <a:gd name="connsiteX55" fmla="*/ 8059561 w 12192000"/>
              <a:gd name="connsiteY55" fmla="*/ 3021355 h 6858000"/>
              <a:gd name="connsiteX56" fmla="*/ 8047856 w 12192000"/>
              <a:gd name="connsiteY56" fmla="*/ 3055299 h 6858000"/>
              <a:gd name="connsiteX57" fmla="*/ 8033811 w 12192000"/>
              <a:gd name="connsiteY57" fmla="*/ 3086901 h 6858000"/>
              <a:gd name="connsiteX58" fmla="*/ 8017424 w 12192000"/>
              <a:gd name="connsiteY58" fmla="*/ 3116162 h 6858000"/>
              <a:gd name="connsiteX59" fmla="*/ 7996356 w 12192000"/>
              <a:gd name="connsiteY59" fmla="*/ 3141913 h 6858000"/>
              <a:gd name="connsiteX60" fmla="*/ 7972947 w 12192000"/>
              <a:gd name="connsiteY60" fmla="*/ 3168833 h 6858000"/>
              <a:gd name="connsiteX61" fmla="*/ 7946026 w 12192000"/>
              <a:gd name="connsiteY61" fmla="*/ 3192242 h 6858000"/>
              <a:gd name="connsiteX62" fmla="*/ 7916765 w 12192000"/>
              <a:gd name="connsiteY62" fmla="*/ 3214481 h 6858000"/>
              <a:gd name="connsiteX63" fmla="*/ 7887503 w 12192000"/>
              <a:gd name="connsiteY63" fmla="*/ 3236720 h 6858000"/>
              <a:gd name="connsiteX64" fmla="*/ 7858242 w 12192000"/>
              <a:gd name="connsiteY64" fmla="*/ 3258958 h 6858000"/>
              <a:gd name="connsiteX65" fmla="*/ 7830151 w 12192000"/>
              <a:gd name="connsiteY65" fmla="*/ 3281197 h 6858000"/>
              <a:gd name="connsiteX66" fmla="*/ 7803230 w 12192000"/>
              <a:gd name="connsiteY66" fmla="*/ 3305777 h 6858000"/>
              <a:gd name="connsiteX67" fmla="*/ 7779821 w 12192000"/>
              <a:gd name="connsiteY67" fmla="*/ 3330356 h 6858000"/>
              <a:gd name="connsiteX68" fmla="*/ 7759923 w 12192000"/>
              <a:gd name="connsiteY68" fmla="*/ 3358447 h 6858000"/>
              <a:gd name="connsiteX69" fmla="*/ 7744708 w 12192000"/>
              <a:gd name="connsiteY69" fmla="*/ 3387709 h 6858000"/>
              <a:gd name="connsiteX70" fmla="*/ 7734173 w 12192000"/>
              <a:gd name="connsiteY70" fmla="*/ 3422822 h 6858000"/>
              <a:gd name="connsiteX71" fmla="*/ 7729492 w 12192000"/>
              <a:gd name="connsiteY71" fmla="*/ 3459107 h 6858000"/>
              <a:gd name="connsiteX72" fmla="*/ 7728321 w 12192000"/>
              <a:gd name="connsiteY72" fmla="*/ 3496561 h 6858000"/>
              <a:gd name="connsiteX73" fmla="*/ 7731832 w 12192000"/>
              <a:gd name="connsiteY73" fmla="*/ 3536357 h 6858000"/>
              <a:gd name="connsiteX74" fmla="*/ 7736514 w 12192000"/>
              <a:gd name="connsiteY74" fmla="*/ 3576152 h 6858000"/>
              <a:gd name="connsiteX75" fmla="*/ 7742367 w 12192000"/>
              <a:gd name="connsiteY75" fmla="*/ 3615948 h 6858000"/>
              <a:gd name="connsiteX76" fmla="*/ 7747048 w 12192000"/>
              <a:gd name="connsiteY76" fmla="*/ 3655744 h 6858000"/>
              <a:gd name="connsiteX77" fmla="*/ 7749389 w 12192000"/>
              <a:gd name="connsiteY77" fmla="*/ 3695539 h 6858000"/>
              <a:gd name="connsiteX78" fmla="*/ 7749389 w 12192000"/>
              <a:gd name="connsiteY78" fmla="*/ 3734164 h 6858000"/>
              <a:gd name="connsiteX79" fmla="*/ 7744708 w 12192000"/>
              <a:gd name="connsiteY79" fmla="*/ 3770449 h 6858000"/>
              <a:gd name="connsiteX80" fmla="*/ 7735344 w 12192000"/>
              <a:gd name="connsiteY80" fmla="*/ 3806733 h 6858000"/>
              <a:gd name="connsiteX81" fmla="*/ 7721298 w 12192000"/>
              <a:gd name="connsiteY81" fmla="*/ 3840676 h 6858000"/>
              <a:gd name="connsiteX82" fmla="*/ 7703741 w 12192000"/>
              <a:gd name="connsiteY82" fmla="*/ 3875790 h 6858000"/>
              <a:gd name="connsiteX83" fmla="*/ 7683844 w 12192000"/>
              <a:gd name="connsiteY83" fmla="*/ 3910903 h 6858000"/>
              <a:gd name="connsiteX84" fmla="*/ 7662775 w 12192000"/>
              <a:gd name="connsiteY84" fmla="*/ 3946017 h 6858000"/>
              <a:gd name="connsiteX85" fmla="*/ 7642878 w 12192000"/>
              <a:gd name="connsiteY85" fmla="*/ 3979961 h 6858000"/>
              <a:gd name="connsiteX86" fmla="*/ 7625321 w 12192000"/>
              <a:gd name="connsiteY86" fmla="*/ 4016245 h 6858000"/>
              <a:gd name="connsiteX87" fmla="*/ 7611275 w 12192000"/>
              <a:gd name="connsiteY87" fmla="*/ 4051358 h 6858000"/>
              <a:gd name="connsiteX88" fmla="*/ 7601912 w 12192000"/>
              <a:gd name="connsiteY88" fmla="*/ 4087643 h 6858000"/>
              <a:gd name="connsiteX89" fmla="*/ 7598400 w 12192000"/>
              <a:gd name="connsiteY89" fmla="*/ 4125097 h 6858000"/>
              <a:gd name="connsiteX90" fmla="*/ 7601912 w 12192000"/>
              <a:gd name="connsiteY90" fmla="*/ 4162552 h 6858000"/>
              <a:gd name="connsiteX91" fmla="*/ 7611275 w 12192000"/>
              <a:gd name="connsiteY91" fmla="*/ 4198836 h 6858000"/>
              <a:gd name="connsiteX92" fmla="*/ 7625321 w 12192000"/>
              <a:gd name="connsiteY92" fmla="*/ 4233950 h 6858000"/>
              <a:gd name="connsiteX93" fmla="*/ 7642878 w 12192000"/>
              <a:gd name="connsiteY93" fmla="*/ 4270234 h 6858000"/>
              <a:gd name="connsiteX94" fmla="*/ 7662775 w 12192000"/>
              <a:gd name="connsiteY94" fmla="*/ 4304177 h 6858000"/>
              <a:gd name="connsiteX95" fmla="*/ 7683844 w 12192000"/>
              <a:gd name="connsiteY95" fmla="*/ 4339291 h 6858000"/>
              <a:gd name="connsiteX96" fmla="*/ 7703741 w 12192000"/>
              <a:gd name="connsiteY96" fmla="*/ 4374405 h 6858000"/>
              <a:gd name="connsiteX97" fmla="*/ 7721298 w 12192000"/>
              <a:gd name="connsiteY97" fmla="*/ 4409519 h 6858000"/>
              <a:gd name="connsiteX98" fmla="*/ 7735344 w 12192000"/>
              <a:gd name="connsiteY98" fmla="*/ 4443462 h 6858000"/>
              <a:gd name="connsiteX99" fmla="*/ 7744708 w 12192000"/>
              <a:gd name="connsiteY99" fmla="*/ 4479746 h 6858000"/>
              <a:gd name="connsiteX100" fmla="*/ 7749389 w 12192000"/>
              <a:gd name="connsiteY100" fmla="*/ 4516030 h 6858000"/>
              <a:gd name="connsiteX101" fmla="*/ 7749389 w 12192000"/>
              <a:gd name="connsiteY101" fmla="*/ 4554655 h 6858000"/>
              <a:gd name="connsiteX102" fmla="*/ 7747048 w 12192000"/>
              <a:gd name="connsiteY102" fmla="*/ 4594451 h 6858000"/>
              <a:gd name="connsiteX103" fmla="*/ 7742367 w 12192000"/>
              <a:gd name="connsiteY103" fmla="*/ 4634247 h 6858000"/>
              <a:gd name="connsiteX104" fmla="*/ 7736514 w 12192000"/>
              <a:gd name="connsiteY104" fmla="*/ 4674042 h 6858000"/>
              <a:gd name="connsiteX105" fmla="*/ 7731832 w 12192000"/>
              <a:gd name="connsiteY105" fmla="*/ 4713838 h 6858000"/>
              <a:gd name="connsiteX106" fmla="*/ 7728321 w 12192000"/>
              <a:gd name="connsiteY106" fmla="*/ 4753633 h 6858000"/>
              <a:gd name="connsiteX107" fmla="*/ 7729492 w 12192000"/>
              <a:gd name="connsiteY107" fmla="*/ 4791088 h 6858000"/>
              <a:gd name="connsiteX108" fmla="*/ 7734173 w 12192000"/>
              <a:gd name="connsiteY108" fmla="*/ 4827372 h 6858000"/>
              <a:gd name="connsiteX109" fmla="*/ 7744708 w 12192000"/>
              <a:gd name="connsiteY109" fmla="*/ 4862486 h 6858000"/>
              <a:gd name="connsiteX110" fmla="*/ 7759923 w 12192000"/>
              <a:gd name="connsiteY110" fmla="*/ 4891747 h 6858000"/>
              <a:gd name="connsiteX111" fmla="*/ 7779821 w 12192000"/>
              <a:gd name="connsiteY111" fmla="*/ 4919838 h 6858000"/>
              <a:gd name="connsiteX112" fmla="*/ 7803230 w 12192000"/>
              <a:gd name="connsiteY112" fmla="*/ 4944418 h 6858000"/>
              <a:gd name="connsiteX113" fmla="*/ 7830151 w 12192000"/>
              <a:gd name="connsiteY113" fmla="*/ 4968998 h 6858000"/>
              <a:gd name="connsiteX114" fmla="*/ 7858242 w 12192000"/>
              <a:gd name="connsiteY114" fmla="*/ 4991236 h 6858000"/>
              <a:gd name="connsiteX115" fmla="*/ 7887503 w 12192000"/>
              <a:gd name="connsiteY115" fmla="*/ 5013475 h 6858000"/>
              <a:gd name="connsiteX116" fmla="*/ 7916765 w 12192000"/>
              <a:gd name="connsiteY116" fmla="*/ 5035714 h 6858000"/>
              <a:gd name="connsiteX117" fmla="*/ 7946026 w 12192000"/>
              <a:gd name="connsiteY117" fmla="*/ 5057952 h 6858000"/>
              <a:gd name="connsiteX118" fmla="*/ 7972947 w 12192000"/>
              <a:gd name="connsiteY118" fmla="*/ 5081362 h 6858000"/>
              <a:gd name="connsiteX119" fmla="*/ 7996356 w 12192000"/>
              <a:gd name="connsiteY119" fmla="*/ 5108282 h 6858000"/>
              <a:gd name="connsiteX120" fmla="*/ 8017424 w 12192000"/>
              <a:gd name="connsiteY120" fmla="*/ 5134032 h 6858000"/>
              <a:gd name="connsiteX121" fmla="*/ 8033811 w 12192000"/>
              <a:gd name="connsiteY121" fmla="*/ 5163294 h 6858000"/>
              <a:gd name="connsiteX122" fmla="*/ 8047856 w 12192000"/>
              <a:gd name="connsiteY122" fmla="*/ 5194896 h 6858000"/>
              <a:gd name="connsiteX123" fmla="*/ 8059561 w 12192000"/>
              <a:gd name="connsiteY123" fmla="*/ 5228839 h 6858000"/>
              <a:gd name="connsiteX124" fmla="*/ 8070095 w 12192000"/>
              <a:gd name="connsiteY124" fmla="*/ 5263953 h 6858000"/>
              <a:gd name="connsiteX125" fmla="*/ 8079459 w 12192000"/>
              <a:gd name="connsiteY125" fmla="*/ 5299067 h 6858000"/>
              <a:gd name="connsiteX126" fmla="*/ 8088822 w 12192000"/>
              <a:gd name="connsiteY126" fmla="*/ 5335351 h 6858000"/>
              <a:gd name="connsiteX127" fmla="*/ 8099356 w 12192000"/>
              <a:gd name="connsiteY127" fmla="*/ 5369294 h 6858000"/>
              <a:gd name="connsiteX128" fmla="*/ 8111061 w 12192000"/>
              <a:gd name="connsiteY128" fmla="*/ 5403238 h 6858000"/>
              <a:gd name="connsiteX129" fmla="*/ 8125106 w 12192000"/>
              <a:gd name="connsiteY129" fmla="*/ 5434840 h 6858000"/>
              <a:gd name="connsiteX130" fmla="*/ 8142663 w 12192000"/>
              <a:gd name="connsiteY130" fmla="*/ 5462931 h 6858000"/>
              <a:gd name="connsiteX131" fmla="*/ 8163732 w 12192000"/>
              <a:gd name="connsiteY131" fmla="*/ 5488681 h 6858000"/>
              <a:gd name="connsiteX132" fmla="*/ 8189482 w 12192000"/>
              <a:gd name="connsiteY132" fmla="*/ 5509749 h 6858000"/>
              <a:gd name="connsiteX133" fmla="*/ 8217573 w 12192000"/>
              <a:gd name="connsiteY133" fmla="*/ 5527306 h 6858000"/>
              <a:gd name="connsiteX134" fmla="*/ 8249175 w 12192000"/>
              <a:gd name="connsiteY134" fmla="*/ 5541352 h 6858000"/>
              <a:gd name="connsiteX135" fmla="*/ 8283118 w 12192000"/>
              <a:gd name="connsiteY135" fmla="*/ 5553056 h 6858000"/>
              <a:gd name="connsiteX136" fmla="*/ 8317062 w 12192000"/>
              <a:gd name="connsiteY136" fmla="*/ 5563590 h 6858000"/>
              <a:gd name="connsiteX137" fmla="*/ 8353346 w 12192000"/>
              <a:gd name="connsiteY137" fmla="*/ 5572954 h 6858000"/>
              <a:gd name="connsiteX138" fmla="*/ 8388459 w 12192000"/>
              <a:gd name="connsiteY138" fmla="*/ 5582318 h 6858000"/>
              <a:gd name="connsiteX139" fmla="*/ 8423573 w 12192000"/>
              <a:gd name="connsiteY139" fmla="*/ 5592852 h 6858000"/>
              <a:gd name="connsiteX140" fmla="*/ 8457516 w 12192000"/>
              <a:gd name="connsiteY140" fmla="*/ 5604556 h 6858000"/>
              <a:gd name="connsiteX141" fmla="*/ 8489119 w 12192000"/>
              <a:gd name="connsiteY141" fmla="*/ 5618602 h 6858000"/>
              <a:gd name="connsiteX142" fmla="*/ 8518380 w 12192000"/>
              <a:gd name="connsiteY142" fmla="*/ 5634988 h 6858000"/>
              <a:gd name="connsiteX143" fmla="*/ 8544130 w 12192000"/>
              <a:gd name="connsiteY143" fmla="*/ 5656057 h 6858000"/>
              <a:gd name="connsiteX144" fmla="*/ 8571051 w 12192000"/>
              <a:gd name="connsiteY144" fmla="*/ 5679466 h 6858000"/>
              <a:gd name="connsiteX145" fmla="*/ 8594460 w 12192000"/>
              <a:gd name="connsiteY145" fmla="*/ 5706386 h 6858000"/>
              <a:gd name="connsiteX146" fmla="*/ 8616699 w 12192000"/>
              <a:gd name="connsiteY146" fmla="*/ 5734477 h 6858000"/>
              <a:gd name="connsiteX147" fmla="*/ 8638937 w 12192000"/>
              <a:gd name="connsiteY147" fmla="*/ 5763739 h 6858000"/>
              <a:gd name="connsiteX148" fmla="*/ 8661176 w 12192000"/>
              <a:gd name="connsiteY148" fmla="*/ 5793000 h 6858000"/>
              <a:gd name="connsiteX149" fmla="*/ 8683415 w 12192000"/>
              <a:gd name="connsiteY149" fmla="*/ 5821091 h 6858000"/>
              <a:gd name="connsiteX150" fmla="*/ 8707994 w 12192000"/>
              <a:gd name="connsiteY150" fmla="*/ 5848012 h 6858000"/>
              <a:gd name="connsiteX151" fmla="*/ 8732574 w 12192000"/>
              <a:gd name="connsiteY151" fmla="*/ 5871421 h 6858000"/>
              <a:gd name="connsiteX152" fmla="*/ 8760665 w 12192000"/>
              <a:gd name="connsiteY152" fmla="*/ 5891319 h 6858000"/>
              <a:gd name="connsiteX153" fmla="*/ 8789926 w 12192000"/>
              <a:gd name="connsiteY153" fmla="*/ 5906535 h 6858000"/>
              <a:gd name="connsiteX154" fmla="*/ 8825040 w 12192000"/>
              <a:gd name="connsiteY154" fmla="*/ 5917069 h 6858000"/>
              <a:gd name="connsiteX155" fmla="*/ 8861324 w 12192000"/>
              <a:gd name="connsiteY155" fmla="*/ 5921751 h 6858000"/>
              <a:gd name="connsiteX156" fmla="*/ 8898779 w 12192000"/>
              <a:gd name="connsiteY156" fmla="*/ 5922921 h 6858000"/>
              <a:gd name="connsiteX157" fmla="*/ 8938575 w 12192000"/>
              <a:gd name="connsiteY157" fmla="*/ 5919410 h 6858000"/>
              <a:gd name="connsiteX158" fmla="*/ 8978370 w 12192000"/>
              <a:gd name="connsiteY158" fmla="*/ 5914728 h 6858000"/>
              <a:gd name="connsiteX159" fmla="*/ 9018166 w 12192000"/>
              <a:gd name="connsiteY159" fmla="*/ 5908876 h 6858000"/>
              <a:gd name="connsiteX160" fmla="*/ 9057961 w 12192000"/>
              <a:gd name="connsiteY160" fmla="*/ 5904194 h 6858000"/>
              <a:gd name="connsiteX161" fmla="*/ 9097757 w 12192000"/>
              <a:gd name="connsiteY161" fmla="*/ 5901853 h 6858000"/>
              <a:gd name="connsiteX162" fmla="*/ 9136382 w 12192000"/>
              <a:gd name="connsiteY162" fmla="*/ 5901853 h 6858000"/>
              <a:gd name="connsiteX163" fmla="*/ 9172666 w 12192000"/>
              <a:gd name="connsiteY163" fmla="*/ 5906535 h 6858000"/>
              <a:gd name="connsiteX164" fmla="*/ 9208950 w 12192000"/>
              <a:gd name="connsiteY164" fmla="*/ 5915898 h 6858000"/>
              <a:gd name="connsiteX165" fmla="*/ 9244064 w 12192000"/>
              <a:gd name="connsiteY165" fmla="*/ 5929944 h 6858000"/>
              <a:gd name="connsiteX166" fmla="*/ 9279178 w 12192000"/>
              <a:gd name="connsiteY166" fmla="*/ 5948671 h 6858000"/>
              <a:gd name="connsiteX167" fmla="*/ 9314292 w 12192000"/>
              <a:gd name="connsiteY167" fmla="*/ 5967398 h 6858000"/>
              <a:gd name="connsiteX168" fmla="*/ 9349405 w 12192000"/>
              <a:gd name="connsiteY168" fmla="*/ 5988467 h 6858000"/>
              <a:gd name="connsiteX169" fmla="*/ 9383349 w 12192000"/>
              <a:gd name="connsiteY169" fmla="*/ 6008364 h 6858000"/>
              <a:gd name="connsiteX170" fmla="*/ 9419633 w 12192000"/>
              <a:gd name="connsiteY170" fmla="*/ 6025921 h 6858000"/>
              <a:gd name="connsiteX171" fmla="*/ 9454747 w 12192000"/>
              <a:gd name="connsiteY171" fmla="*/ 6039967 h 6858000"/>
              <a:gd name="connsiteX172" fmla="*/ 9491031 w 12192000"/>
              <a:gd name="connsiteY172" fmla="*/ 6049331 h 6858000"/>
              <a:gd name="connsiteX173" fmla="*/ 9528486 w 12192000"/>
              <a:gd name="connsiteY173" fmla="*/ 6052842 h 6858000"/>
              <a:gd name="connsiteX174" fmla="*/ 9565940 w 12192000"/>
              <a:gd name="connsiteY174" fmla="*/ 6049331 h 6858000"/>
              <a:gd name="connsiteX175" fmla="*/ 9602224 w 12192000"/>
              <a:gd name="connsiteY175" fmla="*/ 6039967 h 6858000"/>
              <a:gd name="connsiteX176" fmla="*/ 9637338 w 12192000"/>
              <a:gd name="connsiteY176" fmla="*/ 6025921 h 6858000"/>
              <a:gd name="connsiteX177" fmla="*/ 9673622 w 12192000"/>
              <a:gd name="connsiteY177" fmla="*/ 6008364 h 6858000"/>
              <a:gd name="connsiteX178" fmla="*/ 9707566 w 12192000"/>
              <a:gd name="connsiteY178" fmla="*/ 5988467 h 6858000"/>
              <a:gd name="connsiteX179" fmla="*/ 9742679 w 12192000"/>
              <a:gd name="connsiteY179" fmla="*/ 5967398 h 6858000"/>
              <a:gd name="connsiteX180" fmla="*/ 9777793 w 12192000"/>
              <a:gd name="connsiteY180" fmla="*/ 5948671 h 6858000"/>
              <a:gd name="connsiteX181" fmla="*/ 9812907 w 12192000"/>
              <a:gd name="connsiteY181" fmla="*/ 5929944 h 6858000"/>
              <a:gd name="connsiteX182" fmla="*/ 9846850 w 12192000"/>
              <a:gd name="connsiteY182" fmla="*/ 5915898 h 6858000"/>
              <a:gd name="connsiteX183" fmla="*/ 9884305 w 12192000"/>
              <a:gd name="connsiteY183" fmla="*/ 5906535 h 6858000"/>
              <a:gd name="connsiteX184" fmla="*/ 9920589 w 12192000"/>
              <a:gd name="connsiteY184" fmla="*/ 5901853 h 6858000"/>
              <a:gd name="connsiteX185" fmla="*/ 9959214 w 12192000"/>
              <a:gd name="connsiteY185" fmla="*/ 5901853 h 6858000"/>
              <a:gd name="connsiteX186" fmla="*/ 9999010 w 12192000"/>
              <a:gd name="connsiteY186" fmla="*/ 5904194 h 6858000"/>
              <a:gd name="connsiteX187" fmla="*/ 10038805 w 12192000"/>
              <a:gd name="connsiteY187" fmla="*/ 5908876 h 6858000"/>
              <a:gd name="connsiteX188" fmla="*/ 10078601 w 12192000"/>
              <a:gd name="connsiteY188" fmla="*/ 5914728 h 6858000"/>
              <a:gd name="connsiteX189" fmla="*/ 10118396 w 12192000"/>
              <a:gd name="connsiteY189" fmla="*/ 5919410 h 6858000"/>
              <a:gd name="connsiteX190" fmla="*/ 10158192 w 12192000"/>
              <a:gd name="connsiteY190" fmla="*/ 5922921 h 6858000"/>
              <a:gd name="connsiteX191" fmla="*/ 10195647 w 12192000"/>
              <a:gd name="connsiteY191" fmla="*/ 5921751 h 6858000"/>
              <a:gd name="connsiteX192" fmla="*/ 10231931 w 12192000"/>
              <a:gd name="connsiteY192" fmla="*/ 5917069 h 6858000"/>
              <a:gd name="connsiteX193" fmla="*/ 10267044 w 12192000"/>
              <a:gd name="connsiteY193" fmla="*/ 5906535 h 6858000"/>
              <a:gd name="connsiteX194" fmla="*/ 10296306 w 12192000"/>
              <a:gd name="connsiteY194" fmla="*/ 5891319 h 6858000"/>
              <a:gd name="connsiteX195" fmla="*/ 10324397 w 12192000"/>
              <a:gd name="connsiteY195" fmla="*/ 5871421 h 6858000"/>
              <a:gd name="connsiteX196" fmla="*/ 10348977 w 12192000"/>
              <a:gd name="connsiteY196" fmla="*/ 5848012 h 6858000"/>
              <a:gd name="connsiteX197" fmla="*/ 10373556 w 12192000"/>
              <a:gd name="connsiteY197" fmla="*/ 5821091 h 6858000"/>
              <a:gd name="connsiteX198" fmla="*/ 10395795 w 12192000"/>
              <a:gd name="connsiteY198" fmla="*/ 5793000 h 6858000"/>
              <a:gd name="connsiteX199" fmla="*/ 10418034 w 12192000"/>
              <a:gd name="connsiteY199" fmla="*/ 5763739 h 6858000"/>
              <a:gd name="connsiteX200" fmla="*/ 10440272 w 12192000"/>
              <a:gd name="connsiteY200" fmla="*/ 5734477 h 6858000"/>
              <a:gd name="connsiteX201" fmla="*/ 10462511 w 12192000"/>
              <a:gd name="connsiteY201" fmla="*/ 5706386 h 6858000"/>
              <a:gd name="connsiteX202" fmla="*/ 10485920 w 12192000"/>
              <a:gd name="connsiteY202" fmla="*/ 5679466 h 6858000"/>
              <a:gd name="connsiteX203" fmla="*/ 10512841 w 12192000"/>
              <a:gd name="connsiteY203" fmla="*/ 5656057 h 6858000"/>
              <a:gd name="connsiteX204" fmla="*/ 10538591 w 12192000"/>
              <a:gd name="connsiteY204" fmla="*/ 5634988 h 6858000"/>
              <a:gd name="connsiteX205" fmla="*/ 10567852 w 12192000"/>
              <a:gd name="connsiteY205" fmla="*/ 5618602 h 6858000"/>
              <a:gd name="connsiteX206" fmla="*/ 10599455 w 12192000"/>
              <a:gd name="connsiteY206" fmla="*/ 5604556 h 6858000"/>
              <a:gd name="connsiteX207" fmla="*/ 10633398 w 12192000"/>
              <a:gd name="connsiteY207" fmla="*/ 5592852 h 6858000"/>
              <a:gd name="connsiteX208" fmla="*/ 10668512 w 12192000"/>
              <a:gd name="connsiteY208" fmla="*/ 5582318 h 6858000"/>
              <a:gd name="connsiteX209" fmla="*/ 10703626 w 12192000"/>
              <a:gd name="connsiteY209" fmla="*/ 5572954 h 6858000"/>
              <a:gd name="connsiteX210" fmla="*/ 10739910 w 12192000"/>
              <a:gd name="connsiteY210" fmla="*/ 5563590 h 6858000"/>
              <a:gd name="connsiteX211" fmla="*/ 10773853 w 12192000"/>
              <a:gd name="connsiteY211" fmla="*/ 5553056 h 6858000"/>
              <a:gd name="connsiteX212" fmla="*/ 10807796 w 12192000"/>
              <a:gd name="connsiteY212" fmla="*/ 5541352 h 6858000"/>
              <a:gd name="connsiteX213" fmla="*/ 10839399 w 12192000"/>
              <a:gd name="connsiteY213" fmla="*/ 5527306 h 6858000"/>
              <a:gd name="connsiteX214" fmla="*/ 10867490 w 12192000"/>
              <a:gd name="connsiteY214" fmla="*/ 5509749 h 6858000"/>
              <a:gd name="connsiteX215" fmla="*/ 10893240 w 12192000"/>
              <a:gd name="connsiteY215" fmla="*/ 5488681 h 6858000"/>
              <a:gd name="connsiteX216" fmla="*/ 10914308 w 12192000"/>
              <a:gd name="connsiteY216" fmla="*/ 5462931 h 6858000"/>
              <a:gd name="connsiteX217" fmla="*/ 10931865 w 12192000"/>
              <a:gd name="connsiteY217" fmla="*/ 5434840 h 6858000"/>
              <a:gd name="connsiteX218" fmla="*/ 10945910 w 12192000"/>
              <a:gd name="connsiteY218" fmla="*/ 5403238 h 6858000"/>
              <a:gd name="connsiteX219" fmla="*/ 10957615 w 12192000"/>
              <a:gd name="connsiteY219" fmla="*/ 5369294 h 6858000"/>
              <a:gd name="connsiteX220" fmla="*/ 10968149 w 12192000"/>
              <a:gd name="connsiteY220" fmla="*/ 5335351 h 6858000"/>
              <a:gd name="connsiteX221" fmla="*/ 10977513 w 12192000"/>
              <a:gd name="connsiteY221" fmla="*/ 5299067 h 6858000"/>
              <a:gd name="connsiteX222" fmla="*/ 10986876 w 12192000"/>
              <a:gd name="connsiteY222" fmla="*/ 5263953 h 6858000"/>
              <a:gd name="connsiteX223" fmla="*/ 10997410 w 12192000"/>
              <a:gd name="connsiteY223" fmla="*/ 5228839 h 6858000"/>
              <a:gd name="connsiteX224" fmla="*/ 11009115 w 12192000"/>
              <a:gd name="connsiteY224" fmla="*/ 5194896 h 6858000"/>
              <a:gd name="connsiteX225" fmla="*/ 11023160 w 12192000"/>
              <a:gd name="connsiteY225" fmla="*/ 5163294 h 6858000"/>
              <a:gd name="connsiteX226" fmla="*/ 11039547 w 12192000"/>
              <a:gd name="connsiteY226" fmla="*/ 5134032 h 6858000"/>
              <a:gd name="connsiteX227" fmla="*/ 11060615 w 12192000"/>
              <a:gd name="connsiteY227" fmla="*/ 5108282 h 6858000"/>
              <a:gd name="connsiteX228" fmla="*/ 11084024 w 12192000"/>
              <a:gd name="connsiteY228" fmla="*/ 5081362 h 6858000"/>
              <a:gd name="connsiteX229" fmla="*/ 11110945 w 12192000"/>
              <a:gd name="connsiteY229" fmla="*/ 5057952 h 6858000"/>
              <a:gd name="connsiteX230" fmla="*/ 11139036 w 12192000"/>
              <a:gd name="connsiteY230" fmla="*/ 5035714 h 6858000"/>
              <a:gd name="connsiteX231" fmla="*/ 11169468 w 12192000"/>
              <a:gd name="connsiteY231" fmla="*/ 5013475 h 6858000"/>
              <a:gd name="connsiteX232" fmla="*/ 11198729 w 12192000"/>
              <a:gd name="connsiteY232" fmla="*/ 4991236 h 6858000"/>
              <a:gd name="connsiteX233" fmla="*/ 11226820 w 12192000"/>
              <a:gd name="connsiteY233" fmla="*/ 4968998 h 6858000"/>
              <a:gd name="connsiteX234" fmla="*/ 11253741 w 12192000"/>
              <a:gd name="connsiteY234" fmla="*/ 4944418 h 6858000"/>
              <a:gd name="connsiteX235" fmla="*/ 11277150 w 12192000"/>
              <a:gd name="connsiteY235" fmla="*/ 4919838 h 6858000"/>
              <a:gd name="connsiteX236" fmla="*/ 11297048 w 12192000"/>
              <a:gd name="connsiteY236" fmla="*/ 4891747 h 6858000"/>
              <a:gd name="connsiteX237" fmla="*/ 11312264 w 12192000"/>
              <a:gd name="connsiteY237" fmla="*/ 4862486 h 6858000"/>
              <a:gd name="connsiteX238" fmla="*/ 11322798 w 12192000"/>
              <a:gd name="connsiteY238" fmla="*/ 4827372 h 6858000"/>
              <a:gd name="connsiteX239" fmla="*/ 11327480 w 12192000"/>
              <a:gd name="connsiteY239" fmla="*/ 4791088 h 6858000"/>
              <a:gd name="connsiteX240" fmla="*/ 11328650 w 12192000"/>
              <a:gd name="connsiteY240" fmla="*/ 4753633 h 6858000"/>
              <a:gd name="connsiteX241" fmla="*/ 11325139 w 12192000"/>
              <a:gd name="connsiteY241" fmla="*/ 4713838 h 6858000"/>
              <a:gd name="connsiteX242" fmla="*/ 11320457 w 12192000"/>
              <a:gd name="connsiteY242" fmla="*/ 4674042 h 6858000"/>
              <a:gd name="connsiteX243" fmla="*/ 11314605 w 12192000"/>
              <a:gd name="connsiteY243" fmla="*/ 4634247 h 6858000"/>
              <a:gd name="connsiteX244" fmla="*/ 11309923 w 12192000"/>
              <a:gd name="connsiteY244" fmla="*/ 4594451 h 6858000"/>
              <a:gd name="connsiteX245" fmla="*/ 11307582 w 12192000"/>
              <a:gd name="connsiteY245" fmla="*/ 4554655 h 6858000"/>
              <a:gd name="connsiteX246" fmla="*/ 11307582 w 12192000"/>
              <a:gd name="connsiteY246" fmla="*/ 4516030 h 6858000"/>
              <a:gd name="connsiteX247" fmla="*/ 11312264 w 12192000"/>
              <a:gd name="connsiteY247" fmla="*/ 4479746 h 6858000"/>
              <a:gd name="connsiteX248" fmla="*/ 11321628 w 12192000"/>
              <a:gd name="connsiteY248" fmla="*/ 4443462 h 6858000"/>
              <a:gd name="connsiteX249" fmla="*/ 11335673 w 12192000"/>
              <a:gd name="connsiteY249" fmla="*/ 4409519 h 6858000"/>
              <a:gd name="connsiteX250" fmla="*/ 11354400 w 12192000"/>
              <a:gd name="connsiteY250" fmla="*/ 4374405 h 6858000"/>
              <a:gd name="connsiteX251" fmla="*/ 11373128 w 12192000"/>
              <a:gd name="connsiteY251" fmla="*/ 4339291 h 6858000"/>
              <a:gd name="connsiteX252" fmla="*/ 11394196 w 12192000"/>
              <a:gd name="connsiteY252" fmla="*/ 4304177 h 6858000"/>
              <a:gd name="connsiteX253" fmla="*/ 11414094 w 12192000"/>
              <a:gd name="connsiteY253" fmla="*/ 4270234 h 6858000"/>
              <a:gd name="connsiteX254" fmla="*/ 11431650 w 12192000"/>
              <a:gd name="connsiteY254" fmla="*/ 4233950 h 6858000"/>
              <a:gd name="connsiteX255" fmla="*/ 11445696 w 12192000"/>
              <a:gd name="connsiteY255" fmla="*/ 4198836 h 6858000"/>
              <a:gd name="connsiteX256" fmla="*/ 11455060 w 12192000"/>
              <a:gd name="connsiteY256" fmla="*/ 4162552 h 6858000"/>
              <a:gd name="connsiteX257" fmla="*/ 11458571 w 12192000"/>
              <a:gd name="connsiteY257" fmla="*/ 4125097 h 6858000"/>
              <a:gd name="connsiteX258" fmla="*/ 11455060 w 12192000"/>
              <a:gd name="connsiteY258" fmla="*/ 4087643 h 6858000"/>
              <a:gd name="connsiteX259" fmla="*/ 11445696 w 12192000"/>
              <a:gd name="connsiteY259" fmla="*/ 4051358 h 6858000"/>
              <a:gd name="connsiteX260" fmla="*/ 11431650 w 12192000"/>
              <a:gd name="connsiteY260" fmla="*/ 4016245 h 6858000"/>
              <a:gd name="connsiteX261" fmla="*/ 11414094 w 12192000"/>
              <a:gd name="connsiteY261" fmla="*/ 3979961 h 6858000"/>
              <a:gd name="connsiteX262" fmla="*/ 11394196 w 12192000"/>
              <a:gd name="connsiteY262" fmla="*/ 3946017 h 6858000"/>
              <a:gd name="connsiteX263" fmla="*/ 11373128 w 12192000"/>
              <a:gd name="connsiteY263" fmla="*/ 3910903 h 6858000"/>
              <a:gd name="connsiteX264" fmla="*/ 11354400 w 12192000"/>
              <a:gd name="connsiteY264" fmla="*/ 3875790 h 6858000"/>
              <a:gd name="connsiteX265" fmla="*/ 11335673 w 12192000"/>
              <a:gd name="connsiteY265" fmla="*/ 3840676 h 6858000"/>
              <a:gd name="connsiteX266" fmla="*/ 11321628 w 12192000"/>
              <a:gd name="connsiteY266" fmla="*/ 3806733 h 6858000"/>
              <a:gd name="connsiteX267" fmla="*/ 11312264 w 12192000"/>
              <a:gd name="connsiteY267" fmla="*/ 3770449 h 6858000"/>
              <a:gd name="connsiteX268" fmla="*/ 11307582 w 12192000"/>
              <a:gd name="connsiteY268" fmla="*/ 3734164 h 6858000"/>
              <a:gd name="connsiteX269" fmla="*/ 11307582 w 12192000"/>
              <a:gd name="connsiteY269" fmla="*/ 3695539 h 6858000"/>
              <a:gd name="connsiteX270" fmla="*/ 11309923 w 12192000"/>
              <a:gd name="connsiteY270" fmla="*/ 3655744 h 6858000"/>
              <a:gd name="connsiteX271" fmla="*/ 11314605 w 12192000"/>
              <a:gd name="connsiteY271" fmla="*/ 3615948 h 6858000"/>
              <a:gd name="connsiteX272" fmla="*/ 11320457 w 12192000"/>
              <a:gd name="connsiteY272" fmla="*/ 3576152 h 6858000"/>
              <a:gd name="connsiteX273" fmla="*/ 11325139 w 12192000"/>
              <a:gd name="connsiteY273" fmla="*/ 3536357 h 6858000"/>
              <a:gd name="connsiteX274" fmla="*/ 11328650 w 12192000"/>
              <a:gd name="connsiteY274" fmla="*/ 3496561 h 6858000"/>
              <a:gd name="connsiteX275" fmla="*/ 11327480 w 12192000"/>
              <a:gd name="connsiteY275" fmla="*/ 3459107 h 6858000"/>
              <a:gd name="connsiteX276" fmla="*/ 11322798 w 12192000"/>
              <a:gd name="connsiteY276" fmla="*/ 3422822 h 6858000"/>
              <a:gd name="connsiteX277" fmla="*/ 11312264 w 12192000"/>
              <a:gd name="connsiteY277" fmla="*/ 3387709 h 6858000"/>
              <a:gd name="connsiteX278" fmla="*/ 11297048 w 12192000"/>
              <a:gd name="connsiteY278" fmla="*/ 3358447 h 6858000"/>
              <a:gd name="connsiteX279" fmla="*/ 11277150 w 12192000"/>
              <a:gd name="connsiteY279" fmla="*/ 3330356 h 6858000"/>
              <a:gd name="connsiteX280" fmla="*/ 11253741 w 12192000"/>
              <a:gd name="connsiteY280" fmla="*/ 3305777 h 6858000"/>
              <a:gd name="connsiteX281" fmla="*/ 11226820 w 12192000"/>
              <a:gd name="connsiteY281" fmla="*/ 3281197 h 6858000"/>
              <a:gd name="connsiteX282" fmla="*/ 11198729 w 12192000"/>
              <a:gd name="connsiteY282" fmla="*/ 3258958 h 6858000"/>
              <a:gd name="connsiteX283" fmla="*/ 11169468 w 12192000"/>
              <a:gd name="connsiteY283" fmla="*/ 3236720 h 6858000"/>
              <a:gd name="connsiteX284" fmla="*/ 11139036 w 12192000"/>
              <a:gd name="connsiteY284" fmla="*/ 3214481 h 6858000"/>
              <a:gd name="connsiteX285" fmla="*/ 11110945 w 12192000"/>
              <a:gd name="connsiteY285" fmla="*/ 3192242 h 6858000"/>
              <a:gd name="connsiteX286" fmla="*/ 11084024 w 12192000"/>
              <a:gd name="connsiteY286" fmla="*/ 3168833 h 6858000"/>
              <a:gd name="connsiteX287" fmla="*/ 11060615 w 12192000"/>
              <a:gd name="connsiteY287" fmla="*/ 3141913 h 6858000"/>
              <a:gd name="connsiteX288" fmla="*/ 11039547 w 12192000"/>
              <a:gd name="connsiteY288" fmla="*/ 3116162 h 6858000"/>
              <a:gd name="connsiteX289" fmla="*/ 11023160 w 12192000"/>
              <a:gd name="connsiteY289" fmla="*/ 3086901 h 6858000"/>
              <a:gd name="connsiteX290" fmla="*/ 11009115 w 12192000"/>
              <a:gd name="connsiteY290" fmla="*/ 3055299 h 6858000"/>
              <a:gd name="connsiteX291" fmla="*/ 10997410 w 12192000"/>
              <a:gd name="connsiteY291" fmla="*/ 3021355 h 6858000"/>
              <a:gd name="connsiteX292" fmla="*/ 10986876 w 12192000"/>
              <a:gd name="connsiteY292" fmla="*/ 2986242 h 6858000"/>
              <a:gd name="connsiteX293" fmla="*/ 10977513 w 12192000"/>
              <a:gd name="connsiteY293" fmla="*/ 2951128 h 6858000"/>
              <a:gd name="connsiteX294" fmla="*/ 10968149 w 12192000"/>
              <a:gd name="connsiteY294" fmla="*/ 2914844 h 6858000"/>
              <a:gd name="connsiteX295" fmla="*/ 10957615 w 12192000"/>
              <a:gd name="connsiteY295" fmla="*/ 2880900 h 6858000"/>
              <a:gd name="connsiteX296" fmla="*/ 10945910 w 12192000"/>
              <a:gd name="connsiteY296" fmla="*/ 2846957 h 6858000"/>
              <a:gd name="connsiteX297" fmla="*/ 10931865 w 12192000"/>
              <a:gd name="connsiteY297" fmla="*/ 2815355 h 6858000"/>
              <a:gd name="connsiteX298" fmla="*/ 10914308 w 12192000"/>
              <a:gd name="connsiteY298" fmla="*/ 2787264 h 6858000"/>
              <a:gd name="connsiteX299" fmla="*/ 10893240 w 12192000"/>
              <a:gd name="connsiteY299" fmla="*/ 2761514 h 6858000"/>
              <a:gd name="connsiteX300" fmla="*/ 10867490 w 12192000"/>
              <a:gd name="connsiteY300" fmla="*/ 2740445 h 6858000"/>
              <a:gd name="connsiteX301" fmla="*/ 10839399 w 12192000"/>
              <a:gd name="connsiteY301" fmla="*/ 2722888 h 6858000"/>
              <a:gd name="connsiteX302" fmla="*/ 10807796 w 12192000"/>
              <a:gd name="connsiteY302" fmla="*/ 2708843 h 6858000"/>
              <a:gd name="connsiteX303" fmla="*/ 10773853 w 12192000"/>
              <a:gd name="connsiteY303" fmla="*/ 2697138 h 6858000"/>
              <a:gd name="connsiteX304" fmla="*/ 10739910 w 12192000"/>
              <a:gd name="connsiteY304" fmla="*/ 2686604 h 6858000"/>
              <a:gd name="connsiteX305" fmla="*/ 10703626 w 12192000"/>
              <a:gd name="connsiteY305" fmla="*/ 2677241 h 6858000"/>
              <a:gd name="connsiteX306" fmla="*/ 10668512 w 12192000"/>
              <a:gd name="connsiteY306" fmla="*/ 2667877 h 6858000"/>
              <a:gd name="connsiteX307" fmla="*/ 10633398 w 12192000"/>
              <a:gd name="connsiteY307" fmla="*/ 2657343 h 6858000"/>
              <a:gd name="connsiteX308" fmla="*/ 10599455 w 12192000"/>
              <a:gd name="connsiteY308" fmla="*/ 2645638 h 6858000"/>
              <a:gd name="connsiteX309" fmla="*/ 10567852 w 12192000"/>
              <a:gd name="connsiteY309" fmla="*/ 2631593 h 6858000"/>
              <a:gd name="connsiteX310" fmla="*/ 10538591 w 12192000"/>
              <a:gd name="connsiteY310" fmla="*/ 2615206 h 6858000"/>
              <a:gd name="connsiteX311" fmla="*/ 10512841 w 12192000"/>
              <a:gd name="connsiteY311" fmla="*/ 2594138 h 6858000"/>
              <a:gd name="connsiteX312" fmla="*/ 10485920 w 12192000"/>
              <a:gd name="connsiteY312" fmla="*/ 2570729 h 6858000"/>
              <a:gd name="connsiteX313" fmla="*/ 10462511 w 12192000"/>
              <a:gd name="connsiteY313" fmla="*/ 2543808 h 6858000"/>
              <a:gd name="connsiteX314" fmla="*/ 10440272 w 12192000"/>
              <a:gd name="connsiteY314" fmla="*/ 2515717 h 6858000"/>
              <a:gd name="connsiteX315" fmla="*/ 10418034 w 12192000"/>
              <a:gd name="connsiteY315" fmla="*/ 2486456 h 6858000"/>
              <a:gd name="connsiteX316" fmla="*/ 10395795 w 12192000"/>
              <a:gd name="connsiteY316" fmla="*/ 2457194 h 6858000"/>
              <a:gd name="connsiteX317" fmla="*/ 10373556 w 12192000"/>
              <a:gd name="connsiteY317" fmla="*/ 2429103 h 6858000"/>
              <a:gd name="connsiteX318" fmla="*/ 10348977 w 12192000"/>
              <a:gd name="connsiteY318" fmla="*/ 2402183 h 6858000"/>
              <a:gd name="connsiteX319" fmla="*/ 10324397 w 12192000"/>
              <a:gd name="connsiteY319" fmla="*/ 2378774 h 6858000"/>
              <a:gd name="connsiteX320" fmla="*/ 10296306 w 12192000"/>
              <a:gd name="connsiteY320" fmla="*/ 2358876 h 6858000"/>
              <a:gd name="connsiteX321" fmla="*/ 10267044 w 12192000"/>
              <a:gd name="connsiteY321" fmla="*/ 2343660 h 6858000"/>
              <a:gd name="connsiteX322" fmla="*/ 10231931 w 12192000"/>
              <a:gd name="connsiteY322" fmla="*/ 2333126 h 6858000"/>
              <a:gd name="connsiteX323" fmla="*/ 10195647 w 12192000"/>
              <a:gd name="connsiteY323" fmla="*/ 2328444 h 6858000"/>
              <a:gd name="connsiteX324" fmla="*/ 10158192 w 12192000"/>
              <a:gd name="connsiteY324" fmla="*/ 2327274 h 6858000"/>
              <a:gd name="connsiteX325" fmla="*/ 10118396 w 12192000"/>
              <a:gd name="connsiteY325" fmla="*/ 2330785 h 6858000"/>
              <a:gd name="connsiteX326" fmla="*/ 10078601 w 12192000"/>
              <a:gd name="connsiteY326" fmla="*/ 2335467 h 6858000"/>
              <a:gd name="connsiteX327" fmla="*/ 10038805 w 12192000"/>
              <a:gd name="connsiteY327" fmla="*/ 2341319 h 6858000"/>
              <a:gd name="connsiteX328" fmla="*/ 9999010 w 12192000"/>
              <a:gd name="connsiteY328" fmla="*/ 2346001 h 6858000"/>
              <a:gd name="connsiteX329" fmla="*/ 9959214 w 12192000"/>
              <a:gd name="connsiteY329" fmla="*/ 2348342 h 6858000"/>
              <a:gd name="connsiteX330" fmla="*/ 9920589 w 12192000"/>
              <a:gd name="connsiteY330" fmla="*/ 2348342 h 6858000"/>
              <a:gd name="connsiteX331" fmla="*/ 9884305 w 12192000"/>
              <a:gd name="connsiteY331" fmla="*/ 2343660 h 6858000"/>
              <a:gd name="connsiteX332" fmla="*/ 9846850 w 12192000"/>
              <a:gd name="connsiteY332" fmla="*/ 2334296 h 6858000"/>
              <a:gd name="connsiteX333" fmla="*/ 9812907 w 12192000"/>
              <a:gd name="connsiteY333" fmla="*/ 2320251 h 6858000"/>
              <a:gd name="connsiteX334" fmla="*/ 9777793 w 12192000"/>
              <a:gd name="connsiteY334" fmla="*/ 2301524 h 6858000"/>
              <a:gd name="connsiteX335" fmla="*/ 9742679 w 12192000"/>
              <a:gd name="connsiteY335" fmla="*/ 2282796 h 6858000"/>
              <a:gd name="connsiteX336" fmla="*/ 9707566 w 12192000"/>
              <a:gd name="connsiteY336" fmla="*/ 2261728 h 6858000"/>
              <a:gd name="connsiteX337" fmla="*/ 9673622 w 12192000"/>
              <a:gd name="connsiteY337" fmla="*/ 2241830 h 6858000"/>
              <a:gd name="connsiteX338" fmla="*/ 9637338 w 12192000"/>
              <a:gd name="connsiteY338" fmla="*/ 2224273 h 6858000"/>
              <a:gd name="connsiteX339" fmla="*/ 9602224 w 12192000"/>
              <a:gd name="connsiteY339" fmla="*/ 2210228 h 6858000"/>
              <a:gd name="connsiteX340" fmla="*/ 9565940 w 12192000"/>
              <a:gd name="connsiteY340" fmla="*/ 2200864 h 6858000"/>
              <a:gd name="connsiteX341" fmla="*/ 9528486 w 12192000"/>
              <a:gd name="connsiteY341" fmla="*/ 21973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12192000" h="6858000">
                <a:moveTo>
                  <a:pt x="0" y="0"/>
                </a:moveTo>
                <a:lnTo>
                  <a:pt x="12192000" y="0"/>
                </a:lnTo>
                <a:lnTo>
                  <a:pt x="12192000" y="6858000"/>
                </a:lnTo>
                <a:lnTo>
                  <a:pt x="0" y="6858000"/>
                </a:lnTo>
                <a:lnTo>
                  <a:pt x="0" y="0"/>
                </a:lnTo>
                <a:close/>
                <a:moveTo>
                  <a:pt x="9528486" y="2197353"/>
                </a:moveTo>
                <a:lnTo>
                  <a:pt x="9491031" y="2200864"/>
                </a:lnTo>
                <a:lnTo>
                  <a:pt x="9454747" y="2210228"/>
                </a:lnTo>
                <a:lnTo>
                  <a:pt x="9419633" y="2224273"/>
                </a:lnTo>
                <a:lnTo>
                  <a:pt x="9383349" y="2241830"/>
                </a:lnTo>
                <a:lnTo>
                  <a:pt x="9349405" y="2261728"/>
                </a:lnTo>
                <a:lnTo>
                  <a:pt x="9314292" y="2282796"/>
                </a:lnTo>
                <a:lnTo>
                  <a:pt x="9279178" y="2301524"/>
                </a:lnTo>
                <a:lnTo>
                  <a:pt x="9244064" y="2320251"/>
                </a:lnTo>
                <a:lnTo>
                  <a:pt x="9208950" y="2334296"/>
                </a:lnTo>
                <a:lnTo>
                  <a:pt x="9172666" y="2343660"/>
                </a:lnTo>
                <a:lnTo>
                  <a:pt x="9136382" y="2348342"/>
                </a:lnTo>
                <a:lnTo>
                  <a:pt x="9097757" y="2348342"/>
                </a:lnTo>
                <a:lnTo>
                  <a:pt x="9057961" y="2346001"/>
                </a:lnTo>
                <a:lnTo>
                  <a:pt x="9018166" y="2341319"/>
                </a:lnTo>
                <a:lnTo>
                  <a:pt x="8978370" y="2335467"/>
                </a:lnTo>
                <a:lnTo>
                  <a:pt x="8938575" y="2330785"/>
                </a:lnTo>
                <a:lnTo>
                  <a:pt x="8898779" y="2327274"/>
                </a:lnTo>
                <a:lnTo>
                  <a:pt x="8861324" y="2328444"/>
                </a:lnTo>
                <a:lnTo>
                  <a:pt x="8825040" y="2333126"/>
                </a:lnTo>
                <a:lnTo>
                  <a:pt x="8789926" y="2343660"/>
                </a:lnTo>
                <a:lnTo>
                  <a:pt x="8760665" y="2358876"/>
                </a:lnTo>
                <a:lnTo>
                  <a:pt x="8732574" y="2378774"/>
                </a:lnTo>
                <a:lnTo>
                  <a:pt x="8707994" y="2402183"/>
                </a:lnTo>
                <a:lnTo>
                  <a:pt x="8683415" y="2429103"/>
                </a:lnTo>
                <a:lnTo>
                  <a:pt x="8661176" y="2457194"/>
                </a:lnTo>
                <a:lnTo>
                  <a:pt x="8638937" y="2486456"/>
                </a:lnTo>
                <a:lnTo>
                  <a:pt x="8616699" y="2515717"/>
                </a:lnTo>
                <a:lnTo>
                  <a:pt x="8594460" y="2543808"/>
                </a:lnTo>
                <a:lnTo>
                  <a:pt x="8571051" y="2570729"/>
                </a:lnTo>
                <a:lnTo>
                  <a:pt x="8544130" y="2594138"/>
                </a:lnTo>
                <a:lnTo>
                  <a:pt x="8518380" y="2615206"/>
                </a:lnTo>
                <a:lnTo>
                  <a:pt x="8489119" y="2631593"/>
                </a:lnTo>
                <a:lnTo>
                  <a:pt x="8457516" y="2645638"/>
                </a:lnTo>
                <a:lnTo>
                  <a:pt x="8423573" y="2657343"/>
                </a:lnTo>
                <a:lnTo>
                  <a:pt x="8388459" y="2667877"/>
                </a:lnTo>
                <a:lnTo>
                  <a:pt x="8353346" y="2677241"/>
                </a:lnTo>
                <a:lnTo>
                  <a:pt x="8317062" y="2686604"/>
                </a:lnTo>
                <a:lnTo>
                  <a:pt x="8283118" y="2697138"/>
                </a:lnTo>
                <a:lnTo>
                  <a:pt x="8249175" y="2708843"/>
                </a:lnTo>
                <a:lnTo>
                  <a:pt x="8217573" y="2722888"/>
                </a:lnTo>
                <a:lnTo>
                  <a:pt x="8189482" y="2740445"/>
                </a:lnTo>
                <a:lnTo>
                  <a:pt x="8163732" y="2761514"/>
                </a:lnTo>
                <a:lnTo>
                  <a:pt x="8142663" y="2787264"/>
                </a:lnTo>
                <a:lnTo>
                  <a:pt x="8125106" y="2815355"/>
                </a:lnTo>
                <a:lnTo>
                  <a:pt x="8111061" y="2846957"/>
                </a:lnTo>
                <a:lnTo>
                  <a:pt x="8099356" y="2880900"/>
                </a:lnTo>
                <a:lnTo>
                  <a:pt x="8088822" y="2914844"/>
                </a:lnTo>
                <a:lnTo>
                  <a:pt x="8079459" y="2951128"/>
                </a:lnTo>
                <a:lnTo>
                  <a:pt x="8070095" y="2986242"/>
                </a:lnTo>
                <a:lnTo>
                  <a:pt x="8059561" y="3021355"/>
                </a:lnTo>
                <a:lnTo>
                  <a:pt x="8047856" y="3055299"/>
                </a:lnTo>
                <a:lnTo>
                  <a:pt x="8033811" y="3086901"/>
                </a:lnTo>
                <a:lnTo>
                  <a:pt x="8017424" y="3116162"/>
                </a:lnTo>
                <a:lnTo>
                  <a:pt x="7996356" y="3141913"/>
                </a:lnTo>
                <a:lnTo>
                  <a:pt x="7972947" y="3168833"/>
                </a:lnTo>
                <a:lnTo>
                  <a:pt x="7946026" y="3192242"/>
                </a:lnTo>
                <a:lnTo>
                  <a:pt x="7916765" y="3214481"/>
                </a:lnTo>
                <a:lnTo>
                  <a:pt x="7887503" y="3236720"/>
                </a:lnTo>
                <a:lnTo>
                  <a:pt x="7858242" y="3258958"/>
                </a:lnTo>
                <a:lnTo>
                  <a:pt x="7830151" y="3281197"/>
                </a:lnTo>
                <a:lnTo>
                  <a:pt x="7803230" y="3305777"/>
                </a:lnTo>
                <a:lnTo>
                  <a:pt x="7779821" y="3330356"/>
                </a:lnTo>
                <a:lnTo>
                  <a:pt x="7759923" y="3358447"/>
                </a:lnTo>
                <a:lnTo>
                  <a:pt x="7744708" y="3387709"/>
                </a:lnTo>
                <a:lnTo>
                  <a:pt x="7734173" y="3422822"/>
                </a:lnTo>
                <a:lnTo>
                  <a:pt x="7729492" y="3459107"/>
                </a:lnTo>
                <a:lnTo>
                  <a:pt x="7728321" y="3496561"/>
                </a:lnTo>
                <a:lnTo>
                  <a:pt x="7731832" y="3536357"/>
                </a:lnTo>
                <a:lnTo>
                  <a:pt x="7736514" y="3576152"/>
                </a:lnTo>
                <a:lnTo>
                  <a:pt x="7742367" y="3615948"/>
                </a:lnTo>
                <a:lnTo>
                  <a:pt x="7747048" y="3655744"/>
                </a:lnTo>
                <a:lnTo>
                  <a:pt x="7749389" y="3695539"/>
                </a:lnTo>
                <a:lnTo>
                  <a:pt x="7749389" y="3734164"/>
                </a:lnTo>
                <a:lnTo>
                  <a:pt x="7744708" y="3770449"/>
                </a:lnTo>
                <a:lnTo>
                  <a:pt x="7735344" y="3806733"/>
                </a:lnTo>
                <a:lnTo>
                  <a:pt x="7721298" y="3840676"/>
                </a:lnTo>
                <a:lnTo>
                  <a:pt x="7703741" y="3875790"/>
                </a:lnTo>
                <a:lnTo>
                  <a:pt x="7683844" y="3910903"/>
                </a:lnTo>
                <a:lnTo>
                  <a:pt x="7662775" y="3946017"/>
                </a:lnTo>
                <a:lnTo>
                  <a:pt x="7642878" y="3979961"/>
                </a:lnTo>
                <a:lnTo>
                  <a:pt x="7625321" y="4016245"/>
                </a:lnTo>
                <a:lnTo>
                  <a:pt x="7611275" y="4051358"/>
                </a:lnTo>
                <a:lnTo>
                  <a:pt x="7601912" y="4087643"/>
                </a:lnTo>
                <a:lnTo>
                  <a:pt x="7598400" y="4125097"/>
                </a:lnTo>
                <a:lnTo>
                  <a:pt x="7601912" y="4162552"/>
                </a:lnTo>
                <a:lnTo>
                  <a:pt x="7611275" y="4198836"/>
                </a:lnTo>
                <a:lnTo>
                  <a:pt x="7625321" y="4233950"/>
                </a:lnTo>
                <a:lnTo>
                  <a:pt x="7642878" y="4270234"/>
                </a:lnTo>
                <a:lnTo>
                  <a:pt x="7662775" y="4304177"/>
                </a:lnTo>
                <a:lnTo>
                  <a:pt x="7683844" y="4339291"/>
                </a:lnTo>
                <a:lnTo>
                  <a:pt x="7703741" y="4374405"/>
                </a:lnTo>
                <a:lnTo>
                  <a:pt x="7721298" y="4409519"/>
                </a:lnTo>
                <a:lnTo>
                  <a:pt x="7735344" y="4443462"/>
                </a:lnTo>
                <a:lnTo>
                  <a:pt x="7744708" y="4479746"/>
                </a:lnTo>
                <a:lnTo>
                  <a:pt x="7749389" y="4516030"/>
                </a:lnTo>
                <a:lnTo>
                  <a:pt x="7749389" y="4554655"/>
                </a:lnTo>
                <a:lnTo>
                  <a:pt x="7747048" y="4594451"/>
                </a:lnTo>
                <a:lnTo>
                  <a:pt x="7742367" y="4634247"/>
                </a:lnTo>
                <a:lnTo>
                  <a:pt x="7736514" y="4674042"/>
                </a:lnTo>
                <a:lnTo>
                  <a:pt x="7731832" y="4713838"/>
                </a:lnTo>
                <a:lnTo>
                  <a:pt x="7728321" y="4753633"/>
                </a:lnTo>
                <a:lnTo>
                  <a:pt x="7729492" y="4791088"/>
                </a:lnTo>
                <a:lnTo>
                  <a:pt x="7734173" y="4827372"/>
                </a:lnTo>
                <a:lnTo>
                  <a:pt x="7744708" y="4862486"/>
                </a:lnTo>
                <a:lnTo>
                  <a:pt x="7759923" y="4891747"/>
                </a:lnTo>
                <a:lnTo>
                  <a:pt x="7779821" y="4919838"/>
                </a:lnTo>
                <a:lnTo>
                  <a:pt x="7803230" y="4944418"/>
                </a:lnTo>
                <a:lnTo>
                  <a:pt x="7830151" y="4968998"/>
                </a:lnTo>
                <a:lnTo>
                  <a:pt x="7858242" y="4991236"/>
                </a:lnTo>
                <a:lnTo>
                  <a:pt x="7887503" y="5013475"/>
                </a:lnTo>
                <a:lnTo>
                  <a:pt x="7916765" y="5035714"/>
                </a:lnTo>
                <a:lnTo>
                  <a:pt x="7946026" y="5057952"/>
                </a:lnTo>
                <a:lnTo>
                  <a:pt x="7972947" y="5081362"/>
                </a:lnTo>
                <a:lnTo>
                  <a:pt x="7996356" y="5108282"/>
                </a:lnTo>
                <a:lnTo>
                  <a:pt x="8017424" y="5134032"/>
                </a:lnTo>
                <a:lnTo>
                  <a:pt x="8033811" y="5163294"/>
                </a:lnTo>
                <a:lnTo>
                  <a:pt x="8047856" y="5194896"/>
                </a:lnTo>
                <a:lnTo>
                  <a:pt x="8059561" y="5228839"/>
                </a:lnTo>
                <a:lnTo>
                  <a:pt x="8070095" y="5263953"/>
                </a:lnTo>
                <a:lnTo>
                  <a:pt x="8079459" y="5299067"/>
                </a:lnTo>
                <a:lnTo>
                  <a:pt x="8088822" y="5335351"/>
                </a:lnTo>
                <a:lnTo>
                  <a:pt x="8099356" y="5369294"/>
                </a:lnTo>
                <a:lnTo>
                  <a:pt x="8111061" y="5403238"/>
                </a:lnTo>
                <a:lnTo>
                  <a:pt x="8125106" y="5434840"/>
                </a:lnTo>
                <a:lnTo>
                  <a:pt x="8142663" y="5462931"/>
                </a:lnTo>
                <a:lnTo>
                  <a:pt x="8163732" y="5488681"/>
                </a:lnTo>
                <a:lnTo>
                  <a:pt x="8189482" y="5509749"/>
                </a:lnTo>
                <a:lnTo>
                  <a:pt x="8217573" y="5527306"/>
                </a:lnTo>
                <a:lnTo>
                  <a:pt x="8249175" y="5541352"/>
                </a:lnTo>
                <a:lnTo>
                  <a:pt x="8283118" y="5553056"/>
                </a:lnTo>
                <a:lnTo>
                  <a:pt x="8317062" y="5563590"/>
                </a:lnTo>
                <a:lnTo>
                  <a:pt x="8353346" y="5572954"/>
                </a:lnTo>
                <a:lnTo>
                  <a:pt x="8388459" y="5582318"/>
                </a:lnTo>
                <a:lnTo>
                  <a:pt x="8423573" y="5592852"/>
                </a:lnTo>
                <a:lnTo>
                  <a:pt x="8457516" y="5604556"/>
                </a:lnTo>
                <a:lnTo>
                  <a:pt x="8489119" y="5618602"/>
                </a:lnTo>
                <a:lnTo>
                  <a:pt x="8518380" y="5634988"/>
                </a:lnTo>
                <a:lnTo>
                  <a:pt x="8544130" y="5656057"/>
                </a:lnTo>
                <a:lnTo>
                  <a:pt x="8571051" y="5679466"/>
                </a:lnTo>
                <a:lnTo>
                  <a:pt x="8594460" y="5706386"/>
                </a:lnTo>
                <a:lnTo>
                  <a:pt x="8616699" y="5734477"/>
                </a:lnTo>
                <a:lnTo>
                  <a:pt x="8638937" y="5763739"/>
                </a:lnTo>
                <a:lnTo>
                  <a:pt x="8661176" y="5793000"/>
                </a:lnTo>
                <a:lnTo>
                  <a:pt x="8683415" y="5821091"/>
                </a:lnTo>
                <a:lnTo>
                  <a:pt x="8707994" y="5848012"/>
                </a:lnTo>
                <a:lnTo>
                  <a:pt x="8732574" y="5871421"/>
                </a:lnTo>
                <a:lnTo>
                  <a:pt x="8760665" y="5891319"/>
                </a:lnTo>
                <a:lnTo>
                  <a:pt x="8789926" y="5906535"/>
                </a:lnTo>
                <a:lnTo>
                  <a:pt x="8825040" y="5917069"/>
                </a:lnTo>
                <a:lnTo>
                  <a:pt x="8861324" y="5921751"/>
                </a:lnTo>
                <a:lnTo>
                  <a:pt x="8898779" y="5922921"/>
                </a:lnTo>
                <a:lnTo>
                  <a:pt x="8938575" y="5919410"/>
                </a:lnTo>
                <a:lnTo>
                  <a:pt x="8978370" y="5914728"/>
                </a:lnTo>
                <a:lnTo>
                  <a:pt x="9018166" y="5908876"/>
                </a:lnTo>
                <a:lnTo>
                  <a:pt x="9057961" y="5904194"/>
                </a:lnTo>
                <a:lnTo>
                  <a:pt x="9097757" y="5901853"/>
                </a:lnTo>
                <a:lnTo>
                  <a:pt x="9136382" y="5901853"/>
                </a:lnTo>
                <a:lnTo>
                  <a:pt x="9172666" y="5906535"/>
                </a:lnTo>
                <a:lnTo>
                  <a:pt x="9208950" y="5915898"/>
                </a:lnTo>
                <a:lnTo>
                  <a:pt x="9244064" y="5929944"/>
                </a:lnTo>
                <a:lnTo>
                  <a:pt x="9279178" y="5948671"/>
                </a:lnTo>
                <a:lnTo>
                  <a:pt x="9314292" y="5967398"/>
                </a:lnTo>
                <a:lnTo>
                  <a:pt x="9349405" y="5988467"/>
                </a:lnTo>
                <a:lnTo>
                  <a:pt x="9383349" y="6008364"/>
                </a:lnTo>
                <a:lnTo>
                  <a:pt x="9419633" y="6025921"/>
                </a:lnTo>
                <a:lnTo>
                  <a:pt x="9454747" y="6039967"/>
                </a:lnTo>
                <a:lnTo>
                  <a:pt x="9491031" y="6049331"/>
                </a:lnTo>
                <a:lnTo>
                  <a:pt x="9528486" y="6052842"/>
                </a:lnTo>
                <a:lnTo>
                  <a:pt x="9565940" y="6049331"/>
                </a:lnTo>
                <a:lnTo>
                  <a:pt x="9602224" y="6039967"/>
                </a:lnTo>
                <a:lnTo>
                  <a:pt x="9637338" y="6025921"/>
                </a:lnTo>
                <a:lnTo>
                  <a:pt x="9673622" y="6008364"/>
                </a:lnTo>
                <a:lnTo>
                  <a:pt x="9707566" y="5988467"/>
                </a:lnTo>
                <a:lnTo>
                  <a:pt x="9742679" y="5967398"/>
                </a:lnTo>
                <a:lnTo>
                  <a:pt x="9777793" y="5948671"/>
                </a:lnTo>
                <a:lnTo>
                  <a:pt x="9812907" y="5929944"/>
                </a:lnTo>
                <a:lnTo>
                  <a:pt x="9846850" y="5915898"/>
                </a:lnTo>
                <a:lnTo>
                  <a:pt x="9884305" y="5906535"/>
                </a:lnTo>
                <a:lnTo>
                  <a:pt x="9920589" y="5901853"/>
                </a:lnTo>
                <a:lnTo>
                  <a:pt x="9959214" y="5901853"/>
                </a:lnTo>
                <a:lnTo>
                  <a:pt x="9999010" y="5904194"/>
                </a:lnTo>
                <a:lnTo>
                  <a:pt x="10038805" y="5908876"/>
                </a:lnTo>
                <a:lnTo>
                  <a:pt x="10078601" y="5914728"/>
                </a:lnTo>
                <a:lnTo>
                  <a:pt x="10118396" y="5919410"/>
                </a:lnTo>
                <a:lnTo>
                  <a:pt x="10158192" y="5922921"/>
                </a:lnTo>
                <a:lnTo>
                  <a:pt x="10195647" y="5921751"/>
                </a:lnTo>
                <a:lnTo>
                  <a:pt x="10231931" y="5917069"/>
                </a:lnTo>
                <a:lnTo>
                  <a:pt x="10267044" y="5906535"/>
                </a:lnTo>
                <a:lnTo>
                  <a:pt x="10296306" y="5891319"/>
                </a:lnTo>
                <a:lnTo>
                  <a:pt x="10324397" y="5871421"/>
                </a:lnTo>
                <a:lnTo>
                  <a:pt x="10348977" y="5848012"/>
                </a:lnTo>
                <a:lnTo>
                  <a:pt x="10373556" y="5821091"/>
                </a:lnTo>
                <a:lnTo>
                  <a:pt x="10395795" y="5793000"/>
                </a:lnTo>
                <a:lnTo>
                  <a:pt x="10418034" y="5763739"/>
                </a:lnTo>
                <a:lnTo>
                  <a:pt x="10440272" y="5734477"/>
                </a:lnTo>
                <a:lnTo>
                  <a:pt x="10462511" y="5706386"/>
                </a:lnTo>
                <a:lnTo>
                  <a:pt x="10485920" y="5679466"/>
                </a:lnTo>
                <a:lnTo>
                  <a:pt x="10512841" y="5656057"/>
                </a:lnTo>
                <a:lnTo>
                  <a:pt x="10538591" y="5634988"/>
                </a:lnTo>
                <a:lnTo>
                  <a:pt x="10567852" y="5618602"/>
                </a:lnTo>
                <a:lnTo>
                  <a:pt x="10599455" y="5604556"/>
                </a:lnTo>
                <a:lnTo>
                  <a:pt x="10633398" y="5592852"/>
                </a:lnTo>
                <a:lnTo>
                  <a:pt x="10668512" y="5582318"/>
                </a:lnTo>
                <a:lnTo>
                  <a:pt x="10703626" y="5572954"/>
                </a:lnTo>
                <a:lnTo>
                  <a:pt x="10739910" y="5563590"/>
                </a:lnTo>
                <a:lnTo>
                  <a:pt x="10773853" y="5553056"/>
                </a:lnTo>
                <a:lnTo>
                  <a:pt x="10807796" y="5541352"/>
                </a:lnTo>
                <a:lnTo>
                  <a:pt x="10839399" y="5527306"/>
                </a:lnTo>
                <a:lnTo>
                  <a:pt x="10867490" y="5509749"/>
                </a:lnTo>
                <a:lnTo>
                  <a:pt x="10893240" y="5488681"/>
                </a:lnTo>
                <a:lnTo>
                  <a:pt x="10914308" y="5462931"/>
                </a:lnTo>
                <a:lnTo>
                  <a:pt x="10931865" y="5434840"/>
                </a:lnTo>
                <a:lnTo>
                  <a:pt x="10945910" y="5403238"/>
                </a:lnTo>
                <a:lnTo>
                  <a:pt x="10957615" y="5369294"/>
                </a:lnTo>
                <a:lnTo>
                  <a:pt x="10968149" y="5335351"/>
                </a:lnTo>
                <a:lnTo>
                  <a:pt x="10977513" y="5299067"/>
                </a:lnTo>
                <a:lnTo>
                  <a:pt x="10986876" y="5263953"/>
                </a:lnTo>
                <a:lnTo>
                  <a:pt x="10997410" y="5228839"/>
                </a:lnTo>
                <a:lnTo>
                  <a:pt x="11009115" y="5194896"/>
                </a:lnTo>
                <a:lnTo>
                  <a:pt x="11023160" y="5163294"/>
                </a:lnTo>
                <a:lnTo>
                  <a:pt x="11039547" y="5134032"/>
                </a:lnTo>
                <a:lnTo>
                  <a:pt x="11060615" y="5108282"/>
                </a:lnTo>
                <a:lnTo>
                  <a:pt x="11084024" y="5081362"/>
                </a:lnTo>
                <a:lnTo>
                  <a:pt x="11110945" y="5057952"/>
                </a:lnTo>
                <a:lnTo>
                  <a:pt x="11139036" y="5035714"/>
                </a:lnTo>
                <a:lnTo>
                  <a:pt x="11169468" y="5013475"/>
                </a:lnTo>
                <a:lnTo>
                  <a:pt x="11198729" y="4991236"/>
                </a:lnTo>
                <a:lnTo>
                  <a:pt x="11226820" y="4968998"/>
                </a:lnTo>
                <a:lnTo>
                  <a:pt x="11253741" y="4944418"/>
                </a:lnTo>
                <a:lnTo>
                  <a:pt x="11277150" y="4919838"/>
                </a:lnTo>
                <a:lnTo>
                  <a:pt x="11297048" y="4891747"/>
                </a:lnTo>
                <a:lnTo>
                  <a:pt x="11312264" y="4862486"/>
                </a:lnTo>
                <a:lnTo>
                  <a:pt x="11322798" y="4827372"/>
                </a:lnTo>
                <a:lnTo>
                  <a:pt x="11327480" y="4791088"/>
                </a:lnTo>
                <a:lnTo>
                  <a:pt x="11328650" y="4753633"/>
                </a:lnTo>
                <a:lnTo>
                  <a:pt x="11325139" y="4713838"/>
                </a:lnTo>
                <a:lnTo>
                  <a:pt x="11320457" y="4674042"/>
                </a:lnTo>
                <a:lnTo>
                  <a:pt x="11314605" y="4634247"/>
                </a:lnTo>
                <a:lnTo>
                  <a:pt x="11309923" y="4594451"/>
                </a:lnTo>
                <a:lnTo>
                  <a:pt x="11307582" y="4554655"/>
                </a:lnTo>
                <a:lnTo>
                  <a:pt x="11307582" y="4516030"/>
                </a:lnTo>
                <a:lnTo>
                  <a:pt x="11312264" y="4479746"/>
                </a:lnTo>
                <a:lnTo>
                  <a:pt x="11321628" y="4443462"/>
                </a:lnTo>
                <a:lnTo>
                  <a:pt x="11335673" y="4409519"/>
                </a:lnTo>
                <a:lnTo>
                  <a:pt x="11354400" y="4374405"/>
                </a:lnTo>
                <a:lnTo>
                  <a:pt x="11373128" y="4339291"/>
                </a:lnTo>
                <a:lnTo>
                  <a:pt x="11394196" y="4304177"/>
                </a:lnTo>
                <a:lnTo>
                  <a:pt x="11414094" y="4270234"/>
                </a:lnTo>
                <a:lnTo>
                  <a:pt x="11431650" y="4233950"/>
                </a:lnTo>
                <a:lnTo>
                  <a:pt x="11445696" y="4198836"/>
                </a:lnTo>
                <a:lnTo>
                  <a:pt x="11455060" y="4162552"/>
                </a:lnTo>
                <a:lnTo>
                  <a:pt x="11458571" y="4125097"/>
                </a:lnTo>
                <a:lnTo>
                  <a:pt x="11455060" y="4087643"/>
                </a:lnTo>
                <a:lnTo>
                  <a:pt x="11445696" y="4051358"/>
                </a:lnTo>
                <a:lnTo>
                  <a:pt x="11431650" y="4016245"/>
                </a:lnTo>
                <a:lnTo>
                  <a:pt x="11414094" y="3979961"/>
                </a:lnTo>
                <a:lnTo>
                  <a:pt x="11394196" y="3946017"/>
                </a:lnTo>
                <a:lnTo>
                  <a:pt x="11373128" y="3910903"/>
                </a:lnTo>
                <a:lnTo>
                  <a:pt x="11354400" y="3875790"/>
                </a:lnTo>
                <a:lnTo>
                  <a:pt x="11335673" y="3840676"/>
                </a:lnTo>
                <a:lnTo>
                  <a:pt x="11321628" y="3806733"/>
                </a:lnTo>
                <a:lnTo>
                  <a:pt x="11312264" y="3770449"/>
                </a:lnTo>
                <a:lnTo>
                  <a:pt x="11307582" y="3734164"/>
                </a:lnTo>
                <a:lnTo>
                  <a:pt x="11307582" y="3695539"/>
                </a:lnTo>
                <a:lnTo>
                  <a:pt x="11309923" y="3655744"/>
                </a:lnTo>
                <a:lnTo>
                  <a:pt x="11314605" y="3615948"/>
                </a:lnTo>
                <a:lnTo>
                  <a:pt x="11320457" y="3576152"/>
                </a:lnTo>
                <a:lnTo>
                  <a:pt x="11325139" y="3536357"/>
                </a:lnTo>
                <a:lnTo>
                  <a:pt x="11328650" y="3496561"/>
                </a:lnTo>
                <a:lnTo>
                  <a:pt x="11327480" y="3459107"/>
                </a:lnTo>
                <a:lnTo>
                  <a:pt x="11322798" y="3422822"/>
                </a:lnTo>
                <a:lnTo>
                  <a:pt x="11312264" y="3387709"/>
                </a:lnTo>
                <a:lnTo>
                  <a:pt x="11297048" y="3358447"/>
                </a:lnTo>
                <a:lnTo>
                  <a:pt x="11277150" y="3330356"/>
                </a:lnTo>
                <a:lnTo>
                  <a:pt x="11253741" y="3305777"/>
                </a:lnTo>
                <a:lnTo>
                  <a:pt x="11226820" y="3281197"/>
                </a:lnTo>
                <a:lnTo>
                  <a:pt x="11198729" y="3258958"/>
                </a:lnTo>
                <a:lnTo>
                  <a:pt x="11169468" y="3236720"/>
                </a:lnTo>
                <a:lnTo>
                  <a:pt x="11139036" y="3214481"/>
                </a:lnTo>
                <a:lnTo>
                  <a:pt x="11110945" y="3192242"/>
                </a:lnTo>
                <a:lnTo>
                  <a:pt x="11084024" y="3168833"/>
                </a:lnTo>
                <a:lnTo>
                  <a:pt x="11060615" y="3141913"/>
                </a:lnTo>
                <a:lnTo>
                  <a:pt x="11039547" y="3116162"/>
                </a:lnTo>
                <a:lnTo>
                  <a:pt x="11023160" y="3086901"/>
                </a:lnTo>
                <a:lnTo>
                  <a:pt x="11009115" y="3055299"/>
                </a:lnTo>
                <a:lnTo>
                  <a:pt x="10997410" y="3021355"/>
                </a:lnTo>
                <a:lnTo>
                  <a:pt x="10986876" y="2986242"/>
                </a:lnTo>
                <a:lnTo>
                  <a:pt x="10977513" y="2951128"/>
                </a:lnTo>
                <a:lnTo>
                  <a:pt x="10968149" y="2914844"/>
                </a:lnTo>
                <a:lnTo>
                  <a:pt x="10957615" y="2880900"/>
                </a:lnTo>
                <a:lnTo>
                  <a:pt x="10945910" y="2846957"/>
                </a:lnTo>
                <a:lnTo>
                  <a:pt x="10931865" y="2815355"/>
                </a:lnTo>
                <a:lnTo>
                  <a:pt x="10914308" y="2787264"/>
                </a:lnTo>
                <a:lnTo>
                  <a:pt x="10893240" y="2761514"/>
                </a:lnTo>
                <a:lnTo>
                  <a:pt x="10867490" y="2740445"/>
                </a:lnTo>
                <a:lnTo>
                  <a:pt x="10839399" y="2722888"/>
                </a:lnTo>
                <a:lnTo>
                  <a:pt x="10807796" y="2708843"/>
                </a:lnTo>
                <a:lnTo>
                  <a:pt x="10773853" y="2697138"/>
                </a:lnTo>
                <a:lnTo>
                  <a:pt x="10739910" y="2686604"/>
                </a:lnTo>
                <a:lnTo>
                  <a:pt x="10703626" y="2677241"/>
                </a:lnTo>
                <a:lnTo>
                  <a:pt x="10668512" y="2667877"/>
                </a:lnTo>
                <a:lnTo>
                  <a:pt x="10633398" y="2657343"/>
                </a:lnTo>
                <a:lnTo>
                  <a:pt x="10599455" y="2645638"/>
                </a:lnTo>
                <a:lnTo>
                  <a:pt x="10567852" y="2631593"/>
                </a:lnTo>
                <a:lnTo>
                  <a:pt x="10538591" y="2615206"/>
                </a:lnTo>
                <a:lnTo>
                  <a:pt x="10512841" y="2594138"/>
                </a:lnTo>
                <a:lnTo>
                  <a:pt x="10485920" y="2570729"/>
                </a:lnTo>
                <a:lnTo>
                  <a:pt x="10462511" y="2543808"/>
                </a:lnTo>
                <a:lnTo>
                  <a:pt x="10440272" y="2515717"/>
                </a:lnTo>
                <a:lnTo>
                  <a:pt x="10418034" y="2486456"/>
                </a:lnTo>
                <a:lnTo>
                  <a:pt x="10395795" y="2457194"/>
                </a:lnTo>
                <a:lnTo>
                  <a:pt x="10373556" y="2429103"/>
                </a:lnTo>
                <a:lnTo>
                  <a:pt x="10348977" y="2402183"/>
                </a:lnTo>
                <a:lnTo>
                  <a:pt x="10324397" y="2378774"/>
                </a:lnTo>
                <a:lnTo>
                  <a:pt x="10296306" y="2358876"/>
                </a:lnTo>
                <a:lnTo>
                  <a:pt x="10267044" y="2343660"/>
                </a:lnTo>
                <a:lnTo>
                  <a:pt x="10231931" y="2333126"/>
                </a:lnTo>
                <a:lnTo>
                  <a:pt x="10195647" y="2328444"/>
                </a:lnTo>
                <a:lnTo>
                  <a:pt x="10158192" y="2327274"/>
                </a:lnTo>
                <a:lnTo>
                  <a:pt x="10118396" y="2330785"/>
                </a:lnTo>
                <a:lnTo>
                  <a:pt x="10078601" y="2335467"/>
                </a:lnTo>
                <a:lnTo>
                  <a:pt x="10038805" y="2341319"/>
                </a:lnTo>
                <a:lnTo>
                  <a:pt x="9999010" y="2346001"/>
                </a:lnTo>
                <a:lnTo>
                  <a:pt x="9959214" y="2348342"/>
                </a:lnTo>
                <a:lnTo>
                  <a:pt x="9920589" y="2348342"/>
                </a:lnTo>
                <a:lnTo>
                  <a:pt x="9884305" y="2343660"/>
                </a:lnTo>
                <a:lnTo>
                  <a:pt x="9846850" y="2334296"/>
                </a:lnTo>
                <a:lnTo>
                  <a:pt x="9812907" y="2320251"/>
                </a:lnTo>
                <a:lnTo>
                  <a:pt x="9777793" y="2301524"/>
                </a:lnTo>
                <a:lnTo>
                  <a:pt x="9742679" y="2282796"/>
                </a:lnTo>
                <a:lnTo>
                  <a:pt x="9707566" y="2261728"/>
                </a:lnTo>
                <a:lnTo>
                  <a:pt x="9673622" y="2241830"/>
                </a:lnTo>
                <a:lnTo>
                  <a:pt x="9637338" y="2224273"/>
                </a:lnTo>
                <a:lnTo>
                  <a:pt x="9602224" y="2210228"/>
                </a:lnTo>
                <a:lnTo>
                  <a:pt x="9565940" y="2200864"/>
                </a:lnTo>
                <a:lnTo>
                  <a:pt x="9528486" y="2197353"/>
                </a:lnTo>
                <a:close/>
              </a:path>
            </a:pathLst>
          </a:custGeom>
          <a:solidFill>
            <a:schemeClr val="bg2"/>
          </a:solidFill>
          <a:ln w="101600">
            <a:noFill/>
            <a:prstDash val="solid"/>
            <a:round/>
            <a:headEnd/>
            <a:tailEnd/>
          </a:ln>
        </p:spPr>
      </p:sp>
      <p:sp>
        <p:nvSpPr>
          <p:cNvPr id="73" name="Freeform 6" title="Left scallop edge">
            <a:extLst>
              <a:ext uri="{FF2B5EF4-FFF2-40B4-BE49-F238E27FC236}">
                <a16:creationId xmlns:a16="http://schemas.microsoft.com/office/drawing/2014/main" id="{59146B5A-0BC2-431D-8B26-141ADDE360BD}"/>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75" name="Rectangle 74" title="right edge border">
            <a:extLst>
              <a:ext uri="{FF2B5EF4-FFF2-40B4-BE49-F238E27FC236}">
                <a16:creationId xmlns:a16="http://schemas.microsoft.com/office/drawing/2014/main" id="{28A7DA0B-D1CC-428A-941E-C31E8E7BD4AF}"/>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a:xfrm>
            <a:off x="1251678" y="382385"/>
            <a:ext cx="10178322" cy="1492132"/>
          </a:xfrm>
        </p:spPr>
        <p:txBody>
          <a:bodyPr>
            <a:normAutofit/>
          </a:bodyPr>
          <a:lstStyle/>
          <a:p>
            <a:r>
              <a:rPr lang="en-US" b="1" dirty="0"/>
              <a:t>AABB - Circle collision detection</a:t>
            </a:r>
            <a:endParaRPr lang="en-US" dirty="0"/>
          </a:p>
        </p:txBody>
      </p:sp>
      <p:sp>
        <p:nvSpPr>
          <p:cNvPr id="5" name="Content Placeholder 4">
            <a:extLst>
              <a:ext uri="{FF2B5EF4-FFF2-40B4-BE49-F238E27FC236}">
                <a16:creationId xmlns:a16="http://schemas.microsoft.com/office/drawing/2014/main" id="{61FD18CB-4C31-44AE-8248-863E71B7064F}"/>
              </a:ext>
            </a:extLst>
          </p:cNvPr>
          <p:cNvSpPr>
            <a:spLocks noGrp="1"/>
          </p:cNvSpPr>
          <p:nvPr>
            <p:ph idx="1"/>
          </p:nvPr>
        </p:nvSpPr>
        <p:spPr>
          <a:xfrm>
            <a:off x="1251678" y="2286001"/>
            <a:ext cx="6015897" cy="3593591"/>
          </a:xfrm>
        </p:spPr>
        <p:txBody>
          <a:bodyPr>
            <a:normAutofit/>
          </a:bodyPr>
          <a:lstStyle/>
          <a:p>
            <a:r>
              <a:rPr lang="en-US" dirty="0" err="1"/>
              <a:t>Beacuse</a:t>
            </a:r>
            <a:r>
              <a:rPr lang="en-US" dirty="0"/>
              <a:t> the ball is a circle-like object an </a:t>
            </a:r>
            <a:r>
              <a:rPr lang="en-US" b="1" dirty="0">
                <a:solidFill>
                  <a:srgbClr val="53AE6E"/>
                </a:solidFill>
              </a:rPr>
              <a:t>AABB</a:t>
            </a:r>
            <a:r>
              <a:rPr lang="en-US" dirty="0"/>
              <a:t> is probably not the best choice as the ball's collision shape. The collision code thinks the ball is a rectangular box so the ball often collides with a brick even though the ball sprite itself isn't yet touching the brick</a:t>
            </a:r>
          </a:p>
        </p:txBody>
      </p:sp>
    </p:spTree>
    <p:extLst>
      <p:ext uri="{BB962C8B-B14F-4D97-AF65-F5344CB8AC3E}">
        <p14:creationId xmlns:p14="http://schemas.microsoft.com/office/powerpoint/2010/main" val="6203142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098" name="Picture 2" descr="Ball circular collision shape">
            <a:extLst>
              <a:ext uri="{FF2B5EF4-FFF2-40B4-BE49-F238E27FC236}">
                <a16:creationId xmlns:a16="http://schemas.microsoft.com/office/drawing/2014/main" id="{428C1AC2-2F9A-4275-A150-7C4C87D5C5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8193" y="814341"/>
            <a:ext cx="5176744" cy="525557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a:xfrm>
            <a:off x="1251677" y="645105"/>
            <a:ext cx="4357499" cy="1320855"/>
          </a:xfrm>
        </p:spPr>
        <p:txBody>
          <a:bodyPr>
            <a:normAutofit/>
          </a:bodyPr>
          <a:lstStyle/>
          <a:p>
            <a:r>
              <a:rPr lang="en-US" sz="2800" b="1"/>
              <a:t>AABB - Circle collision detection</a:t>
            </a:r>
            <a:endParaRPr lang="en-US" sz="280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286001"/>
            <a:ext cx="4363595" cy="3593591"/>
          </a:xfrm>
        </p:spPr>
        <p:txBody>
          <a:bodyPr>
            <a:normAutofit/>
          </a:bodyPr>
          <a:lstStyle/>
          <a:p>
            <a:pPr>
              <a:lnSpc>
                <a:spcPct val="100000"/>
              </a:lnSpc>
            </a:pPr>
            <a:r>
              <a:rPr lang="en-US" dirty="0"/>
              <a:t>It makes much more sense to represent the ball with a circle collision shape instead of an </a:t>
            </a:r>
            <a:r>
              <a:rPr lang="en-US" b="1" dirty="0">
                <a:solidFill>
                  <a:srgbClr val="53AE6E"/>
                </a:solidFill>
              </a:rPr>
              <a:t>AABB</a:t>
            </a:r>
            <a:r>
              <a:rPr lang="en-US" dirty="0"/>
              <a:t>. For this reason we included a Radius variable within the ball object. To define a circle collision shape all we need is a position vector and a radius.</a:t>
            </a:r>
            <a:endParaRPr lang="en-US" sz="1700" dirty="0">
              <a:solidFill>
                <a:srgbClr val="000000"/>
              </a:solidFill>
            </a:endParaRPr>
          </a:p>
        </p:txBody>
      </p:sp>
    </p:spTree>
    <p:extLst>
      <p:ext uri="{BB962C8B-B14F-4D97-AF65-F5344CB8AC3E}">
        <p14:creationId xmlns:p14="http://schemas.microsoft.com/office/powerpoint/2010/main" val="3519297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a:xfrm>
            <a:off x="1251678" y="382385"/>
            <a:ext cx="10178322" cy="1492132"/>
          </a:xfrm>
        </p:spPr>
        <p:txBody>
          <a:bodyPr anchor="ctr"/>
          <a:lstStyle/>
          <a:p>
            <a:r>
              <a:rPr lang="en-US" b="1"/>
              <a:t>AABB - Circle collision detection</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a:bodyPr>
          <a:lstStyle/>
          <a:p>
            <a:pPr algn="just"/>
            <a:r>
              <a:rPr lang="en-US" dirty="0"/>
              <a:t>This does mean we have to update the detection algorithm since it currently only works between two </a:t>
            </a:r>
            <a:r>
              <a:rPr lang="en-US" b="1" dirty="0">
                <a:solidFill>
                  <a:srgbClr val="53AE6E"/>
                </a:solidFill>
              </a:rPr>
              <a:t>AABBs</a:t>
            </a:r>
            <a:r>
              <a:rPr lang="en-US" dirty="0"/>
              <a:t>. Detecting collisions between a circle and a rectangle is slightly more complicated, but the trick is as follows: we find the point on the </a:t>
            </a:r>
            <a:r>
              <a:rPr lang="en-US" b="1" dirty="0">
                <a:solidFill>
                  <a:srgbClr val="53AE6E"/>
                </a:solidFill>
              </a:rPr>
              <a:t>AABB</a:t>
            </a:r>
            <a:r>
              <a:rPr lang="en-US" dirty="0"/>
              <a:t> that is closest to the circle and if the distance from the circle to this point is less than its radius, we have a collision.</a:t>
            </a:r>
          </a:p>
          <a:p>
            <a:pPr algn="just"/>
            <a:r>
              <a:rPr lang="en-US" dirty="0"/>
              <a:t>The difficult part is getting this closest point P¯ on the </a:t>
            </a:r>
            <a:r>
              <a:rPr lang="en-US" b="1" dirty="0">
                <a:solidFill>
                  <a:srgbClr val="53AE6E"/>
                </a:solidFill>
              </a:rPr>
              <a:t>AABB</a:t>
            </a:r>
            <a:r>
              <a:rPr lang="en-US" dirty="0"/>
              <a:t>. The following image shows how we can calculate this point for any arbitrary </a:t>
            </a:r>
            <a:r>
              <a:rPr lang="en-US" b="1" dirty="0">
                <a:solidFill>
                  <a:srgbClr val="53AE6E"/>
                </a:solidFill>
              </a:rPr>
              <a:t>AABB</a:t>
            </a:r>
            <a:r>
              <a:rPr lang="en-US" dirty="0"/>
              <a:t> and circle:</a:t>
            </a:r>
          </a:p>
        </p:txBody>
      </p:sp>
      <p:pic>
        <p:nvPicPr>
          <p:cNvPr id="5122" name="Picture 2" descr="AABB - Circle collision detection">
            <a:extLst>
              <a:ext uri="{FF2B5EF4-FFF2-40B4-BE49-F238E27FC236}">
                <a16:creationId xmlns:a16="http://schemas.microsoft.com/office/drawing/2014/main" id="{0C59B408-AF7D-4954-A658-375F8AD97C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631" y="4232178"/>
            <a:ext cx="6860691" cy="2446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18319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how do we determine collisions?</a:t>
            </a:r>
            <a:endParaRPr lang="en-US" dirty="0"/>
          </a:p>
        </p:txBody>
      </p:sp>
      <p:pic>
        <p:nvPicPr>
          <p:cNvPr id="6" name="collisions_circle">
            <a:hlinkClick r:id="" action="ppaction://media"/>
            <a:extLst>
              <a:ext uri="{FF2B5EF4-FFF2-40B4-BE49-F238E27FC236}">
                <a16:creationId xmlns:a16="http://schemas.microsoft.com/office/drawing/2014/main" id="{6C3FD112-F94D-4B6C-85CE-B57D0E01B746}"/>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730326" y="2039815"/>
            <a:ext cx="8764172" cy="4435799"/>
          </a:xfrm>
        </p:spPr>
      </p:pic>
    </p:spTree>
    <p:extLst>
      <p:ext uri="{BB962C8B-B14F-4D97-AF65-F5344CB8AC3E}">
        <p14:creationId xmlns:p14="http://schemas.microsoft.com/office/powerpoint/2010/main" val="1214062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18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5400" b="1" dirty="0"/>
              <a:t>Example</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59536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a:xfrm>
            <a:off x="1251678" y="382385"/>
            <a:ext cx="10178322" cy="1492132"/>
          </a:xfrm>
        </p:spPr>
        <p:txBody>
          <a:bodyPr anchor="ctr"/>
          <a:lstStyle/>
          <a:p>
            <a:r>
              <a:rPr lang="en-US" b="1" dirty="0"/>
              <a:t>Links</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fontScale="92500" lnSpcReduction="20000"/>
          </a:bodyPr>
          <a:lstStyle/>
          <a:p>
            <a:pPr algn="just"/>
            <a:r>
              <a:rPr lang="en-US" sz="3200" dirty="0">
                <a:hlinkClick r:id="rId2"/>
              </a:rPr>
              <a:t>https://learnopengl.com/</a:t>
            </a:r>
            <a:endParaRPr lang="en-US" sz="3200" dirty="0"/>
          </a:p>
          <a:p>
            <a:pPr algn="just"/>
            <a:r>
              <a:rPr lang="en-US" sz="3200" dirty="0">
                <a:hlinkClick r:id="rId3"/>
              </a:rPr>
              <a:t>http://www.videotutorialsrock.com/</a:t>
            </a:r>
            <a:endParaRPr lang="en-US" sz="3200" dirty="0"/>
          </a:p>
          <a:p>
            <a:pPr algn="just"/>
            <a:r>
              <a:rPr lang="en-US" sz="3200" dirty="0">
                <a:hlinkClick r:id="rId4"/>
              </a:rPr>
              <a:t>https://www.ntu.edu.sg/home/ehchua/programming/opengl/CG_Introduction.html</a:t>
            </a:r>
            <a:endParaRPr lang="en-US" sz="3200" dirty="0"/>
          </a:p>
          <a:p>
            <a:pPr algn="just"/>
            <a:r>
              <a:rPr lang="en-US" sz="3200" dirty="0">
                <a:hlinkClick r:id="rId5"/>
              </a:rPr>
              <a:t>https://www.coders-hub.com/2013/06/opengl-code-for-collision-detection.html#.WttVyIhubIV</a:t>
            </a:r>
            <a:endParaRPr lang="en-US" sz="3200" dirty="0"/>
          </a:p>
          <a:p>
            <a:pPr algn="just"/>
            <a:r>
              <a:rPr lang="en-US" sz="3200" dirty="0">
                <a:hlinkClick r:id="rId6"/>
              </a:rPr>
              <a:t>https://hackr.io/tutorials/learn-opengl</a:t>
            </a:r>
            <a:endParaRPr lang="en-US" sz="3200" dirty="0"/>
          </a:p>
          <a:p>
            <a:pPr algn="just"/>
            <a:r>
              <a:rPr lang="en-US" sz="3200" dirty="0">
                <a:hlinkClick r:id="rId7"/>
              </a:rPr>
              <a:t>https://open.gl/</a:t>
            </a:r>
            <a:endParaRPr lang="en-US" sz="3200" dirty="0"/>
          </a:p>
          <a:p>
            <a:pPr algn="just"/>
            <a:r>
              <a:rPr lang="en-US" sz="3200" dirty="0">
                <a:hlinkClick r:id="rId8"/>
              </a:rPr>
              <a:t>https://www.opengl.org/resources/libraries/glut/</a:t>
            </a:r>
            <a:endParaRPr lang="en-US" sz="3200" dirty="0"/>
          </a:p>
        </p:txBody>
      </p:sp>
    </p:spTree>
    <p:extLst>
      <p:ext uri="{BB962C8B-B14F-4D97-AF65-F5344CB8AC3E}">
        <p14:creationId xmlns:p14="http://schemas.microsoft.com/office/powerpoint/2010/main" val="15086691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D2B29-FF71-4E71-8424-180AD07CC344}"/>
              </a:ext>
            </a:extLst>
          </p:cNvPr>
          <p:cNvSpPr>
            <a:spLocks noGrp="1"/>
          </p:cNvSpPr>
          <p:nvPr>
            <p:ph type="title"/>
          </p:nvPr>
        </p:nvSpPr>
        <p:spPr/>
        <p:txBody>
          <a:bodyPr/>
          <a:lstStyle/>
          <a:p>
            <a:r>
              <a:rPr lang="en-US" dirty="0"/>
              <a:t>Thanks </a:t>
            </a:r>
            <a:r>
              <a:rPr lang="en-US" dirty="0">
                <a:sym typeface="Wingdings" panose="05000000000000000000" pitchFamily="2" charset="2"/>
              </a:rPr>
              <a:t></a:t>
            </a:r>
            <a:endParaRPr lang="en-US" dirty="0"/>
          </a:p>
        </p:txBody>
      </p:sp>
      <p:sp>
        <p:nvSpPr>
          <p:cNvPr id="3" name="Text Placeholder 2">
            <a:extLst>
              <a:ext uri="{FF2B5EF4-FFF2-40B4-BE49-F238E27FC236}">
                <a16:creationId xmlns:a16="http://schemas.microsoft.com/office/drawing/2014/main" id="{C3BFFBC8-C5DB-4A93-BAEB-24D942ABF2B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46448038"/>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171312"/>
      </a:dk2>
      <a:lt2>
        <a:srgbClr val="F7F0DF"/>
      </a:lt2>
      <a:accent1>
        <a:srgbClr val="53AE6E"/>
      </a:accent1>
      <a:accent2>
        <a:srgbClr val="326267"/>
      </a:accent2>
      <a:accent3>
        <a:srgbClr val="C5C34A"/>
      </a:accent3>
      <a:accent4>
        <a:srgbClr val="BF6546"/>
      </a:accent4>
      <a:accent5>
        <a:srgbClr val="81B5A8"/>
      </a:accent5>
      <a:accent6>
        <a:srgbClr val="636455"/>
      </a:accent6>
      <a:hlink>
        <a:srgbClr val="81B5A8"/>
      </a:hlink>
      <a:folHlink>
        <a:srgbClr val="936888"/>
      </a:folHlink>
    </a:clrScheme>
    <a:fontScheme name="Custom 1">
      <a:majorFont>
        <a:latin typeface="Arial"/>
        <a:ea typeface=""/>
        <a:cs typeface=""/>
      </a:majorFont>
      <a:minorFont>
        <a:latin typeface="Times New Roman"/>
        <a:ea typeface=""/>
        <a:cs typeface=""/>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A1A3E1F0-B5EF-49C5-810A-B1B32AEDDC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Badge</Template>
  <TotalTime>2508</TotalTime>
  <Words>3063</Words>
  <Application>Microsoft Office PowerPoint</Application>
  <PresentationFormat>Widescreen</PresentationFormat>
  <Paragraphs>195</Paragraphs>
  <Slides>45</Slides>
  <Notes>10</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Cambria</vt:lpstr>
      <vt:lpstr>Courier New</vt:lpstr>
      <vt:lpstr>Gill Sans MT</vt:lpstr>
      <vt:lpstr>Times New Roman</vt:lpstr>
      <vt:lpstr>Badge</vt:lpstr>
      <vt:lpstr>Section 5</vt:lpstr>
      <vt:lpstr>3D  Environment</vt:lpstr>
      <vt:lpstr>Orthographic Projection vs. Perspective Projection</vt:lpstr>
      <vt:lpstr>Set UP 3D</vt:lpstr>
      <vt:lpstr>Set UP 3D</vt:lpstr>
      <vt:lpstr>Prespective</vt:lpstr>
      <vt:lpstr>Prespective</vt:lpstr>
      <vt:lpstr>glEnable()</vt:lpstr>
      <vt:lpstr>gluLookAt() </vt:lpstr>
      <vt:lpstr>Example</vt:lpstr>
      <vt:lpstr>Lightening</vt:lpstr>
      <vt:lpstr>Lightening</vt:lpstr>
      <vt:lpstr>Lightening</vt:lpstr>
      <vt:lpstr>Types of reflectioN</vt:lpstr>
      <vt:lpstr>Types of reflectioN</vt:lpstr>
      <vt:lpstr>Types of reflectioN</vt:lpstr>
      <vt:lpstr>light sources in OpenGL</vt:lpstr>
      <vt:lpstr>light sources in OpenGL</vt:lpstr>
      <vt:lpstr>Material Properties</vt:lpstr>
      <vt:lpstr>Example</vt:lpstr>
      <vt:lpstr>Texture</vt:lpstr>
      <vt:lpstr>Texture</vt:lpstr>
      <vt:lpstr>Texture</vt:lpstr>
      <vt:lpstr>Texture</vt:lpstr>
      <vt:lpstr>Texture Wrapping</vt:lpstr>
      <vt:lpstr>Texture Wrapping</vt:lpstr>
      <vt:lpstr>Texture Filtering</vt:lpstr>
      <vt:lpstr>Texture Filtering</vt:lpstr>
      <vt:lpstr>Texture Filtering</vt:lpstr>
      <vt:lpstr>Generating a texture</vt:lpstr>
      <vt:lpstr>Generating a texture</vt:lpstr>
      <vt:lpstr>Generating a texture</vt:lpstr>
      <vt:lpstr>Example</vt:lpstr>
      <vt:lpstr>Collision</vt:lpstr>
      <vt:lpstr>Collision</vt:lpstr>
      <vt:lpstr>AABB - AABB collisions</vt:lpstr>
      <vt:lpstr>how do we determine collisions?</vt:lpstr>
      <vt:lpstr>how do we determine collisions?</vt:lpstr>
      <vt:lpstr>AABB - Circle collision detection</vt:lpstr>
      <vt:lpstr>AABB - Circle collision detection</vt:lpstr>
      <vt:lpstr>AABB - Circle collision detection</vt:lpstr>
      <vt:lpstr>how do we determine collisions?</vt:lpstr>
      <vt:lpstr>Example</vt:lpstr>
      <vt:lpstr>Links</vt:lpstr>
      <vt:lpstr>Thanks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Drawing and Transformations</dc:title>
  <dc:creator>RePack by Diakov</dc:creator>
  <cp:lastModifiedBy>Mai Ashraf Bakeer</cp:lastModifiedBy>
  <cp:revision>84</cp:revision>
  <dcterms:created xsi:type="dcterms:W3CDTF">2018-03-03T21:36:11Z</dcterms:created>
  <dcterms:modified xsi:type="dcterms:W3CDTF">2021-05-18T20:26:01Z</dcterms:modified>
</cp:coreProperties>
</file>