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1" r:id="rId1"/>
  </p:sldMasterIdLst>
  <p:notesMasterIdLst>
    <p:notesMasterId r:id="rId47"/>
  </p:notesMasterIdLst>
  <p:sldIdLst>
    <p:sldId id="256" r:id="rId2"/>
    <p:sldId id="267" r:id="rId3"/>
    <p:sldId id="268" r:id="rId4"/>
    <p:sldId id="269" r:id="rId5"/>
    <p:sldId id="311" r:id="rId6"/>
    <p:sldId id="271" r:id="rId7"/>
    <p:sldId id="270" r:id="rId8"/>
    <p:sldId id="272" r:id="rId9"/>
    <p:sldId id="273" r:id="rId10"/>
    <p:sldId id="274" r:id="rId11"/>
    <p:sldId id="276" r:id="rId12"/>
    <p:sldId id="277" r:id="rId13"/>
    <p:sldId id="278" r:id="rId14"/>
    <p:sldId id="279" r:id="rId15"/>
    <p:sldId id="280" r:id="rId16"/>
    <p:sldId id="281" r:id="rId17"/>
    <p:sldId id="282" r:id="rId18"/>
    <p:sldId id="283" r:id="rId19"/>
    <p:sldId id="284" r:id="rId20"/>
    <p:sldId id="285" r:id="rId21"/>
    <p:sldId id="286" r:id="rId22"/>
    <p:sldId id="287" r:id="rId23"/>
    <p:sldId id="288" r:id="rId24"/>
    <p:sldId id="289" r:id="rId25"/>
    <p:sldId id="290" r:id="rId26"/>
    <p:sldId id="291" r:id="rId27"/>
    <p:sldId id="292" r:id="rId28"/>
    <p:sldId id="293" r:id="rId29"/>
    <p:sldId id="294" r:id="rId30"/>
    <p:sldId id="295" r:id="rId31"/>
    <p:sldId id="296" r:id="rId32"/>
    <p:sldId id="297" r:id="rId33"/>
    <p:sldId id="298" r:id="rId34"/>
    <p:sldId id="299" r:id="rId35"/>
    <p:sldId id="300" r:id="rId36"/>
    <p:sldId id="301" r:id="rId37"/>
    <p:sldId id="302" r:id="rId38"/>
    <p:sldId id="303" r:id="rId39"/>
    <p:sldId id="304" r:id="rId40"/>
    <p:sldId id="305" r:id="rId41"/>
    <p:sldId id="306" r:id="rId42"/>
    <p:sldId id="307" r:id="rId43"/>
    <p:sldId id="308" r:id="rId44"/>
    <p:sldId id="310" r:id="rId45"/>
    <p:sldId id="275" r:id="rId4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3AE6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65306" autoAdjust="0"/>
  </p:normalViewPr>
  <p:slideViewPr>
    <p:cSldViewPr snapToGrid="0">
      <p:cViewPr varScale="1">
        <p:scale>
          <a:sx n="47" d="100"/>
          <a:sy n="47" d="100"/>
        </p:scale>
        <p:origin x="1620"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4A604EF-AEB0-4741-A1C6-8501E81A689B}" type="datetimeFigureOut">
              <a:rPr lang="en-US" smtClean="0"/>
              <a:t>5/30/2021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F57519-F7FC-4D00-A87F-B8D7C15D43BC}" type="slidenum">
              <a:rPr lang="en-US" smtClean="0"/>
              <a:t>‹#›</a:t>
            </a:fld>
            <a:endParaRPr lang="en-US"/>
          </a:p>
        </p:txBody>
      </p:sp>
    </p:spTree>
    <p:extLst>
      <p:ext uri="{BB962C8B-B14F-4D97-AF65-F5344CB8AC3E}">
        <p14:creationId xmlns:p14="http://schemas.microsoft.com/office/powerpoint/2010/main" val="2915815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C6F57519-F7FC-4D00-A87F-B8D7C15D43BC}" type="slidenum">
              <a:rPr lang="en-US" smtClean="0"/>
              <a:t>1</a:t>
            </a:fld>
            <a:endParaRPr lang="en-US"/>
          </a:p>
        </p:txBody>
      </p:sp>
    </p:spTree>
    <p:extLst>
      <p:ext uri="{BB962C8B-B14F-4D97-AF65-F5344CB8AC3E}">
        <p14:creationId xmlns:p14="http://schemas.microsoft.com/office/powerpoint/2010/main" val="6374965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Frustum:</a:t>
            </a:r>
            <a:r>
              <a:rPr lang="ar-EG" dirty="0"/>
              <a:t>المخروط الناقص</a:t>
            </a:r>
          </a:p>
          <a:p>
            <a:r>
              <a:rPr lang="en-US" dirty="0"/>
              <a:t>Plane:</a:t>
            </a:r>
            <a:r>
              <a:rPr lang="ar-EG" dirty="0"/>
              <a:t>مستوي</a:t>
            </a:r>
            <a:endParaRPr lang="en-US" dirty="0"/>
          </a:p>
          <a:p>
            <a:r>
              <a:rPr lang="en-US" dirty="0"/>
              <a:t>Portion:</a:t>
            </a:r>
            <a:r>
              <a:rPr lang="ar-EG" dirty="0"/>
              <a:t>جزء</a:t>
            </a:r>
          </a:p>
          <a:p>
            <a:r>
              <a:rPr lang="en-US" dirty="0"/>
              <a:t> an untruncated pyramid along the line of sight:</a:t>
            </a:r>
            <a:r>
              <a:rPr lang="ar-EG" dirty="0"/>
              <a:t>هرم غير مقطوع على طول خط البصر</a:t>
            </a:r>
            <a:endParaRPr lang="en-GB" dirty="0"/>
          </a:p>
        </p:txBody>
      </p:sp>
      <p:sp>
        <p:nvSpPr>
          <p:cNvPr id="4" name="Slide Number Placeholder 3"/>
          <p:cNvSpPr>
            <a:spLocks noGrp="1"/>
          </p:cNvSpPr>
          <p:nvPr>
            <p:ph type="sldNum" sz="quarter" idx="5"/>
          </p:nvPr>
        </p:nvSpPr>
        <p:spPr/>
        <p:txBody>
          <a:bodyPr/>
          <a:lstStyle/>
          <a:p>
            <a:fld id="{C6F57519-F7FC-4D00-A87F-B8D7C15D43BC}" type="slidenum">
              <a:rPr lang="en-US" smtClean="0"/>
              <a:t>6</a:t>
            </a:fld>
            <a:endParaRPr lang="en-US"/>
          </a:p>
        </p:txBody>
      </p:sp>
    </p:spTree>
    <p:extLst>
      <p:ext uri="{BB962C8B-B14F-4D97-AF65-F5344CB8AC3E}">
        <p14:creationId xmlns:p14="http://schemas.microsoft.com/office/powerpoint/2010/main" val="1015614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derived from :</a:t>
            </a:r>
            <a:r>
              <a:rPr lang="ar-EG" dirty="0"/>
              <a:t>مستمدة من</a:t>
            </a:r>
            <a:endParaRPr lang="en-US" dirty="0"/>
          </a:p>
          <a:p>
            <a:r>
              <a:rPr lang="en-US" dirty="0"/>
              <a:t>a reference point :</a:t>
            </a:r>
            <a:r>
              <a:rPr lang="ar-EG" dirty="0"/>
              <a:t>نقطة مرجعية</a:t>
            </a:r>
            <a:endParaRPr lang="en-GB" dirty="0"/>
          </a:p>
        </p:txBody>
      </p:sp>
      <p:sp>
        <p:nvSpPr>
          <p:cNvPr id="4" name="Slide Number Placeholder 3"/>
          <p:cNvSpPr>
            <a:spLocks noGrp="1"/>
          </p:cNvSpPr>
          <p:nvPr>
            <p:ph type="sldNum" sz="quarter" idx="5"/>
          </p:nvPr>
        </p:nvSpPr>
        <p:spPr/>
        <p:txBody>
          <a:bodyPr/>
          <a:lstStyle/>
          <a:p>
            <a:fld id="{C6F57519-F7FC-4D00-A87F-B8D7C15D43BC}" type="slidenum">
              <a:rPr lang="en-US" smtClean="0"/>
              <a:t>9</a:t>
            </a:fld>
            <a:endParaRPr lang="en-US"/>
          </a:p>
        </p:txBody>
      </p:sp>
    </p:spTree>
    <p:extLst>
      <p:ext uri="{BB962C8B-B14F-4D97-AF65-F5344CB8AC3E}">
        <p14:creationId xmlns:p14="http://schemas.microsoft.com/office/powerpoint/2010/main" val="27482902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EG" dirty="0"/>
              <a:t>منتشر</a:t>
            </a:r>
            <a:r>
              <a:rPr lang="en-US" sz="1200" b="1" dirty="0">
                <a:solidFill>
                  <a:srgbClr val="53AE6E"/>
                </a:solidFill>
              </a:rPr>
              <a:t>DIFFUSE</a:t>
            </a:r>
            <a:endParaRPr lang="en-US" dirty="0"/>
          </a:p>
          <a:p>
            <a:r>
              <a:rPr lang="en-US" dirty="0"/>
              <a:t> radiates :</a:t>
            </a:r>
            <a:r>
              <a:rPr lang="ar-EG" dirty="0"/>
              <a:t>يشع</a:t>
            </a:r>
            <a:endParaRPr lang="en-GB" dirty="0"/>
          </a:p>
        </p:txBody>
      </p:sp>
      <p:sp>
        <p:nvSpPr>
          <p:cNvPr id="4" name="Slide Number Placeholder 3"/>
          <p:cNvSpPr>
            <a:spLocks noGrp="1"/>
          </p:cNvSpPr>
          <p:nvPr>
            <p:ph type="sldNum" sz="quarter" idx="5"/>
          </p:nvPr>
        </p:nvSpPr>
        <p:spPr/>
        <p:txBody>
          <a:bodyPr/>
          <a:lstStyle/>
          <a:p>
            <a:fld id="{C6F57519-F7FC-4D00-A87F-B8D7C15D43BC}" type="slidenum">
              <a:rPr lang="en-US" smtClean="0"/>
              <a:t>14</a:t>
            </a:fld>
            <a:endParaRPr lang="en-US"/>
          </a:p>
        </p:txBody>
      </p:sp>
    </p:spTree>
    <p:extLst>
      <p:ext uri="{BB962C8B-B14F-4D97-AF65-F5344CB8AC3E}">
        <p14:creationId xmlns:p14="http://schemas.microsoft.com/office/powerpoint/2010/main" val="28380902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Specular:</a:t>
            </a:r>
            <a:r>
              <a:rPr lang="ar-EG" dirty="0"/>
              <a:t>براق</a:t>
            </a:r>
            <a:endParaRPr lang="en-US" dirty="0"/>
          </a:p>
          <a:p>
            <a:r>
              <a:rPr lang="en-US" dirty="0"/>
              <a:t>like polished plastics and metals:</a:t>
            </a:r>
            <a:r>
              <a:rPr lang="ar-EG" dirty="0"/>
              <a:t>مثل البلاستيك المصقول والمعادن</a:t>
            </a:r>
            <a:endParaRPr lang="en-GB" dirty="0"/>
          </a:p>
        </p:txBody>
      </p:sp>
      <p:sp>
        <p:nvSpPr>
          <p:cNvPr id="4" name="Slide Number Placeholder 3"/>
          <p:cNvSpPr>
            <a:spLocks noGrp="1"/>
          </p:cNvSpPr>
          <p:nvPr>
            <p:ph type="sldNum" sz="quarter" idx="5"/>
          </p:nvPr>
        </p:nvSpPr>
        <p:spPr/>
        <p:txBody>
          <a:bodyPr/>
          <a:lstStyle/>
          <a:p>
            <a:fld id="{C6F57519-F7FC-4D00-A87F-B8D7C15D43BC}" type="slidenum">
              <a:rPr lang="en-US" smtClean="0"/>
              <a:t>15</a:t>
            </a:fld>
            <a:endParaRPr lang="en-US"/>
          </a:p>
        </p:txBody>
      </p:sp>
    </p:spTree>
    <p:extLst>
      <p:ext uri="{BB962C8B-B14F-4D97-AF65-F5344CB8AC3E}">
        <p14:creationId xmlns:p14="http://schemas.microsoft.com/office/powerpoint/2010/main" val="28333650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Ambient:</a:t>
            </a:r>
            <a:r>
              <a:rPr lang="ar-EG" dirty="0"/>
              <a:t>محيط ب</a:t>
            </a:r>
            <a:endParaRPr lang="en-US" dirty="0"/>
          </a:p>
          <a:p>
            <a:r>
              <a:rPr lang="ar-EG" dirty="0"/>
              <a:t>خضع</a:t>
            </a:r>
            <a:r>
              <a:rPr lang="en-US" dirty="0"/>
              <a:t>:undergo</a:t>
            </a:r>
          </a:p>
          <a:p>
            <a:r>
              <a:rPr lang="en-GB" dirty="0"/>
              <a:t>Emission:</a:t>
            </a:r>
            <a:r>
              <a:rPr lang="ar-EG" dirty="0"/>
              <a:t>انبعاث</a:t>
            </a:r>
          </a:p>
          <a:p>
            <a:r>
              <a:rPr lang="en-GB" dirty="0"/>
              <a:t>Emits:</a:t>
            </a:r>
            <a:r>
              <a:rPr lang="ar-EG" dirty="0"/>
              <a:t>يصدر</a:t>
            </a:r>
            <a:endParaRPr lang="en-US" dirty="0"/>
          </a:p>
        </p:txBody>
      </p:sp>
      <p:sp>
        <p:nvSpPr>
          <p:cNvPr id="4" name="Slide Number Placeholder 3"/>
          <p:cNvSpPr>
            <a:spLocks noGrp="1"/>
          </p:cNvSpPr>
          <p:nvPr>
            <p:ph type="sldNum" sz="quarter" idx="5"/>
          </p:nvPr>
        </p:nvSpPr>
        <p:spPr/>
        <p:txBody>
          <a:bodyPr/>
          <a:lstStyle/>
          <a:p>
            <a:fld id="{C6F57519-F7FC-4D00-A87F-B8D7C15D43BC}" type="slidenum">
              <a:rPr lang="en-US" smtClean="0"/>
              <a:t>16</a:t>
            </a:fld>
            <a:endParaRPr lang="en-US"/>
          </a:p>
        </p:txBody>
      </p:sp>
    </p:spTree>
    <p:extLst>
      <p:ext uri="{BB962C8B-B14F-4D97-AF65-F5344CB8AC3E}">
        <p14:creationId xmlns:p14="http://schemas.microsoft.com/office/powerpoint/2010/main" val="20971265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dirty="0">
                <a:effectLst/>
              </a:rPr>
              <a:t>counter-clockwise order:</a:t>
            </a:r>
            <a:r>
              <a:rPr lang="ar-EG" sz="1200" b="0" dirty="0">
                <a:effectLst/>
              </a:rPr>
              <a:t>ترتيب عكس اتجاه عقارب الساعة</a:t>
            </a:r>
            <a:endParaRPr lang="en-GB" dirty="0"/>
          </a:p>
        </p:txBody>
      </p:sp>
      <p:sp>
        <p:nvSpPr>
          <p:cNvPr id="4" name="Slide Number Placeholder 3"/>
          <p:cNvSpPr>
            <a:spLocks noGrp="1"/>
          </p:cNvSpPr>
          <p:nvPr>
            <p:ph type="sldNum" sz="quarter" idx="5"/>
          </p:nvPr>
        </p:nvSpPr>
        <p:spPr/>
        <p:txBody>
          <a:bodyPr/>
          <a:lstStyle/>
          <a:p>
            <a:fld id="{C6F57519-F7FC-4D00-A87F-B8D7C15D43BC}" type="slidenum">
              <a:rPr lang="en-US" smtClean="0"/>
              <a:t>19</a:t>
            </a:fld>
            <a:endParaRPr lang="en-US"/>
          </a:p>
        </p:txBody>
      </p:sp>
    </p:spTree>
    <p:extLst>
      <p:ext uri="{BB962C8B-B14F-4D97-AF65-F5344CB8AC3E}">
        <p14:creationId xmlns:p14="http://schemas.microsoft.com/office/powerpoint/2010/main" val="320049746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https://learnopengl.com/Getting-started/Textures</a:t>
            </a:r>
          </a:p>
        </p:txBody>
      </p:sp>
      <p:sp>
        <p:nvSpPr>
          <p:cNvPr id="4" name="Slide Number Placeholder 3"/>
          <p:cNvSpPr>
            <a:spLocks noGrp="1"/>
          </p:cNvSpPr>
          <p:nvPr>
            <p:ph type="sldNum" sz="quarter" idx="10"/>
          </p:nvPr>
        </p:nvSpPr>
        <p:spPr/>
        <p:txBody>
          <a:bodyPr/>
          <a:lstStyle/>
          <a:p>
            <a:fld id="{C6F57519-F7FC-4D00-A87F-B8D7C15D43BC}" type="slidenum">
              <a:rPr lang="en-US" smtClean="0"/>
              <a:t>33</a:t>
            </a:fld>
            <a:endParaRPr lang="en-US"/>
          </a:p>
        </p:txBody>
      </p:sp>
    </p:spTree>
    <p:extLst>
      <p:ext uri="{BB962C8B-B14F-4D97-AF65-F5344CB8AC3E}">
        <p14:creationId xmlns:p14="http://schemas.microsoft.com/office/powerpoint/2010/main" val="34934743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https://learnopengl.com/Getting-started/Textures</a:t>
            </a:r>
          </a:p>
        </p:txBody>
      </p:sp>
      <p:sp>
        <p:nvSpPr>
          <p:cNvPr id="4" name="Slide Number Placeholder 3"/>
          <p:cNvSpPr>
            <a:spLocks noGrp="1"/>
          </p:cNvSpPr>
          <p:nvPr>
            <p:ph type="sldNum" sz="quarter" idx="10"/>
          </p:nvPr>
        </p:nvSpPr>
        <p:spPr/>
        <p:txBody>
          <a:bodyPr/>
          <a:lstStyle/>
          <a:p>
            <a:fld id="{C6F57519-F7FC-4D00-A87F-B8D7C15D43BC}" type="slidenum">
              <a:rPr lang="en-US" smtClean="0"/>
              <a:t>34</a:t>
            </a:fld>
            <a:endParaRPr lang="en-US"/>
          </a:p>
        </p:txBody>
      </p:sp>
    </p:spTree>
    <p:extLst>
      <p:ext uri="{BB962C8B-B14F-4D97-AF65-F5344CB8AC3E}">
        <p14:creationId xmlns:p14="http://schemas.microsoft.com/office/powerpoint/2010/main" val="5156483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rgbClr val="66D9EF"/>
                </a:solidFill>
                <a:effectLst/>
              </a:rPr>
              <a:t>if</a:t>
            </a:r>
            <a:r>
              <a:rPr lang="en-US" dirty="0">
                <a:solidFill>
                  <a:srgbClr val="F92672"/>
                </a:solidFill>
                <a:effectLst/>
              </a:rPr>
              <a:t>(</a:t>
            </a:r>
            <a:r>
              <a:rPr lang="en-US" dirty="0"/>
              <a:t>player1</a:t>
            </a:r>
            <a:r>
              <a:rPr lang="en-US" dirty="0">
                <a:solidFill>
                  <a:srgbClr val="F92672"/>
                </a:solidFill>
                <a:effectLst/>
              </a:rPr>
              <a:t>.</a:t>
            </a:r>
            <a:r>
              <a:rPr lang="en-US" dirty="0">
                <a:solidFill>
                  <a:srgbClr val="A6E22E"/>
                </a:solidFill>
                <a:effectLst/>
              </a:rPr>
              <a:t>x</a:t>
            </a:r>
            <a:r>
              <a:rPr lang="en-US" dirty="0"/>
              <a:t> </a:t>
            </a:r>
            <a:r>
              <a:rPr lang="en-US" dirty="0">
                <a:solidFill>
                  <a:srgbClr val="F92672"/>
                </a:solidFill>
                <a:effectLst/>
              </a:rPr>
              <a:t>&lt;</a:t>
            </a:r>
            <a:r>
              <a:rPr lang="en-US" dirty="0"/>
              <a:t> player2</a:t>
            </a:r>
            <a:r>
              <a:rPr lang="en-US" dirty="0">
                <a:solidFill>
                  <a:srgbClr val="F92672"/>
                </a:solidFill>
                <a:effectLst/>
              </a:rPr>
              <a:t>.</a:t>
            </a:r>
            <a:r>
              <a:rPr lang="en-US" dirty="0">
                <a:solidFill>
                  <a:srgbClr val="A6E22E"/>
                </a:solidFill>
                <a:effectLst/>
              </a:rPr>
              <a:t>x</a:t>
            </a:r>
            <a:r>
              <a:rPr lang="en-US" dirty="0"/>
              <a:t> </a:t>
            </a:r>
            <a:r>
              <a:rPr lang="en-US" dirty="0">
                <a:solidFill>
                  <a:srgbClr val="F92672"/>
                </a:solidFill>
                <a:effectLst/>
              </a:rPr>
              <a:t>+</a:t>
            </a:r>
            <a:r>
              <a:rPr lang="en-US" dirty="0"/>
              <a:t> player2</a:t>
            </a:r>
            <a:r>
              <a:rPr lang="en-US" dirty="0">
                <a:solidFill>
                  <a:srgbClr val="F92672"/>
                </a:solidFill>
                <a:effectLst/>
              </a:rPr>
              <a:t>.</a:t>
            </a:r>
            <a:r>
              <a:rPr lang="en-US" dirty="0">
                <a:solidFill>
                  <a:srgbClr val="A6E22E"/>
                </a:solidFill>
                <a:effectLst/>
              </a:rPr>
              <a:t>width</a:t>
            </a:r>
            <a:r>
              <a:rPr lang="en-US" dirty="0"/>
              <a:t> </a:t>
            </a:r>
            <a:r>
              <a:rPr lang="en-US" dirty="0">
                <a:solidFill>
                  <a:srgbClr val="F92672"/>
                </a:solidFill>
                <a:effectLst/>
              </a:rPr>
              <a:t>&amp;&amp;</a:t>
            </a:r>
            <a:r>
              <a:rPr lang="en-US" dirty="0"/>
              <a:t> player1</a:t>
            </a:r>
            <a:r>
              <a:rPr lang="en-US" dirty="0">
                <a:solidFill>
                  <a:srgbClr val="F92672"/>
                </a:solidFill>
                <a:effectLst/>
              </a:rPr>
              <a:t>.</a:t>
            </a:r>
            <a:r>
              <a:rPr lang="en-US" dirty="0">
                <a:solidFill>
                  <a:srgbClr val="A6E22E"/>
                </a:solidFill>
                <a:effectLst/>
              </a:rPr>
              <a:t>x</a:t>
            </a:r>
            <a:r>
              <a:rPr lang="en-US" dirty="0"/>
              <a:t> </a:t>
            </a:r>
            <a:r>
              <a:rPr lang="en-US" dirty="0">
                <a:solidFill>
                  <a:srgbClr val="F92672"/>
                </a:solidFill>
                <a:effectLst/>
              </a:rPr>
              <a:t>+</a:t>
            </a:r>
            <a:r>
              <a:rPr lang="en-US" dirty="0"/>
              <a:t> player1</a:t>
            </a:r>
            <a:r>
              <a:rPr lang="en-US" dirty="0">
                <a:solidFill>
                  <a:srgbClr val="F92672"/>
                </a:solidFill>
                <a:effectLst/>
              </a:rPr>
              <a:t>.</a:t>
            </a:r>
            <a:r>
              <a:rPr lang="en-US" dirty="0">
                <a:solidFill>
                  <a:srgbClr val="A6E22E"/>
                </a:solidFill>
                <a:effectLst/>
              </a:rPr>
              <a:t>width</a:t>
            </a:r>
            <a:r>
              <a:rPr lang="en-US" dirty="0"/>
              <a:t> </a:t>
            </a:r>
            <a:r>
              <a:rPr lang="en-US" dirty="0">
                <a:solidFill>
                  <a:srgbClr val="F92672"/>
                </a:solidFill>
                <a:effectLst/>
              </a:rPr>
              <a:t>&gt;</a:t>
            </a:r>
            <a:r>
              <a:rPr lang="en-US" dirty="0"/>
              <a:t> player2</a:t>
            </a:r>
            <a:r>
              <a:rPr lang="en-US" dirty="0">
                <a:solidFill>
                  <a:srgbClr val="F92672"/>
                </a:solidFill>
                <a:effectLst/>
              </a:rPr>
              <a:t>.</a:t>
            </a:r>
            <a:r>
              <a:rPr lang="en-US" dirty="0">
                <a:solidFill>
                  <a:srgbClr val="A6E22E"/>
                </a:solidFill>
                <a:effectLst/>
              </a:rPr>
              <a:t>x</a:t>
            </a:r>
            <a:r>
              <a:rPr lang="en-US" dirty="0"/>
              <a:t> </a:t>
            </a:r>
            <a:r>
              <a:rPr lang="en-US" dirty="0">
                <a:solidFill>
                  <a:srgbClr val="F92672"/>
                </a:solidFill>
                <a:effectLst/>
              </a:rPr>
              <a:t>&amp;&amp;</a:t>
            </a:r>
            <a:r>
              <a:rPr lang="en-US" dirty="0"/>
              <a:t> player1</a:t>
            </a:r>
            <a:r>
              <a:rPr lang="en-US" dirty="0">
                <a:solidFill>
                  <a:srgbClr val="F92672"/>
                </a:solidFill>
                <a:effectLst/>
              </a:rPr>
              <a:t>.</a:t>
            </a:r>
            <a:r>
              <a:rPr lang="en-US" dirty="0">
                <a:solidFill>
                  <a:srgbClr val="A6E22E"/>
                </a:solidFill>
                <a:effectLst/>
              </a:rPr>
              <a:t>y</a:t>
            </a:r>
            <a:r>
              <a:rPr lang="en-US" dirty="0"/>
              <a:t> </a:t>
            </a:r>
            <a:r>
              <a:rPr lang="en-US" dirty="0">
                <a:solidFill>
                  <a:srgbClr val="F92672"/>
                </a:solidFill>
                <a:effectLst/>
              </a:rPr>
              <a:t>&lt;</a:t>
            </a:r>
            <a:r>
              <a:rPr lang="en-US" dirty="0"/>
              <a:t> player2</a:t>
            </a:r>
            <a:r>
              <a:rPr lang="en-US" dirty="0">
                <a:solidFill>
                  <a:srgbClr val="F92672"/>
                </a:solidFill>
                <a:effectLst/>
              </a:rPr>
              <a:t>.</a:t>
            </a:r>
            <a:r>
              <a:rPr lang="en-US" dirty="0">
                <a:solidFill>
                  <a:srgbClr val="A6E22E"/>
                </a:solidFill>
                <a:effectLst/>
              </a:rPr>
              <a:t>y</a:t>
            </a:r>
            <a:r>
              <a:rPr lang="en-US" dirty="0"/>
              <a:t> </a:t>
            </a:r>
            <a:r>
              <a:rPr lang="en-US" dirty="0">
                <a:solidFill>
                  <a:srgbClr val="F92672"/>
                </a:solidFill>
                <a:effectLst/>
              </a:rPr>
              <a:t>+</a:t>
            </a:r>
            <a:r>
              <a:rPr lang="en-US" dirty="0"/>
              <a:t> player2</a:t>
            </a:r>
            <a:r>
              <a:rPr lang="en-US" dirty="0">
                <a:solidFill>
                  <a:srgbClr val="F92672"/>
                </a:solidFill>
                <a:effectLst/>
              </a:rPr>
              <a:t>.</a:t>
            </a:r>
            <a:r>
              <a:rPr lang="en-US" dirty="0">
                <a:solidFill>
                  <a:srgbClr val="A6E22E"/>
                </a:solidFill>
                <a:effectLst/>
              </a:rPr>
              <a:t>height</a:t>
            </a:r>
            <a:r>
              <a:rPr lang="en-US" dirty="0"/>
              <a:t> </a:t>
            </a:r>
            <a:r>
              <a:rPr lang="en-US" dirty="0">
                <a:solidFill>
                  <a:srgbClr val="F92672"/>
                </a:solidFill>
                <a:effectLst/>
              </a:rPr>
              <a:t>&amp;&amp;</a:t>
            </a:r>
            <a:r>
              <a:rPr lang="en-US" dirty="0"/>
              <a:t> player1</a:t>
            </a:r>
            <a:r>
              <a:rPr lang="en-US" dirty="0">
                <a:solidFill>
                  <a:srgbClr val="F92672"/>
                </a:solidFill>
                <a:effectLst/>
              </a:rPr>
              <a:t>.</a:t>
            </a:r>
            <a:r>
              <a:rPr lang="en-US" dirty="0">
                <a:solidFill>
                  <a:srgbClr val="A6E22E"/>
                </a:solidFill>
                <a:effectLst/>
              </a:rPr>
              <a:t>y</a:t>
            </a:r>
            <a:r>
              <a:rPr lang="en-US" dirty="0"/>
              <a:t> </a:t>
            </a:r>
            <a:r>
              <a:rPr lang="en-US" dirty="0">
                <a:solidFill>
                  <a:srgbClr val="F92672"/>
                </a:solidFill>
                <a:effectLst/>
              </a:rPr>
              <a:t>+</a:t>
            </a:r>
            <a:r>
              <a:rPr lang="en-US" dirty="0"/>
              <a:t> player1</a:t>
            </a:r>
            <a:r>
              <a:rPr lang="en-US" dirty="0">
                <a:solidFill>
                  <a:srgbClr val="F92672"/>
                </a:solidFill>
                <a:effectLst/>
              </a:rPr>
              <a:t>.</a:t>
            </a:r>
            <a:r>
              <a:rPr lang="en-US" dirty="0">
                <a:solidFill>
                  <a:srgbClr val="A6E22E"/>
                </a:solidFill>
                <a:effectLst/>
              </a:rPr>
              <a:t>height</a:t>
            </a:r>
            <a:r>
              <a:rPr lang="en-US" dirty="0"/>
              <a:t> </a:t>
            </a:r>
            <a:r>
              <a:rPr lang="en-US" dirty="0">
                <a:solidFill>
                  <a:srgbClr val="F92672"/>
                </a:solidFill>
                <a:effectLst/>
              </a:rPr>
              <a:t>&gt;</a:t>
            </a:r>
            <a:r>
              <a:rPr lang="en-US" dirty="0"/>
              <a:t> player2</a:t>
            </a:r>
            <a:r>
              <a:rPr lang="en-US" dirty="0">
                <a:solidFill>
                  <a:srgbClr val="F92672"/>
                </a:solidFill>
                <a:effectLst/>
              </a:rPr>
              <a:t>.</a:t>
            </a:r>
            <a:r>
              <a:rPr lang="en-US" dirty="0">
                <a:solidFill>
                  <a:srgbClr val="A6E22E"/>
                </a:solidFill>
                <a:effectLst/>
              </a:rPr>
              <a:t>y</a:t>
            </a:r>
            <a:r>
              <a:rPr lang="en-US" dirty="0">
                <a:solidFill>
                  <a:srgbClr val="F92672"/>
                </a:solidFill>
                <a:effectLst/>
              </a:rPr>
              <a:t>)</a:t>
            </a:r>
            <a:r>
              <a:rPr lang="en-US" dirty="0"/>
              <a:t> </a:t>
            </a:r>
            <a:r>
              <a:rPr lang="en-US" dirty="0">
                <a:solidFill>
                  <a:srgbClr val="F92672"/>
                </a:solidFill>
                <a:effectLst/>
              </a:rPr>
              <a:t>{</a:t>
            </a:r>
          </a:p>
          <a:p>
            <a:endParaRPr lang="en-US" dirty="0">
              <a:solidFill>
                <a:srgbClr val="F92672"/>
              </a:solidFill>
              <a:effectLst/>
            </a:endParaRPr>
          </a:p>
          <a:p>
            <a:r>
              <a:rPr lang="en-US" dirty="0"/>
              <a:t> </a:t>
            </a:r>
            <a:r>
              <a:rPr lang="en-US" dirty="0" err="1"/>
              <a:t>System</a:t>
            </a:r>
            <a:r>
              <a:rPr lang="en-US" dirty="0" err="1">
                <a:solidFill>
                  <a:srgbClr val="F92672"/>
                </a:solidFill>
                <a:effectLst/>
              </a:rPr>
              <a:t>.</a:t>
            </a:r>
            <a:r>
              <a:rPr lang="en-US" dirty="0" err="1">
                <a:solidFill>
                  <a:srgbClr val="A6E22E"/>
                </a:solidFill>
                <a:effectLst/>
              </a:rPr>
              <a:t>out</a:t>
            </a:r>
            <a:r>
              <a:rPr lang="en-US" dirty="0" err="1">
                <a:solidFill>
                  <a:srgbClr val="F92672"/>
                </a:solidFill>
                <a:effectLst/>
              </a:rPr>
              <a:t>.</a:t>
            </a:r>
            <a:r>
              <a:rPr lang="en-US" dirty="0" err="1">
                <a:solidFill>
                  <a:srgbClr val="A6E22E"/>
                </a:solidFill>
                <a:effectLst/>
              </a:rPr>
              <a:t>println</a:t>
            </a:r>
            <a:r>
              <a:rPr lang="en-US" dirty="0">
                <a:solidFill>
                  <a:srgbClr val="F92672"/>
                </a:solidFill>
                <a:effectLst/>
              </a:rPr>
              <a:t>(</a:t>
            </a:r>
            <a:r>
              <a:rPr lang="en-US" dirty="0">
                <a:solidFill>
                  <a:srgbClr val="E6DB74"/>
                </a:solidFill>
                <a:effectLst/>
              </a:rPr>
              <a:t>"Collision Detected"</a:t>
            </a:r>
            <a:r>
              <a:rPr lang="en-US" dirty="0">
                <a:solidFill>
                  <a:srgbClr val="F92672"/>
                </a:solidFill>
                <a:effectLst/>
              </a:rPr>
              <a:t>);</a:t>
            </a:r>
            <a:r>
              <a:rPr lang="en-US" dirty="0"/>
              <a:t> </a:t>
            </a:r>
            <a:r>
              <a:rPr lang="en-US" dirty="0">
                <a:solidFill>
                  <a:srgbClr val="F92672"/>
                </a:solidFill>
                <a:effectLst/>
              </a:rPr>
              <a:t>}</a:t>
            </a:r>
            <a:endParaRPr lang="en-GB" dirty="0"/>
          </a:p>
        </p:txBody>
      </p:sp>
      <p:sp>
        <p:nvSpPr>
          <p:cNvPr id="4" name="Slide Number Placeholder 3"/>
          <p:cNvSpPr>
            <a:spLocks noGrp="1"/>
          </p:cNvSpPr>
          <p:nvPr>
            <p:ph type="sldNum" sz="quarter" idx="5"/>
          </p:nvPr>
        </p:nvSpPr>
        <p:spPr/>
        <p:txBody>
          <a:bodyPr/>
          <a:lstStyle/>
          <a:p>
            <a:fld id="{C6F57519-F7FC-4D00-A87F-B8D7C15D43BC}" type="slidenum">
              <a:rPr lang="en-US" smtClean="0"/>
              <a:t>37</a:t>
            </a:fld>
            <a:endParaRPr lang="en-US"/>
          </a:p>
        </p:txBody>
      </p:sp>
    </p:spTree>
    <p:extLst>
      <p:ext uri="{BB962C8B-B14F-4D97-AF65-F5344CB8AC3E}">
        <p14:creationId xmlns:p14="http://schemas.microsoft.com/office/powerpoint/2010/main" val="39209223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fontAlgn="base"/>
            <a:r>
              <a:rPr lang="gsw-FR" b="0" i="0" dirty="0">
                <a:solidFill>
                  <a:srgbClr val="333333"/>
                </a:solidFill>
                <a:effectLst/>
                <a:latin typeface="Consolas" panose="020B0609020204030204" pitchFamily="49" charset="0"/>
              </a:rPr>
              <a:t>Circle&amp;circle collision</a:t>
            </a:r>
          </a:p>
          <a:p>
            <a:pPr algn="l" fontAlgn="base"/>
            <a:r>
              <a:rPr lang="gsw-FR" b="0" i="0" dirty="0">
                <a:solidFill>
                  <a:srgbClr val="333333"/>
                </a:solidFill>
                <a:effectLst/>
                <a:latin typeface="Consolas" panose="020B0609020204030204" pitchFamily="49" charset="0"/>
              </a:rPr>
              <a:t>take your pick.</a:t>
            </a:r>
          </a:p>
          <a:p>
            <a:pPr algn="l" fontAlgn="base"/>
            <a:r>
              <a:rPr lang="gsw-FR" b="0" i="0" dirty="0">
                <a:solidFill>
                  <a:srgbClr val="333333"/>
                </a:solidFill>
                <a:effectLst/>
                <a:latin typeface="Consolas" panose="020B0609020204030204" pitchFamily="49" charset="0"/>
              </a:rPr>
              <a:t>//#define twod_collision 0</a:t>
            </a:r>
          </a:p>
          <a:p>
            <a:pPr algn="l" fontAlgn="base"/>
            <a:r>
              <a:rPr lang="gsw-FR" b="0" i="0" dirty="0">
                <a:solidFill>
                  <a:srgbClr val="333333"/>
                </a:solidFill>
                <a:effectLst/>
                <a:latin typeface="Consolas" panose="020B0609020204030204" pitchFamily="49" charset="0"/>
              </a:rPr>
              <a:t>/* or */</a:t>
            </a:r>
          </a:p>
          <a:p>
            <a:pPr algn="l" fontAlgn="base"/>
            <a:r>
              <a:rPr lang="gsw-FR" b="0" i="0" dirty="0">
                <a:solidFill>
                  <a:srgbClr val="333333"/>
                </a:solidFill>
                <a:effectLst/>
                <a:latin typeface="Consolas" panose="020B0609020204030204" pitchFamily="49" charset="0"/>
              </a:rPr>
              <a:t>//#define threed_collision 0</a:t>
            </a:r>
          </a:p>
          <a:p>
            <a:pPr algn="l" fontAlgn="base"/>
            <a:r>
              <a:rPr lang="gsw-FR" b="0" i="0" dirty="0">
                <a:solidFill>
                  <a:srgbClr val="333333"/>
                </a:solidFill>
                <a:effectLst/>
                <a:latin typeface="Consolas" panose="020B0609020204030204" pitchFamily="49" charset="0"/>
              </a:rPr>
              <a:t> </a:t>
            </a:r>
          </a:p>
          <a:p>
            <a:pPr algn="l" fontAlgn="base"/>
            <a:r>
              <a:rPr lang="gsw-FR" b="0" i="0" dirty="0">
                <a:solidFill>
                  <a:srgbClr val="333333"/>
                </a:solidFill>
                <a:effectLst/>
                <a:latin typeface="Consolas" panose="020B0609020204030204" pitchFamily="49" charset="0"/>
              </a:rPr>
              <a:t>bool detectcollision(int x1, int y1, int z1,int radis1, int x2, int y2, int z2, int radis2)</a:t>
            </a:r>
          </a:p>
          <a:p>
            <a:pPr algn="l" fontAlgn="base"/>
            <a:r>
              <a:rPr lang="gsw-FR" b="0" i="0" dirty="0">
                <a:solidFill>
                  <a:srgbClr val="333333"/>
                </a:solidFill>
                <a:effectLst/>
                <a:latin typeface="Consolas" panose="020B0609020204030204" pitchFamily="49" charset="0"/>
              </a:rPr>
              <a:t>{</a:t>
            </a:r>
          </a:p>
          <a:p>
            <a:pPr algn="l" fontAlgn="base"/>
            <a:r>
              <a:rPr lang="gsw-FR" b="0" i="0" dirty="0">
                <a:solidFill>
                  <a:srgbClr val="333333"/>
                </a:solidFill>
                <a:effectLst/>
                <a:latin typeface="Consolas" panose="020B0609020204030204" pitchFamily="49" charset="0"/>
              </a:rPr>
              <a:t>    int xd, yd, zd, Distance;</a:t>
            </a:r>
          </a:p>
          <a:p>
            <a:pPr algn="l" fontAlgn="base"/>
            <a:r>
              <a:rPr lang="gsw-FR" b="0" i="0" dirty="0">
                <a:solidFill>
                  <a:srgbClr val="333333"/>
                </a:solidFill>
                <a:effectLst/>
                <a:latin typeface="Consolas" panose="020B0609020204030204" pitchFamily="49" charset="0"/>
              </a:rPr>
              <a:t>     </a:t>
            </a:r>
          </a:p>
          <a:p>
            <a:pPr algn="l" fontAlgn="base"/>
            <a:r>
              <a:rPr lang="gsw-FR" b="0" i="0" dirty="0">
                <a:solidFill>
                  <a:srgbClr val="333333"/>
                </a:solidFill>
                <a:effectLst/>
                <a:latin typeface="Consolas" panose="020B0609020204030204" pitchFamily="49" charset="0"/>
              </a:rPr>
              <a:t>    //2d</a:t>
            </a:r>
          </a:p>
          <a:p>
            <a:pPr algn="l" fontAlgn="base"/>
            <a:r>
              <a:rPr lang="gsw-FR" b="0" i="0" dirty="0">
                <a:solidFill>
                  <a:srgbClr val="333333"/>
                </a:solidFill>
                <a:effectLst/>
                <a:latin typeface="Consolas" panose="020B0609020204030204" pitchFamily="49" charset="0"/>
              </a:rPr>
              <a:t>    #ifdef twod_collision</a:t>
            </a:r>
          </a:p>
          <a:p>
            <a:pPr algn="l" fontAlgn="base"/>
            <a:r>
              <a:rPr lang="gsw-FR" b="0" i="0" dirty="0">
                <a:solidFill>
                  <a:srgbClr val="333333"/>
                </a:solidFill>
                <a:effectLst/>
                <a:latin typeface="Consolas" panose="020B0609020204030204" pitchFamily="49" charset="0"/>
              </a:rPr>
              <a:t>        xd = x2-x1;</a:t>
            </a:r>
          </a:p>
          <a:p>
            <a:pPr algn="l" fontAlgn="base"/>
            <a:r>
              <a:rPr lang="gsw-FR" b="0" i="0" dirty="0">
                <a:solidFill>
                  <a:srgbClr val="333333"/>
                </a:solidFill>
                <a:effectLst/>
                <a:latin typeface="Consolas" panose="020B0609020204030204" pitchFamily="49" charset="0"/>
              </a:rPr>
              <a:t>        yd = y2-y1;     </a:t>
            </a:r>
          </a:p>
          <a:p>
            <a:pPr algn="l" fontAlgn="base"/>
            <a:r>
              <a:rPr lang="gsw-FR" b="0" i="0" dirty="0">
                <a:solidFill>
                  <a:srgbClr val="333333"/>
                </a:solidFill>
                <a:effectLst/>
                <a:latin typeface="Consolas" panose="020B0609020204030204" pitchFamily="49" charset="0"/>
              </a:rPr>
              <a:t>        Distance = SquareRoot(xd*xd + yd*yd)</a:t>
            </a:r>
          </a:p>
          <a:p>
            <a:pPr algn="l" fontAlgn="base"/>
            <a:r>
              <a:rPr lang="gsw-FR" b="0" i="0" dirty="0">
                <a:solidFill>
                  <a:srgbClr val="333333"/>
                </a:solidFill>
                <a:effectLst/>
                <a:latin typeface="Consolas" panose="020B0609020204030204" pitchFamily="49" charset="0"/>
              </a:rPr>
              <a:t>    #endif</a:t>
            </a:r>
          </a:p>
          <a:p>
            <a:pPr algn="l" fontAlgn="base"/>
            <a:r>
              <a:rPr lang="gsw-FR" b="0" i="0" dirty="0">
                <a:solidFill>
                  <a:srgbClr val="333333"/>
                </a:solidFill>
                <a:effectLst/>
                <a:latin typeface="Consolas" panose="020B0609020204030204" pitchFamily="49" charset="0"/>
              </a:rPr>
              <a:t>     </a:t>
            </a:r>
          </a:p>
          <a:p>
            <a:pPr algn="l" fontAlgn="base"/>
            <a:r>
              <a:rPr lang="gsw-FR" b="0" i="0" dirty="0">
                <a:solidFill>
                  <a:srgbClr val="333333"/>
                </a:solidFill>
                <a:effectLst/>
                <a:latin typeface="Consolas" panose="020B0609020204030204" pitchFamily="49" charset="0"/>
              </a:rPr>
              <a:t>    //3d</a:t>
            </a:r>
          </a:p>
          <a:p>
            <a:pPr algn="l" fontAlgn="base"/>
            <a:r>
              <a:rPr lang="gsw-FR" b="0" i="0" dirty="0">
                <a:solidFill>
                  <a:srgbClr val="333333"/>
                </a:solidFill>
                <a:effectLst/>
                <a:latin typeface="Consolas" panose="020B0609020204030204" pitchFamily="49" charset="0"/>
              </a:rPr>
              <a:t>    #ifdef threed_collision</a:t>
            </a:r>
          </a:p>
          <a:p>
            <a:pPr algn="l" fontAlgn="base"/>
            <a:r>
              <a:rPr lang="gsw-FR" b="0" i="0" dirty="0">
                <a:solidFill>
                  <a:srgbClr val="333333"/>
                </a:solidFill>
                <a:effectLst/>
                <a:latin typeface="Consolas" panose="020B0609020204030204" pitchFamily="49" charset="0"/>
              </a:rPr>
              <a:t>        xd = x2-x1;</a:t>
            </a:r>
          </a:p>
          <a:p>
            <a:pPr algn="l" fontAlgn="base"/>
            <a:r>
              <a:rPr lang="gsw-FR" b="0" i="0" dirty="0">
                <a:solidFill>
                  <a:srgbClr val="333333"/>
                </a:solidFill>
                <a:effectLst/>
                <a:latin typeface="Consolas" panose="020B0609020204030204" pitchFamily="49" charset="0"/>
              </a:rPr>
              <a:t>        yd = y2-y1;</a:t>
            </a:r>
          </a:p>
          <a:p>
            <a:pPr algn="l" fontAlgn="base"/>
            <a:r>
              <a:rPr lang="gsw-FR" b="0" i="0" dirty="0">
                <a:solidFill>
                  <a:srgbClr val="333333"/>
                </a:solidFill>
                <a:effectLst/>
                <a:latin typeface="Consolas" panose="020B0609020204030204" pitchFamily="49" charset="0"/>
              </a:rPr>
              <a:t>        zd = z2-z1;</a:t>
            </a:r>
          </a:p>
          <a:p>
            <a:pPr algn="l" fontAlgn="base"/>
            <a:r>
              <a:rPr lang="gsw-FR" b="0" i="0" dirty="0">
                <a:solidFill>
                  <a:srgbClr val="333333"/>
                </a:solidFill>
                <a:effectLst/>
                <a:latin typeface="Consolas" panose="020B0609020204030204" pitchFamily="49" charset="0"/>
              </a:rPr>
              <a:t>        Distance = SquareRoot(xd*xd + yd*yd + zd*zd);</a:t>
            </a:r>
          </a:p>
          <a:p>
            <a:pPr algn="l" fontAlgn="base"/>
            <a:r>
              <a:rPr lang="gsw-FR" b="0" i="0" dirty="0">
                <a:solidFill>
                  <a:srgbClr val="333333"/>
                </a:solidFill>
                <a:effectLst/>
                <a:latin typeface="Consolas" panose="020B0609020204030204" pitchFamily="49" charset="0"/>
              </a:rPr>
              <a:t>    #endif</a:t>
            </a:r>
          </a:p>
          <a:p>
            <a:pPr algn="l" fontAlgn="base"/>
            <a:r>
              <a:rPr lang="gsw-FR" b="0" i="0" dirty="0">
                <a:solidFill>
                  <a:srgbClr val="333333"/>
                </a:solidFill>
                <a:effectLst/>
                <a:latin typeface="Consolas" panose="020B0609020204030204" pitchFamily="49" charset="0"/>
              </a:rPr>
              <a:t>     </a:t>
            </a:r>
          </a:p>
          <a:p>
            <a:pPr algn="l" fontAlgn="base"/>
            <a:r>
              <a:rPr lang="gsw-FR" b="0" i="0" dirty="0">
                <a:solidFill>
                  <a:srgbClr val="333333"/>
                </a:solidFill>
                <a:effectLst/>
                <a:latin typeface="Consolas" panose="020B0609020204030204" pitchFamily="49" charset="0"/>
              </a:rPr>
              <a:t>    if( radis1 + radis2 &gt;= Distance)</a:t>
            </a:r>
          </a:p>
          <a:p>
            <a:pPr algn="l" fontAlgn="base"/>
            <a:r>
              <a:rPr lang="gsw-FR" b="0" i="0" dirty="0">
                <a:solidFill>
                  <a:srgbClr val="333333"/>
                </a:solidFill>
                <a:effectLst/>
                <a:latin typeface="Consolas" panose="020B0609020204030204" pitchFamily="49" charset="0"/>
              </a:rPr>
              <a:t>        return true; //collision</a:t>
            </a:r>
          </a:p>
          <a:p>
            <a:pPr algn="l" fontAlgn="base"/>
            <a:r>
              <a:rPr lang="gsw-FR" b="0" i="0" dirty="0">
                <a:solidFill>
                  <a:srgbClr val="333333"/>
                </a:solidFill>
                <a:effectLst/>
                <a:latin typeface="Consolas" panose="020B0609020204030204" pitchFamily="49" charset="0"/>
              </a:rPr>
              <a:t>    return false;    //no collision    </a:t>
            </a:r>
          </a:p>
          <a:p>
            <a:pPr algn="l" fontAlgn="base"/>
            <a:r>
              <a:rPr lang="gsw-FR" b="0" i="0" dirty="0">
                <a:solidFill>
                  <a:srgbClr val="333333"/>
                </a:solidFill>
                <a:effectLst/>
                <a:latin typeface="Consolas" panose="020B0609020204030204" pitchFamily="49" charset="0"/>
              </a:rPr>
              <a:t>}</a:t>
            </a:r>
          </a:p>
          <a:p>
            <a:endParaRPr lang="en-GB" dirty="0"/>
          </a:p>
        </p:txBody>
      </p:sp>
      <p:sp>
        <p:nvSpPr>
          <p:cNvPr id="4" name="Slide Number Placeholder 3"/>
          <p:cNvSpPr>
            <a:spLocks noGrp="1"/>
          </p:cNvSpPr>
          <p:nvPr>
            <p:ph type="sldNum" sz="quarter" idx="5"/>
          </p:nvPr>
        </p:nvSpPr>
        <p:spPr/>
        <p:txBody>
          <a:bodyPr/>
          <a:lstStyle/>
          <a:p>
            <a:fld id="{C6F57519-F7FC-4D00-A87F-B8D7C15D43BC}" type="slidenum">
              <a:rPr lang="en-US" smtClean="0"/>
              <a:t>42</a:t>
            </a:fld>
            <a:endParaRPr lang="en-US"/>
          </a:p>
        </p:txBody>
      </p:sp>
    </p:spTree>
    <p:extLst>
      <p:ext uri="{BB962C8B-B14F-4D97-AF65-F5344CB8AC3E}">
        <p14:creationId xmlns:p14="http://schemas.microsoft.com/office/powerpoint/2010/main" val="111328833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https://learnopengl.com/Getting-started/Textures</a:t>
            </a:r>
          </a:p>
        </p:txBody>
      </p:sp>
      <p:sp>
        <p:nvSpPr>
          <p:cNvPr id="4" name="Slide Number Placeholder 3"/>
          <p:cNvSpPr>
            <a:spLocks noGrp="1"/>
          </p:cNvSpPr>
          <p:nvPr>
            <p:ph type="sldNum" sz="quarter" idx="10"/>
          </p:nvPr>
        </p:nvSpPr>
        <p:spPr/>
        <p:txBody>
          <a:bodyPr/>
          <a:lstStyle/>
          <a:p>
            <a:fld id="{C6F57519-F7FC-4D00-A87F-B8D7C15D43BC}" type="slidenum">
              <a:rPr lang="en-US" smtClean="0"/>
              <a:t>43</a:t>
            </a:fld>
            <a:endParaRPr lang="en-US"/>
          </a:p>
        </p:txBody>
      </p:sp>
    </p:spTree>
    <p:extLst>
      <p:ext uri="{BB962C8B-B14F-4D97-AF65-F5344CB8AC3E}">
        <p14:creationId xmlns:p14="http://schemas.microsoft.com/office/powerpoint/2010/main" val="2218518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11" name="Freeform 6" title="scalloped circle"/>
          <p:cNvSpPr/>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 name="Title 1"/>
          <p:cNvSpPr>
            <a:spLocks noGrp="1"/>
          </p:cNvSpPr>
          <p:nvPr>
            <p:ph type="ctrTitle"/>
          </p:nvPr>
        </p:nvSpPr>
        <p:spPr>
          <a:xfrm>
            <a:off x="1078523" y="1098388"/>
            <a:ext cx="10318418" cy="4394988"/>
          </a:xfrm>
        </p:spPr>
        <p:txBody>
          <a:bodyPr anchor="ctr">
            <a:noAutofit/>
          </a:bodyPr>
          <a:lstStyle>
            <a:lvl1pPr algn="ctr">
              <a:defRPr sz="10000" spc="800" baseline="0"/>
            </a:lvl1pPr>
          </a:lstStyle>
          <a:p>
            <a:r>
              <a:rPr lang="en-US"/>
              <a:t>Click to edit Master title style</a:t>
            </a:r>
            <a:endParaRPr lang="en-US" dirty="0"/>
          </a:p>
        </p:txBody>
      </p:sp>
      <p:sp>
        <p:nvSpPr>
          <p:cNvPr id="3" name="Subtitle 2"/>
          <p:cNvSpPr>
            <a:spLocks noGrp="1"/>
          </p:cNvSpPr>
          <p:nvPr>
            <p:ph type="subTitle" idx="1"/>
          </p:nvPr>
        </p:nvSpPr>
        <p:spPr>
          <a:xfrm>
            <a:off x="2215045" y="5979196"/>
            <a:ext cx="8045373" cy="742279"/>
          </a:xfrm>
        </p:spPr>
        <p:txBody>
          <a:bodyPr anchor="t">
            <a:normAutofit/>
          </a:bodyPr>
          <a:lstStyle>
            <a:lvl1pPr marL="0" indent="0" algn="ctr">
              <a:lnSpc>
                <a:spcPct val="100000"/>
              </a:lnSpc>
              <a:buNone/>
              <a:defRPr sz="2000" b="1" i="0" cap="all" spc="400"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1078523" y="6375679"/>
            <a:ext cx="2329722" cy="348462"/>
          </a:xfrm>
        </p:spPr>
        <p:txBody>
          <a:bodyPr/>
          <a:lstStyle>
            <a:lvl1pPr>
              <a:defRPr baseline="0">
                <a:solidFill>
                  <a:schemeClr val="accent1">
                    <a:lumMod val="50000"/>
                  </a:schemeClr>
                </a:solidFill>
              </a:defRPr>
            </a:lvl1pPr>
          </a:lstStyle>
          <a:p>
            <a:fld id="{48A87A34-81AB-432B-8DAE-1953F412C126}" type="datetimeFigureOut">
              <a:rPr lang="en-US" smtClean="0"/>
              <a:t>5/30/2021</a:t>
            </a:fld>
            <a:endParaRPr lang="en-US" dirty="0"/>
          </a:p>
        </p:txBody>
      </p:sp>
      <p:sp>
        <p:nvSpPr>
          <p:cNvPr id="5" name="Footer Placeholder 4"/>
          <p:cNvSpPr>
            <a:spLocks noGrp="1"/>
          </p:cNvSpPr>
          <p:nvPr>
            <p:ph type="ftr" sz="quarter" idx="11"/>
          </p:nvPr>
        </p:nvSpPr>
        <p:spPr>
          <a:xfrm>
            <a:off x="4180332" y="6375679"/>
            <a:ext cx="4114800" cy="345796"/>
          </a:xfrm>
        </p:spPr>
        <p:txBody>
          <a:bodyPr/>
          <a:lstStyle>
            <a:lvl1pPr>
              <a:defRPr baseline="0">
                <a:solidFill>
                  <a:schemeClr val="accent1">
                    <a:lumMod val="50000"/>
                  </a:schemeClr>
                </a:solidFill>
              </a:defRPr>
            </a:lvl1pPr>
          </a:lstStyle>
          <a:p>
            <a:endParaRPr lang="en-US" dirty="0"/>
          </a:p>
        </p:txBody>
      </p:sp>
      <p:sp>
        <p:nvSpPr>
          <p:cNvPr id="6" name="Slide Number Placeholder 5"/>
          <p:cNvSpPr>
            <a:spLocks noGrp="1"/>
          </p:cNvSpPr>
          <p:nvPr>
            <p:ph type="sldNum" sz="quarter" idx="12"/>
          </p:nvPr>
        </p:nvSpPr>
        <p:spPr>
          <a:xfrm>
            <a:off x="9067218" y="6375679"/>
            <a:ext cx="2329723" cy="345796"/>
          </a:xfrm>
        </p:spPr>
        <p:txBody>
          <a:bodyPr/>
          <a:lstStyle>
            <a:lvl1pPr>
              <a:defRPr baseline="0">
                <a:solidFill>
                  <a:schemeClr val="accent1">
                    <a:lumMod val="50000"/>
                  </a:schemeClr>
                </a:solidFill>
              </a:defRPr>
            </a:lvl1pPr>
          </a:lstStyle>
          <a:p>
            <a:fld id="{6D22F896-40B5-4ADD-8801-0D06FADFA095}" type="slidenum">
              <a:rPr lang="en-US" smtClean="0"/>
              <a:t>‹#›</a:t>
            </a:fld>
            <a:endParaRPr lang="en-US" dirty="0"/>
          </a:p>
        </p:txBody>
      </p:sp>
      <p:sp>
        <p:nvSpPr>
          <p:cNvPr id="13" name="Rectangle 12" title="left edge border"/>
          <p:cNvSpPr/>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136555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5/30/2021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22251370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3242929" y="1073888"/>
            <a:ext cx="8187071" cy="4064627"/>
          </a:xfrm>
        </p:spPr>
        <p:txBody>
          <a:bodyPr anchor="b">
            <a:normAutofit/>
          </a:bodyPr>
          <a:lstStyle>
            <a:lvl1pPr>
              <a:defRPr sz="8400" spc="800"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3242930" y="5159781"/>
            <a:ext cx="7017488" cy="951135"/>
          </a:xfrm>
        </p:spPr>
        <p:txBody>
          <a:bodyPr>
            <a:normAutofit/>
          </a:bodyPr>
          <a:lstStyle>
            <a:lvl1pPr marL="0" indent="0">
              <a:lnSpc>
                <a:spcPct val="100000"/>
              </a:lnSpc>
              <a:buNone/>
              <a:defRPr sz="2000" b="1" i="0" cap="all" spc="400" baseline="0">
                <a:solidFill>
                  <a:schemeClr val="accent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3236546" y="6375679"/>
            <a:ext cx="1493947" cy="348462"/>
          </a:xfrm>
        </p:spPr>
        <p:txBody>
          <a:bodyPr/>
          <a:lstStyle>
            <a:lvl1pPr>
              <a:defRPr baseline="0">
                <a:solidFill>
                  <a:schemeClr val="tx2"/>
                </a:solidFill>
              </a:defRPr>
            </a:lvl1pPr>
          </a:lstStyle>
          <a:p>
            <a:fld id="{48A87A34-81AB-432B-8DAE-1953F412C126}" type="datetimeFigureOut">
              <a:rPr lang="en-US" smtClean="0"/>
              <a:pPr/>
              <a:t>5/30/2021</a:t>
            </a:fld>
            <a:endParaRPr lang="en-US" dirty="0"/>
          </a:p>
        </p:txBody>
      </p:sp>
      <p:sp>
        <p:nvSpPr>
          <p:cNvPr id="5" name="Footer Placeholder 4"/>
          <p:cNvSpPr>
            <a:spLocks noGrp="1"/>
          </p:cNvSpPr>
          <p:nvPr>
            <p:ph type="ftr" sz="quarter" idx="11"/>
          </p:nvPr>
        </p:nvSpPr>
        <p:spPr>
          <a:xfrm>
            <a:off x="5279064" y="6375679"/>
            <a:ext cx="4114800" cy="345796"/>
          </a:xfrm>
        </p:spPr>
        <p:txBody>
          <a:bodyPr/>
          <a:lstStyle>
            <a:lvl1pP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942434" y="6375679"/>
            <a:ext cx="1487566" cy="345796"/>
          </a:xfrm>
        </p:spPr>
        <p:txBody>
          <a:bodyPr/>
          <a:lstStyle>
            <a:lvl1pPr>
              <a:defRPr baseline="0">
                <a:solidFill>
                  <a:schemeClr val="tx2"/>
                </a:solidFill>
              </a:defRPr>
            </a:lvl1pPr>
          </a:lstStyle>
          <a:p>
            <a:fld id="{6D22F896-40B5-4ADD-8801-0D06FADFA095}" type="slidenum">
              <a:rPr lang="en-US" smtClean="0"/>
              <a:t>‹#›</a:t>
            </a:fld>
            <a:endParaRPr lang="en-US" dirty="0"/>
          </a:p>
        </p:txBody>
      </p:sp>
      <p:grpSp>
        <p:nvGrpSpPr>
          <p:cNvPr id="7" name="Group 6" title="left scallop shape"/>
          <p:cNvGrpSpPr/>
          <p:nvPr/>
        </p:nvGrpSpPr>
        <p:grpSpPr>
          <a:xfrm>
            <a:off x="0" y="0"/>
            <a:ext cx="2814638" cy="6858000"/>
            <a:chOff x="0" y="0"/>
            <a:chExt cx="2814638" cy="6858000"/>
          </a:xfrm>
        </p:grpSpPr>
        <p:sp>
          <p:nvSpPr>
            <p:cNvPr id="11" name="Freeform 6" title="left scallop shape"/>
            <p:cNvSpPr/>
            <p:nvPr/>
          </p:nvSpPr>
          <p:spPr bwMode="auto">
            <a:xfrm>
              <a:off x="0" y="0"/>
              <a:ext cx="2814638" cy="6858000"/>
            </a:xfrm>
            <a:custGeom>
              <a:avLst/>
              <a:gdLst/>
              <a:ahLst/>
              <a:cxnLst/>
              <a:rect l="0" t="0" r="r" b="b"/>
              <a:pathLst>
                <a:path w="1773" h="4320">
                  <a:moveTo>
                    <a:pt x="0" y="0"/>
                  </a:moveTo>
                  <a:lnTo>
                    <a:pt x="891" y="0"/>
                  </a:lnTo>
                  <a:lnTo>
                    <a:pt x="906" y="56"/>
                  </a:lnTo>
                  <a:lnTo>
                    <a:pt x="921" y="111"/>
                  </a:lnTo>
                  <a:lnTo>
                    <a:pt x="938" y="165"/>
                  </a:lnTo>
                  <a:lnTo>
                    <a:pt x="957" y="217"/>
                  </a:lnTo>
                  <a:lnTo>
                    <a:pt x="980" y="266"/>
                  </a:lnTo>
                  <a:lnTo>
                    <a:pt x="1007" y="312"/>
                  </a:lnTo>
                  <a:lnTo>
                    <a:pt x="1036" y="351"/>
                  </a:lnTo>
                  <a:lnTo>
                    <a:pt x="1069" y="387"/>
                  </a:lnTo>
                  <a:lnTo>
                    <a:pt x="1105" y="422"/>
                  </a:lnTo>
                  <a:lnTo>
                    <a:pt x="1145" y="456"/>
                  </a:lnTo>
                  <a:lnTo>
                    <a:pt x="1185" y="487"/>
                  </a:lnTo>
                  <a:lnTo>
                    <a:pt x="1227" y="520"/>
                  </a:lnTo>
                  <a:lnTo>
                    <a:pt x="1270" y="551"/>
                  </a:lnTo>
                  <a:lnTo>
                    <a:pt x="1311" y="584"/>
                  </a:lnTo>
                  <a:lnTo>
                    <a:pt x="1352" y="617"/>
                  </a:lnTo>
                  <a:lnTo>
                    <a:pt x="1390" y="651"/>
                  </a:lnTo>
                  <a:lnTo>
                    <a:pt x="1425" y="687"/>
                  </a:lnTo>
                  <a:lnTo>
                    <a:pt x="1456" y="725"/>
                  </a:lnTo>
                  <a:lnTo>
                    <a:pt x="1484" y="765"/>
                  </a:lnTo>
                  <a:lnTo>
                    <a:pt x="1505" y="808"/>
                  </a:lnTo>
                  <a:lnTo>
                    <a:pt x="1521" y="856"/>
                  </a:lnTo>
                  <a:lnTo>
                    <a:pt x="1530" y="907"/>
                  </a:lnTo>
                  <a:lnTo>
                    <a:pt x="1534" y="960"/>
                  </a:lnTo>
                  <a:lnTo>
                    <a:pt x="1534" y="1013"/>
                  </a:lnTo>
                  <a:lnTo>
                    <a:pt x="1530" y="1068"/>
                  </a:lnTo>
                  <a:lnTo>
                    <a:pt x="1523" y="1125"/>
                  </a:lnTo>
                  <a:lnTo>
                    <a:pt x="1515" y="1181"/>
                  </a:lnTo>
                  <a:lnTo>
                    <a:pt x="1508" y="1237"/>
                  </a:lnTo>
                  <a:lnTo>
                    <a:pt x="1501" y="1293"/>
                  </a:lnTo>
                  <a:lnTo>
                    <a:pt x="1496" y="1350"/>
                  </a:lnTo>
                  <a:lnTo>
                    <a:pt x="1494" y="1405"/>
                  </a:lnTo>
                  <a:lnTo>
                    <a:pt x="1497" y="1458"/>
                  </a:lnTo>
                  <a:lnTo>
                    <a:pt x="1504" y="1511"/>
                  </a:lnTo>
                  <a:lnTo>
                    <a:pt x="1517" y="1560"/>
                  </a:lnTo>
                  <a:lnTo>
                    <a:pt x="1535" y="1610"/>
                  </a:lnTo>
                  <a:lnTo>
                    <a:pt x="1557" y="1659"/>
                  </a:lnTo>
                  <a:lnTo>
                    <a:pt x="1583" y="1708"/>
                  </a:lnTo>
                  <a:lnTo>
                    <a:pt x="1611" y="1757"/>
                  </a:lnTo>
                  <a:lnTo>
                    <a:pt x="1640" y="1807"/>
                  </a:lnTo>
                  <a:lnTo>
                    <a:pt x="1669" y="1855"/>
                  </a:lnTo>
                  <a:lnTo>
                    <a:pt x="1696" y="1905"/>
                  </a:lnTo>
                  <a:lnTo>
                    <a:pt x="1721" y="1954"/>
                  </a:lnTo>
                  <a:lnTo>
                    <a:pt x="1742" y="2006"/>
                  </a:lnTo>
                  <a:lnTo>
                    <a:pt x="1759" y="2057"/>
                  </a:lnTo>
                  <a:lnTo>
                    <a:pt x="1769" y="2108"/>
                  </a:lnTo>
                  <a:lnTo>
                    <a:pt x="1773" y="2160"/>
                  </a:lnTo>
                  <a:lnTo>
                    <a:pt x="1769" y="2212"/>
                  </a:lnTo>
                  <a:lnTo>
                    <a:pt x="1759" y="2263"/>
                  </a:lnTo>
                  <a:lnTo>
                    <a:pt x="1742" y="2314"/>
                  </a:lnTo>
                  <a:lnTo>
                    <a:pt x="1721" y="2366"/>
                  </a:lnTo>
                  <a:lnTo>
                    <a:pt x="1696" y="2415"/>
                  </a:lnTo>
                  <a:lnTo>
                    <a:pt x="1669" y="2465"/>
                  </a:lnTo>
                  <a:lnTo>
                    <a:pt x="1640" y="2513"/>
                  </a:lnTo>
                  <a:lnTo>
                    <a:pt x="1611" y="2563"/>
                  </a:lnTo>
                  <a:lnTo>
                    <a:pt x="1583" y="2612"/>
                  </a:lnTo>
                  <a:lnTo>
                    <a:pt x="1557" y="2661"/>
                  </a:lnTo>
                  <a:lnTo>
                    <a:pt x="1535" y="2710"/>
                  </a:lnTo>
                  <a:lnTo>
                    <a:pt x="1517" y="2760"/>
                  </a:lnTo>
                  <a:lnTo>
                    <a:pt x="1504" y="2809"/>
                  </a:lnTo>
                  <a:lnTo>
                    <a:pt x="1497" y="2862"/>
                  </a:lnTo>
                  <a:lnTo>
                    <a:pt x="1494" y="2915"/>
                  </a:lnTo>
                  <a:lnTo>
                    <a:pt x="1496" y="2970"/>
                  </a:lnTo>
                  <a:lnTo>
                    <a:pt x="1501" y="3027"/>
                  </a:lnTo>
                  <a:lnTo>
                    <a:pt x="1508" y="3083"/>
                  </a:lnTo>
                  <a:lnTo>
                    <a:pt x="1515" y="3139"/>
                  </a:lnTo>
                  <a:lnTo>
                    <a:pt x="1523" y="3195"/>
                  </a:lnTo>
                  <a:lnTo>
                    <a:pt x="1530" y="3252"/>
                  </a:lnTo>
                  <a:lnTo>
                    <a:pt x="1534" y="3307"/>
                  </a:lnTo>
                  <a:lnTo>
                    <a:pt x="1534" y="3360"/>
                  </a:lnTo>
                  <a:lnTo>
                    <a:pt x="1530" y="3413"/>
                  </a:lnTo>
                  <a:lnTo>
                    <a:pt x="1521" y="3464"/>
                  </a:lnTo>
                  <a:lnTo>
                    <a:pt x="1505" y="3512"/>
                  </a:lnTo>
                  <a:lnTo>
                    <a:pt x="1484" y="3555"/>
                  </a:lnTo>
                  <a:lnTo>
                    <a:pt x="1456" y="3595"/>
                  </a:lnTo>
                  <a:lnTo>
                    <a:pt x="1425" y="3633"/>
                  </a:lnTo>
                  <a:lnTo>
                    <a:pt x="1390" y="3669"/>
                  </a:lnTo>
                  <a:lnTo>
                    <a:pt x="1352" y="3703"/>
                  </a:lnTo>
                  <a:lnTo>
                    <a:pt x="1311" y="3736"/>
                  </a:lnTo>
                  <a:lnTo>
                    <a:pt x="1270" y="3769"/>
                  </a:lnTo>
                  <a:lnTo>
                    <a:pt x="1227" y="3800"/>
                  </a:lnTo>
                  <a:lnTo>
                    <a:pt x="1185" y="3833"/>
                  </a:lnTo>
                  <a:lnTo>
                    <a:pt x="1145" y="3864"/>
                  </a:lnTo>
                  <a:lnTo>
                    <a:pt x="1105" y="3898"/>
                  </a:lnTo>
                  <a:lnTo>
                    <a:pt x="1069" y="3933"/>
                  </a:lnTo>
                  <a:lnTo>
                    <a:pt x="1036" y="3969"/>
                  </a:lnTo>
                  <a:lnTo>
                    <a:pt x="1007" y="4008"/>
                  </a:lnTo>
                  <a:lnTo>
                    <a:pt x="980" y="4054"/>
                  </a:lnTo>
                  <a:lnTo>
                    <a:pt x="957" y="4103"/>
                  </a:lnTo>
                  <a:lnTo>
                    <a:pt x="938" y="4155"/>
                  </a:lnTo>
                  <a:lnTo>
                    <a:pt x="921" y="4209"/>
                  </a:lnTo>
                  <a:lnTo>
                    <a:pt x="906" y="4264"/>
                  </a:lnTo>
                  <a:lnTo>
                    <a:pt x="891" y="4320"/>
                  </a:lnTo>
                  <a:lnTo>
                    <a:pt x="0" y="4320"/>
                  </a:lnTo>
                  <a:lnTo>
                    <a:pt x="0" y="0"/>
                  </a:lnTo>
                  <a:close/>
                </a:path>
              </a:pathLst>
            </a:custGeom>
            <a:solidFill>
              <a:schemeClr val="tx2"/>
            </a:solidFill>
            <a:ln w="0">
              <a:noFill/>
              <a:prstDash val="solid"/>
              <a:round/>
              <a:headEnd/>
              <a:tailEnd/>
            </a:ln>
          </p:spPr>
        </p:sp>
        <p:sp>
          <p:nvSpPr>
            <p:cNvPr id="16" name="Freeform 11" title="left scallop inline"/>
            <p:cNvSpPr/>
            <p:nvPr/>
          </p:nvSpPr>
          <p:spPr bwMode="auto">
            <a:xfrm>
              <a:off x="874382" y="0"/>
              <a:ext cx="1646238" cy="6858000"/>
            </a:xfrm>
            <a:custGeom>
              <a:avLst/>
              <a:gdLst/>
              <a:ahLst/>
              <a:cxnLst/>
              <a:rect l="0" t="0" r="r" b="b"/>
              <a:pathLst>
                <a:path w="1037" h="4320">
                  <a:moveTo>
                    <a:pt x="0" y="0"/>
                  </a:moveTo>
                  <a:lnTo>
                    <a:pt x="171" y="0"/>
                  </a:lnTo>
                  <a:lnTo>
                    <a:pt x="188" y="55"/>
                  </a:lnTo>
                  <a:lnTo>
                    <a:pt x="204" y="110"/>
                  </a:lnTo>
                  <a:lnTo>
                    <a:pt x="220" y="166"/>
                  </a:lnTo>
                  <a:lnTo>
                    <a:pt x="234" y="223"/>
                  </a:lnTo>
                  <a:lnTo>
                    <a:pt x="251" y="278"/>
                  </a:lnTo>
                  <a:lnTo>
                    <a:pt x="269" y="331"/>
                  </a:lnTo>
                  <a:lnTo>
                    <a:pt x="292" y="381"/>
                  </a:lnTo>
                  <a:lnTo>
                    <a:pt x="319" y="427"/>
                  </a:lnTo>
                  <a:lnTo>
                    <a:pt x="349" y="466"/>
                  </a:lnTo>
                  <a:lnTo>
                    <a:pt x="382" y="503"/>
                  </a:lnTo>
                  <a:lnTo>
                    <a:pt x="420" y="537"/>
                  </a:lnTo>
                  <a:lnTo>
                    <a:pt x="460" y="571"/>
                  </a:lnTo>
                  <a:lnTo>
                    <a:pt x="502" y="603"/>
                  </a:lnTo>
                  <a:lnTo>
                    <a:pt x="544" y="635"/>
                  </a:lnTo>
                  <a:lnTo>
                    <a:pt x="587" y="668"/>
                  </a:lnTo>
                  <a:lnTo>
                    <a:pt x="628" y="700"/>
                  </a:lnTo>
                  <a:lnTo>
                    <a:pt x="667" y="734"/>
                  </a:lnTo>
                  <a:lnTo>
                    <a:pt x="703" y="771"/>
                  </a:lnTo>
                  <a:lnTo>
                    <a:pt x="736" y="808"/>
                  </a:lnTo>
                  <a:lnTo>
                    <a:pt x="763" y="848"/>
                  </a:lnTo>
                  <a:lnTo>
                    <a:pt x="786" y="893"/>
                  </a:lnTo>
                  <a:lnTo>
                    <a:pt x="800" y="937"/>
                  </a:lnTo>
                  <a:lnTo>
                    <a:pt x="809" y="986"/>
                  </a:lnTo>
                  <a:lnTo>
                    <a:pt x="813" y="1034"/>
                  </a:lnTo>
                  <a:lnTo>
                    <a:pt x="812" y="1085"/>
                  </a:lnTo>
                  <a:lnTo>
                    <a:pt x="808" y="1136"/>
                  </a:lnTo>
                  <a:lnTo>
                    <a:pt x="803" y="1189"/>
                  </a:lnTo>
                  <a:lnTo>
                    <a:pt x="796" y="1242"/>
                  </a:lnTo>
                  <a:lnTo>
                    <a:pt x="788" y="1295"/>
                  </a:lnTo>
                  <a:lnTo>
                    <a:pt x="782" y="1348"/>
                  </a:lnTo>
                  <a:lnTo>
                    <a:pt x="778" y="1401"/>
                  </a:lnTo>
                  <a:lnTo>
                    <a:pt x="775" y="1452"/>
                  </a:lnTo>
                  <a:lnTo>
                    <a:pt x="778" y="1502"/>
                  </a:lnTo>
                  <a:lnTo>
                    <a:pt x="784" y="1551"/>
                  </a:lnTo>
                  <a:lnTo>
                    <a:pt x="797" y="1602"/>
                  </a:lnTo>
                  <a:lnTo>
                    <a:pt x="817" y="1652"/>
                  </a:lnTo>
                  <a:lnTo>
                    <a:pt x="841" y="1702"/>
                  </a:lnTo>
                  <a:lnTo>
                    <a:pt x="868" y="1752"/>
                  </a:lnTo>
                  <a:lnTo>
                    <a:pt x="896" y="1801"/>
                  </a:lnTo>
                  <a:lnTo>
                    <a:pt x="926" y="1851"/>
                  </a:lnTo>
                  <a:lnTo>
                    <a:pt x="953" y="1901"/>
                  </a:lnTo>
                  <a:lnTo>
                    <a:pt x="980" y="1952"/>
                  </a:lnTo>
                  <a:lnTo>
                    <a:pt x="1003" y="2003"/>
                  </a:lnTo>
                  <a:lnTo>
                    <a:pt x="1021" y="2054"/>
                  </a:lnTo>
                  <a:lnTo>
                    <a:pt x="1031" y="2106"/>
                  </a:lnTo>
                  <a:lnTo>
                    <a:pt x="1037" y="2160"/>
                  </a:lnTo>
                  <a:lnTo>
                    <a:pt x="1031" y="2214"/>
                  </a:lnTo>
                  <a:lnTo>
                    <a:pt x="1021" y="2266"/>
                  </a:lnTo>
                  <a:lnTo>
                    <a:pt x="1003" y="2317"/>
                  </a:lnTo>
                  <a:lnTo>
                    <a:pt x="980" y="2368"/>
                  </a:lnTo>
                  <a:lnTo>
                    <a:pt x="953" y="2419"/>
                  </a:lnTo>
                  <a:lnTo>
                    <a:pt x="926" y="2469"/>
                  </a:lnTo>
                  <a:lnTo>
                    <a:pt x="896" y="2519"/>
                  </a:lnTo>
                  <a:lnTo>
                    <a:pt x="868" y="2568"/>
                  </a:lnTo>
                  <a:lnTo>
                    <a:pt x="841" y="2618"/>
                  </a:lnTo>
                  <a:lnTo>
                    <a:pt x="817" y="2668"/>
                  </a:lnTo>
                  <a:lnTo>
                    <a:pt x="797" y="2718"/>
                  </a:lnTo>
                  <a:lnTo>
                    <a:pt x="784" y="2769"/>
                  </a:lnTo>
                  <a:lnTo>
                    <a:pt x="778" y="2818"/>
                  </a:lnTo>
                  <a:lnTo>
                    <a:pt x="775" y="2868"/>
                  </a:lnTo>
                  <a:lnTo>
                    <a:pt x="778" y="2919"/>
                  </a:lnTo>
                  <a:lnTo>
                    <a:pt x="782" y="2972"/>
                  </a:lnTo>
                  <a:lnTo>
                    <a:pt x="788" y="3025"/>
                  </a:lnTo>
                  <a:lnTo>
                    <a:pt x="796" y="3078"/>
                  </a:lnTo>
                  <a:lnTo>
                    <a:pt x="803" y="3131"/>
                  </a:lnTo>
                  <a:lnTo>
                    <a:pt x="808" y="3184"/>
                  </a:lnTo>
                  <a:lnTo>
                    <a:pt x="812" y="3235"/>
                  </a:lnTo>
                  <a:lnTo>
                    <a:pt x="813" y="3286"/>
                  </a:lnTo>
                  <a:lnTo>
                    <a:pt x="809" y="3334"/>
                  </a:lnTo>
                  <a:lnTo>
                    <a:pt x="800" y="3383"/>
                  </a:lnTo>
                  <a:lnTo>
                    <a:pt x="786" y="3427"/>
                  </a:lnTo>
                  <a:lnTo>
                    <a:pt x="763" y="3472"/>
                  </a:lnTo>
                  <a:lnTo>
                    <a:pt x="736" y="3512"/>
                  </a:lnTo>
                  <a:lnTo>
                    <a:pt x="703" y="3549"/>
                  </a:lnTo>
                  <a:lnTo>
                    <a:pt x="667" y="3586"/>
                  </a:lnTo>
                  <a:lnTo>
                    <a:pt x="628" y="3620"/>
                  </a:lnTo>
                  <a:lnTo>
                    <a:pt x="587" y="3652"/>
                  </a:lnTo>
                  <a:lnTo>
                    <a:pt x="544" y="3685"/>
                  </a:lnTo>
                  <a:lnTo>
                    <a:pt x="502" y="3717"/>
                  </a:lnTo>
                  <a:lnTo>
                    <a:pt x="460" y="3749"/>
                  </a:lnTo>
                  <a:lnTo>
                    <a:pt x="420" y="3783"/>
                  </a:lnTo>
                  <a:lnTo>
                    <a:pt x="382" y="3817"/>
                  </a:lnTo>
                  <a:lnTo>
                    <a:pt x="349" y="3854"/>
                  </a:lnTo>
                  <a:lnTo>
                    <a:pt x="319" y="3893"/>
                  </a:lnTo>
                  <a:lnTo>
                    <a:pt x="292" y="3939"/>
                  </a:lnTo>
                  <a:lnTo>
                    <a:pt x="269" y="3989"/>
                  </a:lnTo>
                  <a:lnTo>
                    <a:pt x="251" y="4042"/>
                  </a:lnTo>
                  <a:lnTo>
                    <a:pt x="234" y="4097"/>
                  </a:lnTo>
                  <a:lnTo>
                    <a:pt x="220" y="4154"/>
                  </a:lnTo>
                  <a:lnTo>
                    <a:pt x="204" y="4210"/>
                  </a:lnTo>
                  <a:lnTo>
                    <a:pt x="188" y="4265"/>
                  </a:lnTo>
                  <a:lnTo>
                    <a:pt x="171" y="4320"/>
                  </a:lnTo>
                  <a:lnTo>
                    <a:pt x="0" y="4320"/>
                  </a:lnTo>
                  <a:lnTo>
                    <a:pt x="17" y="4278"/>
                  </a:lnTo>
                  <a:lnTo>
                    <a:pt x="33" y="4232"/>
                  </a:lnTo>
                  <a:lnTo>
                    <a:pt x="46" y="4183"/>
                  </a:lnTo>
                  <a:lnTo>
                    <a:pt x="60" y="4131"/>
                  </a:lnTo>
                  <a:lnTo>
                    <a:pt x="75" y="4075"/>
                  </a:lnTo>
                  <a:lnTo>
                    <a:pt x="90" y="4019"/>
                  </a:lnTo>
                  <a:lnTo>
                    <a:pt x="109" y="3964"/>
                  </a:lnTo>
                  <a:lnTo>
                    <a:pt x="129" y="3909"/>
                  </a:lnTo>
                  <a:lnTo>
                    <a:pt x="156" y="3855"/>
                  </a:lnTo>
                  <a:lnTo>
                    <a:pt x="186" y="3804"/>
                  </a:lnTo>
                  <a:lnTo>
                    <a:pt x="222" y="3756"/>
                  </a:lnTo>
                  <a:lnTo>
                    <a:pt x="261" y="3713"/>
                  </a:lnTo>
                  <a:lnTo>
                    <a:pt x="303" y="3672"/>
                  </a:lnTo>
                  <a:lnTo>
                    <a:pt x="348" y="3634"/>
                  </a:lnTo>
                  <a:lnTo>
                    <a:pt x="392" y="3599"/>
                  </a:lnTo>
                  <a:lnTo>
                    <a:pt x="438" y="3565"/>
                  </a:lnTo>
                  <a:lnTo>
                    <a:pt x="482" y="3531"/>
                  </a:lnTo>
                  <a:lnTo>
                    <a:pt x="523" y="3499"/>
                  </a:lnTo>
                  <a:lnTo>
                    <a:pt x="561" y="3466"/>
                  </a:lnTo>
                  <a:lnTo>
                    <a:pt x="594" y="3434"/>
                  </a:lnTo>
                  <a:lnTo>
                    <a:pt x="620" y="3400"/>
                  </a:lnTo>
                  <a:lnTo>
                    <a:pt x="638" y="3367"/>
                  </a:lnTo>
                  <a:lnTo>
                    <a:pt x="647" y="3336"/>
                  </a:lnTo>
                  <a:lnTo>
                    <a:pt x="652" y="3302"/>
                  </a:lnTo>
                  <a:lnTo>
                    <a:pt x="654" y="3265"/>
                  </a:lnTo>
                  <a:lnTo>
                    <a:pt x="651" y="3224"/>
                  </a:lnTo>
                  <a:lnTo>
                    <a:pt x="647" y="3181"/>
                  </a:lnTo>
                  <a:lnTo>
                    <a:pt x="642" y="3137"/>
                  </a:lnTo>
                  <a:lnTo>
                    <a:pt x="637" y="3091"/>
                  </a:lnTo>
                  <a:lnTo>
                    <a:pt x="626" y="3021"/>
                  </a:lnTo>
                  <a:lnTo>
                    <a:pt x="620" y="2952"/>
                  </a:lnTo>
                  <a:lnTo>
                    <a:pt x="616" y="2881"/>
                  </a:lnTo>
                  <a:lnTo>
                    <a:pt x="618" y="2809"/>
                  </a:lnTo>
                  <a:lnTo>
                    <a:pt x="628" y="2737"/>
                  </a:lnTo>
                  <a:lnTo>
                    <a:pt x="642" y="2681"/>
                  </a:lnTo>
                  <a:lnTo>
                    <a:pt x="661" y="2626"/>
                  </a:lnTo>
                  <a:lnTo>
                    <a:pt x="685" y="2574"/>
                  </a:lnTo>
                  <a:lnTo>
                    <a:pt x="711" y="2521"/>
                  </a:lnTo>
                  <a:lnTo>
                    <a:pt x="739" y="2472"/>
                  </a:lnTo>
                  <a:lnTo>
                    <a:pt x="767" y="2423"/>
                  </a:lnTo>
                  <a:lnTo>
                    <a:pt x="791" y="2381"/>
                  </a:lnTo>
                  <a:lnTo>
                    <a:pt x="813" y="2342"/>
                  </a:lnTo>
                  <a:lnTo>
                    <a:pt x="834" y="2303"/>
                  </a:lnTo>
                  <a:lnTo>
                    <a:pt x="851" y="2265"/>
                  </a:lnTo>
                  <a:lnTo>
                    <a:pt x="864" y="2228"/>
                  </a:lnTo>
                  <a:lnTo>
                    <a:pt x="873" y="2194"/>
                  </a:lnTo>
                  <a:lnTo>
                    <a:pt x="876" y="2160"/>
                  </a:lnTo>
                  <a:lnTo>
                    <a:pt x="873" y="2126"/>
                  </a:lnTo>
                  <a:lnTo>
                    <a:pt x="864" y="2092"/>
                  </a:lnTo>
                  <a:lnTo>
                    <a:pt x="851" y="2055"/>
                  </a:lnTo>
                  <a:lnTo>
                    <a:pt x="834" y="2017"/>
                  </a:lnTo>
                  <a:lnTo>
                    <a:pt x="813" y="1978"/>
                  </a:lnTo>
                  <a:lnTo>
                    <a:pt x="791" y="1939"/>
                  </a:lnTo>
                  <a:lnTo>
                    <a:pt x="767" y="1897"/>
                  </a:lnTo>
                  <a:lnTo>
                    <a:pt x="739" y="1848"/>
                  </a:lnTo>
                  <a:lnTo>
                    <a:pt x="711" y="1799"/>
                  </a:lnTo>
                  <a:lnTo>
                    <a:pt x="685" y="1746"/>
                  </a:lnTo>
                  <a:lnTo>
                    <a:pt x="661" y="1694"/>
                  </a:lnTo>
                  <a:lnTo>
                    <a:pt x="642" y="1639"/>
                  </a:lnTo>
                  <a:lnTo>
                    <a:pt x="628" y="1583"/>
                  </a:lnTo>
                  <a:lnTo>
                    <a:pt x="618" y="1511"/>
                  </a:lnTo>
                  <a:lnTo>
                    <a:pt x="616" y="1439"/>
                  </a:lnTo>
                  <a:lnTo>
                    <a:pt x="620" y="1368"/>
                  </a:lnTo>
                  <a:lnTo>
                    <a:pt x="626" y="1299"/>
                  </a:lnTo>
                  <a:lnTo>
                    <a:pt x="637" y="1229"/>
                  </a:lnTo>
                  <a:lnTo>
                    <a:pt x="642" y="1183"/>
                  </a:lnTo>
                  <a:lnTo>
                    <a:pt x="647" y="1139"/>
                  </a:lnTo>
                  <a:lnTo>
                    <a:pt x="651" y="1096"/>
                  </a:lnTo>
                  <a:lnTo>
                    <a:pt x="654" y="1055"/>
                  </a:lnTo>
                  <a:lnTo>
                    <a:pt x="652" y="1018"/>
                  </a:lnTo>
                  <a:lnTo>
                    <a:pt x="647" y="984"/>
                  </a:lnTo>
                  <a:lnTo>
                    <a:pt x="638" y="953"/>
                  </a:lnTo>
                  <a:lnTo>
                    <a:pt x="620" y="920"/>
                  </a:lnTo>
                  <a:lnTo>
                    <a:pt x="594" y="886"/>
                  </a:lnTo>
                  <a:lnTo>
                    <a:pt x="561" y="854"/>
                  </a:lnTo>
                  <a:lnTo>
                    <a:pt x="523" y="822"/>
                  </a:lnTo>
                  <a:lnTo>
                    <a:pt x="482" y="789"/>
                  </a:lnTo>
                  <a:lnTo>
                    <a:pt x="438" y="755"/>
                  </a:lnTo>
                  <a:lnTo>
                    <a:pt x="392" y="721"/>
                  </a:lnTo>
                  <a:lnTo>
                    <a:pt x="348" y="686"/>
                  </a:lnTo>
                  <a:lnTo>
                    <a:pt x="303" y="648"/>
                  </a:lnTo>
                  <a:lnTo>
                    <a:pt x="261" y="607"/>
                  </a:lnTo>
                  <a:lnTo>
                    <a:pt x="222" y="564"/>
                  </a:lnTo>
                  <a:lnTo>
                    <a:pt x="186" y="516"/>
                  </a:lnTo>
                  <a:lnTo>
                    <a:pt x="156" y="465"/>
                  </a:lnTo>
                  <a:lnTo>
                    <a:pt x="129" y="411"/>
                  </a:lnTo>
                  <a:lnTo>
                    <a:pt x="109" y="356"/>
                  </a:lnTo>
                  <a:lnTo>
                    <a:pt x="90" y="301"/>
                  </a:lnTo>
                  <a:lnTo>
                    <a:pt x="75" y="245"/>
                  </a:lnTo>
                  <a:lnTo>
                    <a:pt x="60" y="189"/>
                  </a:lnTo>
                  <a:lnTo>
                    <a:pt x="46" y="137"/>
                  </a:lnTo>
                  <a:lnTo>
                    <a:pt x="33" y="88"/>
                  </a:lnTo>
                  <a:lnTo>
                    <a:pt x="17" y="42"/>
                  </a:lnTo>
                  <a:lnTo>
                    <a:pt x="0" y="0"/>
                  </a:lnTo>
                  <a:lnTo>
                    <a:pt x="0" y="0"/>
                  </a:lnTo>
                  <a:close/>
                </a:path>
              </a:pathLst>
            </a:custGeom>
            <a:solidFill>
              <a:schemeClr val="accent1"/>
            </a:solidFill>
            <a:ln w="0">
              <a:noFill/>
              <a:prstDash val="solid"/>
              <a:round/>
              <a:headEnd/>
              <a:tailEnd/>
            </a:ln>
          </p:spPr>
        </p:sp>
      </p:grpSp>
    </p:spTree>
    <p:extLst>
      <p:ext uri="{BB962C8B-B14F-4D97-AF65-F5344CB8AC3E}">
        <p14:creationId xmlns:p14="http://schemas.microsoft.com/office/powerpoint/2010/main" val="2623729772"/>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57300" y="2286000"/>
            <a:ext cx="4800600" cy="36195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47796" y="2286000"/>
            <a:ext cx="4800600" cy="36195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t>5/30/2021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49781639"/>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252728" y="381000"/>
            <a:ext cx="10172700" cy="149351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251678"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257300" y="2909102"/>
            <a:ext cx="4800600" cy="299639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633864" y="2199633"/>
            <a:ext cx="4800600" cy="632529"/>
          </a:xfrm>
        </p:spPr>
        <p:txBody>
          <a:bodyPr anchor="b">
            <a:noAutofit/>
          </a:bodyPr>
          <a:lstStyle>
            <a:lvl1pPr marL="0" indent="0">
              <a:lnSpc>
                <a:spcPct val="100000"/>
              </a:lnSpc>
              <a:buNone/>
              <a:defRPr sz="1900" b="1" cap="all" spc="200" baseline="0">
                <a:solidFill>
                  <a:schemeClr val="tx2"/>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633864" y="2909102"/>
            <a:ext cx="4800600" cy="299639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t>5/30/2021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743575076"/>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5/30/2021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92354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5/30/2021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597060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7"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2" name="Title 1"/>
          <p:cNvSpPr>
            <a:spLocks noGrp="1"/>
          </p:cNvSpPr>
          <p:nvPr>
            <p:ph type="title"/>
          </p:nvPr>
        </p:nvSpPr>
        <p:spPr>
          <a:xfrm>
            <a:off x="8337884" y="457199"/>
            <a:ext cx="3092115" cy="1196671"/>
          </a:xfrm>
        </p:spPr>
        <p:txBody>
          <a:bodyPr anchor="b">
            <a:normAutofit/>
          </a:bodyPr>
          <a:lstStyle>
            <a:lvl1pPr>
              <a:lnSpc>
                <a:spcPct val="100000"/>
              </a:lnSpc>
              <a:defRPr sz="1900" b="1" i="0" cap="all" spc="300" baseline="0">
                <a:solidFill>
                  <a:schemeClr val="accent1"/>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765051" y="920377"/>
            <a:ext cx="6158418" cy="498512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37885" y="1741336"/>
            <a:ext cx="3092115"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65051" y="6375679"/>
            <a:ext cx="1233355" cy="348462"/>
          </a:xfrm>
        </p:spPr>
        <p:txBody>
          <a:bodyPr/>
          <a:lstStyle/>
          <a:p>
            <a:fld id="{48A87A34-81AB-432B-8DAE-1953F412C126}" type="datetimeFigureOut">
              <a:rPr lang="en-US" smtClean="0"/>
              <a:t>5/30/2021</a:t>
            </a:fld>
            <a:endParaRPr lang="en-US" dirty="0"/>
          </a:p>
        </p:txBody>
      </p:sp>
      <p:sp>
        <p:nvSpPr>
          <p:cNvPr id="6" name="Footer Placeholder 5"/>
          <p:cNvSpPr>
            <a:spLocks noGrp="1"/>
          </p:cNvSpPr>
          <p:nvPr>
            <p:ph type="ftr" sz="quarter" idx="11"/>
          </p:nvPr>
        </p:nvSpPr>
        <p:spPr>
          <a:xfrm>
            <a:off x="2103620" y="6375679"/>
            <a:ext cx="3482179" cy="345796"/>
          </a:xfrm>
        </p:spPr>
        <p:txBody>
          <a:bodyPr/>
          <a:lstStyle/>
          <a:p>
            <a:endParaRPr lang="en-US" dirty="0"/>
          </a:p>
        </p:txBody>
      </p:sp>
      <p:sp>
        <p:nvSpPr>
          <p:cNvPr id="7" name="Slide Number Placeholder 6"/>
          <p:cNvSpPr>
            <a:spLocks noGrp="1"/>
          </p:cNvSpPr>
          <p:nvPr>
            <p:ph type="sldNum" sz="quarter" idx="12"/>
          </p:nvPr>
        </p:nvSpPr>
        <p:spPr>
          <a:xfrm>
            <a:off x="5691014" y="6375679"/>
            <a:ext cx="1232456" cy="345796"/>
          </a:xfrm>
        </p:spPr>
        <p:txBody>
          <a:bodyPr/>
          <a:lstStyle/>
          <a:p>
            <a:fld id="{6D22F896-40B5-4ADD-8801-0D06FADFA095}" type="slidenum">
              <a:rPr lang="en-US" smtClean="0"/>
              <a:t>‹#›</a:t>
            </a:fld>
            <a:endParaRPr lang="en-US" dirty="0"/>
          </a:p>
        </p:txBody>
      </p:sp>
      <p:sp>
        <p:nvSpPr>
          <p:cNvPr id="8" name="Rectangle 7"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251039830"/>
      </p:ext>
    </p:extLst>
  </p:cSld>
  <p:clrMapOvr>
    <a:masterClrMapping/>
  </p:clrMapOvr>
  <p:extLst>
    <p:ext uri="{DCECCB84-F9BA-43D5-87BE-67443E8EF086}">
      <p15:sldGuideLst xmlns:p15="http://schemas.microsoft.com/office/powerpoint/2012/main">
        <p15:guide id="1" orient="horz" pos="6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283464" y="0"/>
            <a:ext cx="7355585" cy="6857999"/>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11" name="Freeform 11" title="right scallop background shape"/>
          <p:cNvSpPr/>
          <p:nvPr/>
        </p:nvSpPr>
        <p:spPr bwMode="auto">
          <a:xfrm>
            <a:off x="7389812" y="0"/>
            <a:ext cx="4802188" cy="6858000"/>
          </a:xfrm>
          <a:custGeom>
            <a:avLst/>
            <a:gdLst/>
            <a:ahLst/>
            <a:cxnLst/>
            <a:rect l="0" t="0" r="r" b="b"/>
            <a:pathLst>
              <a:path w="3025" h="4320">
                <a:moveTo>
                  <a:pt x="0" y="0"/>
                </a:moveTo>
                <a:lnTo>
                  <a:pt x="3025" y="0"/>
                </a:lnTo>
                <a:lnTo>
                  <a:pt x="3025" y="4320"/>
                </a:lnTo>
                <a:lnTo>
                  <a:pt x="0" y="4320"/>
                </a:lnTo>
                <a:lnTo>
                  <a:pt x="3" y="4278"/>
                </a:lnTo>
                <a:lnTo>
                  <a:pt x="8" y="4243"/>
                </a:lnTo>
                <a:lnTo>
                  <a:pt x="14" y="4210"/>
                </a:lnTo>
                <a:lnTo>
                  <a:pt x="24" y="4183"/>
                </a:lnTo>
                <a:lnTo>
                  <a:pt x="34" y="4156"/>
                </a:lnTo>
                <a:lnTo>
                  <a:pt x="46" y="4133"/>
                </a:lnTo>
                <a:lnTo>
                  <a:pt x="58" y="4109"/>
                </a:lnTo>
                <a:lnTo>
                  <a:pt x="69" y="4087"/>
                </a:lnTo>
                <a:lnTo>
                  <a:pt x="80" y="4062"/>
                </a:lnTo>
                <a:lnTo>
                  <a:pt x="90" y="4036"/>
                </a:lnTo>
                <a:lnTo>
                  <a:pt x="99" y="4007"/>
                </a:lnTo>
                <a:lnTo>
                  <a:pt x="106" y="3976"/>
                </a:lnTo>
                <a:lnTo>
                  <a:pt x="111" y="3938"/>
                </a:lnTo>
                <a:lnTo>
                  <a:pt x="113" y="3895"/>
                </a:lnTo>
                <a:lnTo>
                  <a:pt x="111" y="3851"/>
                </a:lnTo>
                <a:lnTo>
                  <a:pt x="106" y="3815"/>
                </a:lnTo>
                <a:lnTo>
                  <a:pt x="99" y="3782"/>
                </a:lnTo>
                <a:lnTo>
                  <a:pt x="90" y="3752"/>
                </a:lnTo>
                <a:lnTo>
                  <a:pt x="80" y="3726"/>
                </a:lnTo>
                <a:lnTo>
                  <a:pt x="68" y="3702"/>
                </a:lnTo>
                <a:lnTo>
                  <a:pt x="56" y="3679"/>
                </a:lnTo>
                <a:lnTo>
                  <a:pt x="44" y="3655"/>
                </a:lnTo>
                <a:lnTo>
                  <a:pt x="33" y="3630"/>
                </a:lnTo>
                <a:lnTo>
                  <a:pt x="22" y="3604"/>
                </a:lnTo>
                <a:lnTo>
                  <a:pt x="13" y="3575"/>
                </a:lnTo>
                <a:lnTo>
                  <a:pt x="7" y="3542"/>
                </a:lnTo>
                <a:lnTo>
                  <a:pt x="1" y="3504"/>
                </a:lnTo>
                <a:lnTo>
                  <a:pt x="0" y="3461"/>
                </a:lnTo>
                <a:lnTo>
                  <a:pt x="1" y="3418"/>
                </a:lnTo>
                <a:lnTo>
                  <a:pt x="7" y="3380"/>
                </a:lnTo>
                <a:lnTo>
                  <a:pt x="13" y="3347"/>
                </a:lnTo>
                <a:lnTo>
                  <a:pt x="22" y="3319"/>
                </a:lnTo>
                <a:lnTo>
                  <a:pt x="33" y="3292"/>
                </a:lnTo>
                <a:lnTo>
                  <a:pt x="44" y="3267"/>
                </a:lnTo>
                <a:lnTo>
                  <a:pt x="56" y="3244"/>
                </a:lnTo>
                <a:lnTo>
                  <a:pt x="68" y="3222"/>
                </a:lnTo>
                <a:lnTo>
                  <a:pt x="80" y="3197"/>
                </a:lnTo>
                <a:lnTo>
                  <a:pt x="90" y="3171"/>
                </a:lnTo>
                <a:lnTo>
                  <a:pt x="99" y="3142"/>
                </a:lnTo>
                <a:lnTo>
                  <a:pt x="106" y="3109"/>
                </a:lnTo>
                <a:lnTo>
                  <a:pt x="111" y="3071"/>
                </a:lnTo>
                <a:lnTo>
                  <a:pt x="113" y="3028"/>
                </a:lnTo>
                <a:lnTo>
                  <a:pt x="111" y="2985"/>
                </a:lnTo>
                <a:lnTo>
                  <a:pt x="106" y="2947"/>
                </a:lnTo>
                <a:lnTo>
                  <a:pt x="99" y="2914"/>
                </a:lnTo>
                <a:lnTo>
                  <a:pt x="90" y="2885"/>
                </a:lnTo>
                <a:lnTo>
                  <a:pt x="80" y="2858"/>
                </a:lnTo>
                <a:lnTo>
                  <a:pt x="68" y="2834"/>
                </a:lnTo>
                <a:lnTo>
                  <a:pt x="44" y="2787"/>
                </a:lnTo>
                <a:lnTo>
                  <a:pt x="33" y="2763"/>
                </a:lnTo>
                <a:lnTo>
                  <a:pt x="22" y="2736"/>
                </a:lnTo>
                <a:lnTo>
                  <a:pt x="13" y="2707"/>
                </a:lnTo>
                <a:lnTo>
                  <a:pt x="7" y="2674"/>
                </a:lnTo>
                <a:lnTo>
                  <a:pt x="1" y="2637"/>
                </a:lnTo>
                <a:lnTo>
                  <a:pt x="0" y="2593"/>
                </a:lnTo>
                <a:lnTo>
                  <a:pt x="1" y="2550"/>
                </a:lnTo>
                <a:lnTo>
                  <a:pt x="7" y="2512"/>
                </a:lnTo>
                <a:lnTo>
                  <a:pt x="13" y="2479"/>
                </a:lnTo>
                <a:lnTo>
                  <a:pt x="22" y="2451"/>
                </a:lnTo>
                <a:lnTo>
                  <a:pt x="33" y="2424"/>
                </a:lnTo>
                <a:lnTo>
                  <a:pt x="44" y="2401"/>
                </a:lnTo>
                <a:lnTo>
                  <a:pt x="68" y="2354"/>
                </a:lnTo>
                <a:lnTo>
                  <a:pt x="80" y="2329"/>
                </a:lnTo>
                <a:lnTo>
                  <a:pt x="90" y="2303"/>
                </a:lnTo>
                <a:lnTo>
                  <a:pt x="99" y="2274"/>
                </a:lnTo>
                <a:lnTo>
                  <a:pt x="106" y="2241"/>
                </a:lnTo>
                <a:lnTo>
                  <a:pt x="111" y="2203"/>
                </a:lnTo>
                <a:lnTo>
                  <a:pt x="113" y="2159"/>
                </a:lnTo>
                <a:lnTo>
                  <a:pt x="111" y="2117"/>
                </a:lnTo>
                <a:lnTo>
                  <a:pt x="106" y="2079"/>
                </a:lnTo>
                <a:lnTo>
                  <a:pt x="99" y="2046"/>
                </a:lnTo>
                <a:lnTo>
                  <a:pt x="90" y="2017"/>
                </a:lnTo>
                <a:lnTo>
                  <a:pt x="80" y="1991"/>
                </a:lnTo>
                <a:lnTo>
                  <a:pt x="68" y="1966"/>
                </a:lnTo>
                <a:lnTo>
                  <a:pt x="56" y="1943"/>
                </a:lnTo>
                <a:lnTo>
                  <a:pt x="44" y="1919"/>
                </a:lnTo>
                <a:lnTo>
                  <a:pt x="33" y="1896"/>
                </a:lnTo>
                <a:lnTo>
                  <a:pt x="22" y="1869"/>
                </a:lnTo>
                <a:lnTo>
                  <a:pt x="13" y="1841"/>
                </a:lnTo>
                <a:lnTo>
                  <a:pt x="7" y="1807"/>
                </a:lnTo>
                <a:lnTo>
                  <a:pt x="1" y="1770"/>
                </a:lnTo>
                <a:lnTo>
                  <a:pt x="0" y="1727"/>
                </a:lnTo>
                <a:lnTo>
                  <a:pt x="1" y="1683"/>
                </a:lnTo>
                <a:lnTo>
                  <a:pt x="7" y="1646"/>
                </a:lnTo>
                <a:lnTo>
                  <a:pt x="13" y="1613"/>
                </a:lnTo>
                <a:lnTo>
                  <a:pt x="22" y="1583"/>
                </a:lnTo>
                <a:lnTo>
                  <a:pt x="33" y="1557"/>
                </a:lnTo>
                <a:lnTo>
                  <a:pt x="44" y="1533"/>
                </a:lnTo>
                <a:lnTo>
                  <a:pt x="56" y="1509"/>
                </a:lnTo>
                <a:lnTo>
                  <a:pt x="68" y="1486"/>
                </a:lnTo>
                <a:lnTo>
                  <a:pt x="80" y="1461"/>
                </a:lnTo>
                <a:lnTo>
                  <a:pt x="90" y="1435"/>
                </a:lnTo>
                <a:lnTo>
                  <a:pt x="99" y="1406"/>
                </a:lnTo>
                <a:lnTo>
                  <a:pt x="106" y="1373"/>
                </a:lnTo>
                <a:lnTo>
                  <a:pt x="111" y="1335"/>
                </a:lnTo>
                <a:lnTo>
                  <a:pt x="113" y="1292"/>
                </a:lnTo>
                <a:lnTo>
                  <a:pt x="111" y="1249"/>
                </a:lnTo>
                <a:lnTo>
                  <a:pt x="106" y="1211"/>
                </a:lnTo>
                <a:lnTo>
                  <a:pt x="99" y="1178"/>
                </a:lnTo>
                <a:lnTo>
                  <a:pt x="90" y="1149"/>
                </a:lnTo>
                <a:lnTo>
                  <a:pt x="80" y="1123"/>
                </a:lnTo>
                <a:lnTo>
                  <a:pt x="68" y="1098"/>
                </a:lnTo>
                <a:lnTo>
                  <a:pt x="56" y="1076"/>
                </a:lnTo>
                <a:lnTo>
                  <a:pt x="44" y="1053"/>
                </a:lnTo>
                <a:lnTo>
                  <a:pt x="33" y="1028"/>
                </a:lnTo>
                <a:lnTo>
                  <a:pt x="22" y="1001"/>
                </a:lnTo>
                <a:lnTo>
                  <a:pt x="13" y="973"/>
                </a:lnTo>
                <a:lnTo>
                  <a:pt x="7" y="940"/>
                </a:lnTo>
                <a:lnTo>
                  <a:pt x="1" y="902"/>
                </a:lnTo>
                <a:lnTo>
                  <a:pt x="0" y="859"/>
                </a:lnTo>
                <a:lnTo>
                  <a:pt x="1" y="816"/>
                </a:lnTo>
                <a:lnTo>
                  <a:pt x="7" y="778"/>
                </a:lnTo>
                <a:lnTo>
                  <a:pt x="13" y="745"/>
                </a:lnTo>
                <a:lnTo>
                  <a:pt x="22" y="716"/>
                </a:lnTo>
                <a:lnTo>
                  <a:pt x="33" y="690"/>
                </a:lnTo>
                <a:lnTo>
                  <a:pt x="44" y="665"/>
                </a:lnTo>
                <a:lnTo>
                  <a:pt x="56" y="641"/>
                </a:lnTo>
                <a:lnTo>
                  <a:pt x="68" y="618"/>
                </a:lnTo>
                <a:lnTo>
                  <a:pt x="80" y="594"/>
                </a:lnTo>
                <a:lnTo>
                  <a:pt x="90" y="568"/>
                </a:lnTo>
                <a:lnTo>
                  <a:pt x="99" y="538"/>
                </a:lnTo>
                <a:lnTo>
                  <a:pt x="106" y="505"/>
                </a:lnTo>
                <a:lnTo>
                  <a:pt x="111" y="469"/>
                </a:lnTo>
                <a:lnTo>
                  <a:pt x="113" y="424"/>
                </a:lnTo>
                <a:lnTo>
                  <a:pt x="111" y="382"/>
                </a:lnTo>
                <a:lnTo>
                  <a:pt x="106" y="344"/>
                </a:lnTo>
                <a:lnTo>
                  <a:pt x="99" y="313"/>
                </a:lnTo>
                <a:lnTo>
                  <a:pt x="90" y="284"/>
                </a:lnTo>
                <a:lnTo>
                  <a:pt x="80" y="258"/>
                </a:lnTo>
                <a:lnTo>
                  <a:pt x="69" y="233"/>
                </a:lnTo>
                <a:lnTo>
                  <a:pt x="58" y="211"/>
                </a:lnTo>
                <a:lnTo>
                  <a:pt x="46" y="187"/>
                </a:lnTo>
                <a:lnTo>
                  <a:pt x="34" y="164"/>
                </a:lnTo>
                <a:lnTo>
                  <a:pt x="24" y="137"/>
                </a:lnTo>
                <a:lnTo>
                  <a:pt x="14" y="110"/>
                </a:lnTo>
                <a:lnTo>
                  <a:pt x="8" y="77"/>
                </a:lnTo>
                <a:lnTo>
                  <a:pt x="3" y="42"/>
                </a:lnTo>
                <a:lnTo>
                  <a:pt x="0" y="0"/>
                </a:lnTo>
                <a:close/>
              </a:path>
            </a:pathLst>
          </a:custGeom>
          <a:solidFill>
            <a:schemeClr val="tx2"/>
          </a:solidFill>
          <a:ln w="0">
            <a:noFill/>
            <a:prstDash val="solid"/>
            <a:round/>
            <a:headEnd/>
            <a:tailEnd/>
          </a:ln>
        </p:spPr>
      </p:sp>
      <p:sp>
        <p:nvSpPr>
          <p:cNvPr id="12" name="Rectangle 11" title="left edge border"/>
          <p:cNvSpPr/>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337883" y="457200"/>
            <a:ext cx="3092117" cy="1196670"/>
          </a:xfrm>
        </p:spPr>
        <p:txBody>
          <a:bodyPr anchor="b">
            <a:normAutofit/>
          </a:bodyPr>
          <a:lstStyle>
            <a:lvl1pPr>
              <a:lnSpc>
                <a:spcPct val="100000"/>
              </a:lnSpc>
              <a:defRPr sz="1900" b="1" i="0" spc="300" baseline="0">
                <a:solidFill>
                  <a:schemeClr val="accent1"/>
                </a:solidFill>
                <a:latin typeface="+mn-lt"/>
              </a:defRPr>
            </a:lvl1pPr>
          </a:lstStyle>
          <a:p>
            <a:r>
              <a:rPr lang="en-US"/>
              <a:t>Click to edit Master title style</a:t>
            </a:r>
            <a:endParaRPr lang="en-US" dirty="0"/>
          </a:p>
        </p:txBody>
      </p:sp>
      <p:sp>
        <p:nvSpPr>
          <p:cNvPr id="4" name="Text Placeholder 3"/>
          <p:cNvSpPr>
            <a:spLocks noGrp="1"/>
          </p:cNvSpPr>
          <p:nvPr>
            <p:ph type="body" sz="half" idx="2"/>
          </p:nvPr>
        </p:nvSpPr>
        <p:spPr>
          <a:xfrm>
            <a:off x="8337883" y="1741336"/>
            <a:ext cx="3092117" cy="4164164"/>
          </a:xfrm>
        </p:spPr>
        <p:txBody>
          <a:bodyPr/>
          <a:lstStyle>
            <a:lvl1pPr marL="0" indent="0">
              <a:lnSpc>
                <a:spcPct val="120000"/>
              </a:lnSpc>
              <a:spcBef>
                <a:spcPts val="1200"/>
              </a:spcBef>
              <a:buNone/>
              <a:defRPr sz="1600" baseline="0">
                <a:solidFill>
                  <a:schemeClr val="bg2"/>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65950" y="6375679"/>
            <a:ext cx="1232456" cy="348462"/>
          </a:xfrm>
        </p:spPr>
        <p:txBody>
          <a:bodyPr/>
          <a:lstStyle/>
          <a:p>
            <a:fld id="{48A87A34-81AB-432B-8DAE-1953F412C126}" type="datetimeFigureOut">
              <a:rPr lang="en-US" smtClean="0"/>
              <a:t>5/30/2021</a:t>
            </a:fld>
            <a:endParaRPr lang="en-US" dirty="0"/>
          </a:p>
        </p:txBody>
      </p:sp>
      <p:sp>
        <p:nvSpPr>
          <p:cNvPr id="6" name="Footer Placeholder 5"/>
          <p:cNvSpPr>
            <a:spLocks noGrp="1"/>
          </p:cNvSpPr>
          <p:nvPr>
            <p:ph type="ftr" sz="quarter" idx="11"/>
          </p:nvPr>
        </p:nvSpPr>
        <p:spPr>
          <a:xfrm>
            <a:off x="2103621" y="6375679"/>
            <a:ext cx="3482178" cy="345796"/>
          </a:xfrm>
        </p:spPr>
        <p:txBody>
          <a:bodyPr/>
          <a:lstStyle/>
          <a:p>
            <a:endParaRPr lang="en-US" dirty="0"/>
          </a:p>
        </p:txBody>
      </p:sp>
      <p:sp>
        <p:nvSpPr>
          <p:cNvPr id="7" name="Slide Number Placeholder 6"/>
          <p:cNvSpPr>
            <a:spLocks noGrp="1"/>
          </p:cNvSpPr>
          <p:nvPr>
            <p:ph type="sldNum" sz="quarter" idx="12"/>
          </p:nvPr>
        </p:nvSpPr>
        <p:spPr>
          <a:xfrm>
            <a:off x="5687568" y="6375679"/>
            <a:ext cx="1234440" cy="345796"/>
          </a:xfrm>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1551449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5/30/2021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760016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066321" y="382386"/>
            <a:ext cx="1492132" cy="560040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57300" y="382385"/>
            <a:ext cx="8392585" cy="560040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5/30/2021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a:t>
            </a:fld>
            <a:endParaRPr lang="en-US" dirty="0"/>
          </a:p>
        </p:txBody>
      </p:sp>
    </p:spTree>
    <p:extLst>
      <p:ext uri="{BB962C8B-B14F-4D97-AF65-F5344CB8AC3E}">
        <p14:creationId xmlns:p14="http://schemas.microsoft.com/office/powerpoint/2010/main" val="13629832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1678" y="382385"/>
            <a:ext cx="10178322" cy="1492132"/>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251678" y="2286001"/>
            <a:ext cx="10178322" cy="3593591"/>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251678" y="6375679"/>
            <a:ext cx="2329722" cy="348462"/>
          </a:xfrm>
          <a:prstGeom prst="rect">
            <a:avLst/>
          </a:prstGeom>
        </p:spPr>
        <p:txBody>
          <a:bodyPr vert="horz" lIns="91440" tIns="45720" rIns="91440" bIns="45720" rtlCol="0" anchor="ctr"/>
          <a:lstStyle>
            <a:lvl1pPr algn="l">
              <a:defRPr sz="1200">
                <a:solidFill>
                  <a:schemeClr val="tx1">
                    <a:lumMod val="65000"/>
                    <a:lumOff val="35000"/>
                  </a:schemeClr>
                </a:solidFill>
              </a:defRPr>
            </a:lvl1pPr>
          </a:lstStyle>
          <a:p>
            <a:fld id="{48A87A34-81AB-432B-8DAE-1953F412C126}" type="datetimeFigureOut">
              <a:rPr lang="en-US" smtClean="0"/>
              <a:pPr/>
              <a:t>5/30/2021</a:t>
            </a:fld>
            <a:endParaRPr lang="en-US" dirty="0"/>
          </a:p>
        </p:txBody>
      </p:sp>
      <p:sp>
        <p:nvSpPr>
          <p:cNvPr id="5" name="Footer Placeholder 4"/>
          <p:cNvSpPr>
            <a:spLocks noGrp="1"/>
          </p:cNvSpPr>
          <p:nvPr>
            <p:ph type="ftr" sz="quarter" idx="3"/>
          </p:nvPr>
        </p:nvSpPr>
        <p:spPr>
          <a:xfrm>
            <a:off x="4038600" y="6375679"/>
            <a:ext cx="4114800" cy="345796"/>
          </a:xfrm>
          <a:prstGeom prst="rect">
            <a:avLst/>
          </a:prstGeom>
        </p:spPr>
        <p:txBody>
          <a:bodyPr vert="horz" lIns="91440" tIns="45720" rIns="91440" bIns="45720" rtlCol="0" anchor="ctr"/>
          <a:lstStyle>
            <a:lvl1pPr algn="ctr">
              <a:defRPr sz="1200">
                <a:solidFill>
                  <a:schemeClr val="tx1">
                    <a:lumMod val="65000"/>
                    <a:lumOff val="35000"/>
                  </a:schemeClr>
                </a:solidFill>
              </a:defRPr>
            </a:lvl1pPr>
          </a:lstStyle>
          <a:p>
            <a:endParaRPr lang="en-US" dirty="0"/>
          </a:p>
        </p:txBody>
      </p:sp>
      <p:sp>
        <p:nvSpPr>
          <p:cNvPr id="6" name="Slide Number Placeholder 5"/>
          <p:cNvSpPr>
            <a:spLocks noGrp="1"/>
          </p:cNvSpPr>
          <p:nvPr>
            <p:ph type="sldNum" sz="quarter" idx="4"/>
          </p:nvPr>
        </p:nvSpPr>
        <p:spPr>
          <a:xfrm>
            <a:off x="8610601" y="6375679"/>
            <a:ext cx="2819399" cy="345796"/>
          </a:xfrm>
          <a:prstGeom prst="rect">
            <a:avLst/>
          </a:prstGeom>
        </p:spPr>
        <p:txBody>
          <a:bodyPr vert="horz" lIns="91440" tIns="45720" rIns="91440" bIns="45720" rtlCol="0" anchor="ctr"/>
          <a:lstStyle>
            <a:lvl1pPr algn="r">
              <a:defRPr sz="1200">
                <a:solidFill>
                  <a:schemeClr val="tx1">
                    <a:lumMod val="65000"/>
                    <a:lumOff val="35000"/>
                  </a:schemeClr>
                </a:solidFill>
              </a:defRPr>
            </a:lvl1pPr>
          </a:lstStyle>
          <a:p>
            <a:fld id="{6D22F896-40B5-4ADD-8801-0D06FADFA095}" type="slidenum">
              <a:rPr lang="en-US" smtClean="0"/>
              <a:pPr/>
              <a:t>‹#›</a:t>
            </a:fld>
            <a:endParaRPr lang="en-US" dirty="0"/>
          </a:p>
        </p:txBody>
      </p:sp>
      <p:sp>
        <p:nvSpPr>
          <p:cNvPr id="11" name="Freeform 6" title="Left scallop edge"/>
          <p:cNvSpPr/>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12" name="Rectangle 11" title="right edge border"/>
          <p:cNvSpPr/>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202324543"/>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Lst>
  <p:txStyles>
    <p:titleStyle>
      <a:lvl1pPr algn="l" defTabSz="914400" rtl="0" eaLnBrk="1" latinLnBrk="0" hangingPunct="1">
        <a:lnSpc>
          <a:spcPct val="90000"/>
        </a:lnSpc>
        <a:spcBef>
          <a:spcPct val="0"/>
        </a:spcBef>
        <a:buNone/>
        <a:defRPr sz="5100" kern="1200" cap="all" spc="200" baseline="0">
          <a:solidFill>
            <a:schemeClr val="tx2"/>
          </a:solidFill>
          <a:latin typeface="+mj-lt"/>
          <a:ea typeface="+mj-ea"/>
          <a:cs typeface="+mj-cs"/>
        </a:defRPr>
      </a:lvl1pPr>
    </p:titleStyle>
    <p:bodyStyle>
      <a:lvl1pPr marL="228600" indent="-228600" algn="l" defTabSz="914400" rtl="0" eaLnBrk="1" latinLnBrk="0" hangingPunct="1">
        <a:lnSpc>
          <a:spcPct val="110000"/>
        </a:lnSpc>
        <a:spcBef>
          <a:spcPts val="700"/>
        </a:spcBef>
        <a:buClr>
          <a:schemeClr val="tx2"/>
        </a:buClr>
        <a:buFont typeface="Arial" panose="020B0604020202020204" pitchFamily="34" charset="0"/>
        <a:buChar char="•"/>
        <a:defRPr sz="2000" kern="1200">
          <a:solidFill>
            <a:schemeClr val="tx1">
              <a:lumMod val="65000"/>
              <a:lumOff val="35000"/>
            </a:schemeClr>
          </a:solidFill>
          <a:latin typeface="+mn-lt"/>
          <a:ea typeface="+mn-ea"/>
          <a:cs typeface="+mn-cs"/>
        </a:defRPr>
      </a:lvl1pPr>
      <a:lvl2pPr marL="685800" indent="-228600" algn="l" defTabSz="914400" rtl="0" eaLnBrk="1" latinLnBrk="0" hangingPunct="1">
        <a:lnSpc>
          <a:spcPct val="110000"/>
        </a:lnSpc>
        <a:spcBef>
          <a:spcPts val="700"/>
        </a:spcBef>
        <a:buClr>
          <a:schemeClr val="tx2"/>
        </a:buClr>
        <a:buFont typeface="Gill Sans MT" panose="020B0502020104020203" pitchFamily="34" charset="0"/>
        <a:buChar char="–"/>
        <a:defRPr sz="1800" kern="1200">
          <a:solidFill>
            <a:schemeClr val="tx1">
              <a:lumMod val="65000"/>
              <a:lumOff val="35000"/>
            </a:schemeClr>
          </a:solidFill>
          <a:latin typeface="+mn-lt"/>
          <a:ea typeface="+mn-ea"/>
          <a:cs typeface="+mn-cs"/>
        </a:defRPr>
      </a:lvl2pPr>
      <a:lvl3pPr marL="1143000" indent="-228600" algn="l" defTabSz="914400" rtl="0" eaLnBrk="1" latinLnBrk="0" hangingPunct="1">
        <a:lnSpc>
          <a:spcPct val="110000"/>
        </a:lnSpc>
        <a:spcBef>
          <a:spcPts val="700"/>
        </a:spcBef>
        <a:buClr>
          <a:schemeClr val="tx2"/>
        </a:buClr>
        <a:buFont typeface="Arial" panose="020B0604020202020204" pitchFamily="34" charset="0"/>
        <a:buChar char="•"/>
        <a:defRPr sz="1600" kern="1200">
          <a:solidFill>
            <a:schemeClr val="tx1">
              <a:lumMod val="65000"/>
              <a:lumOff val="35000"/>
            </a:schemeClr>
          </a:solidFill>
          <a:latin typeface="+mn-lt"/>
          <a:ea typeface="+mn-ea"/>
          <a:cs typeface="+mn-cs"/>
        </a:defRPr>
      </a:lvl3pPr>
      <a:lvl4pPr marL="16002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4pPr>
      <a:lvl5pPr marL="20574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110000"/>
        </a:lnSpc>
        <a:spcBef>
          <a:spcPts val="700"/>
        </a:spcBef>
        <a:buClr>
          <a:schemeClr val="tx2"/>
        </a:buClr>
        <a:buFont typeface="Gill Sans MT" panose="020B0502020104020203" pitchFamily="34" charset="0"/>
        <a:buChar char="–"/>
        <a:defRPr sz="1400" kern="1200" baseline="0">
          <a:solidFill>
            <a:schemeClr val="tx1">
              <a:lumMod val="65000"/>
              <a:lumOff val="35000"/>
            </a:schemeClr>
          </a:solidFill>
          <a:latin typeface="+mn-lt"/>
          <a:ea typeface="+mn-ea"/>
          <a:cs typeface="+mn-cs"/>
        </a:defRPr>
      </a:lvl8pPr>
      <a:lvl9pPr marL="3886200" indent="-228600" algn="l" defTabSz="914400" rtl="0" eaLnBrk="1" latinLnBrk="0" hangingPunct="1">
        <a:lnSpc>
          <a:spcPct val="110000"/>
        </a:lnSpc>
        <a:spcBef>
          <a:spcPts val="700"/>
        </a:spcBef>
        <a:buClr>
          <a:schemeClr val="tx2"/>
        </a:buClr>
        <a:buFont typeface="Arial" panose="020B0604020202020204" pitchFamily="34" charset="0"/>
        <a:buChar char="•"/>
        <a:defRPr sz="1400" kern="1200" baseline="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92">
          <p15:clr>
            <a:srgbClr val="F26B43"/>
          </p15:clr>
        </p15:guide>
        <p15:guide id="2" pos="7200">
          <p15:clr>
            <a:srgbClr val="F26B43"/>
          </p15:clr>
        </p15:guide>
        <p15:guide id="3" orient="horz" pos="4008">
          <p15:clr>
            <a:srgbClr val="F26B43"/>
          </p15:clr>
        </p15:guide>
        <p15:guide id="4" orient="horz" pos="1440">
          <p15:clr>
            <a:srgbClr val="F26B43"/>
          </p15:clr>
        </p15:guide>
        <p15:guide id="5" orient="horz" pos="3720">
          <p15:clr>
            <a:srgbClr val="F26B43"/>
          </p15:clr>
        </p15:guide>
        <p15:guide id="6" orient="horz" pos="2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7.png"/></Relationships>
</file>

<file path=ppt/slides/_rels/slide3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21.png"/><Relationship Id="rId4" Type="http://schemas.openxmlformats.org/officeDocument/2006/relationships/notesSlide" Target="../notesSlides/notesSlide1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8" Type="http://schemas.openxmlformats.org/officeDocument/2006/relationships/hyperlink" Target="https://www.opengl.org/resources/libraries/glut/" TargetMode="External"/><Relationship Id="rId3" Type="http://schemas.openxmlformats.org/officeDocument/2006/relationships/hyperlink" Target="http://www.videotutorialsrock.com/" TargetMode="External"/><Relationship Id="rId7" Type="http://schemas.openxmlformats.org/officeDocument/2006/relationships/hyperlink" Target="https://open.gl/" TargetMode="External"/><Relationship Id="rId2" Type="http://schemas.openxmlformats.org/officeDocument/2006/relationships/hyperlink" Target="https://learnopengl.com/" TargetMode="External"/><Relationship Id="rId1" Type="http://schemas.openxmlformats.org/officeDocument/2006/relationships/slideLayout" Target="../slideLayouts/slideLayout2.xml"/><Relationship Id="rId6" Type="http://schemas.openxmlformats.org/officeDocument/2006/relationships/hyperlink" Target="https://hackr.io/tutorials/learn-opengl" TargetMode="External"/><Relationship Id="rId5" Type="http://schemas.openxmlformats.org/officeDocument/2006/relationships/hyperlink" Target="https://www.coders-hub.com/2013/06/opengl-code-for-collision-detection.html#.WttVyIhubIV" TargetMode="External"/><Relationship Id="rId4" Type="http://schemas.openxmlformats.org/officeDocument/2006/relationships/hyperlink" Target="https://www.ntu.edu.sg/home/ehchua/programming/opengl/CG_Introduction.html" TargetMode="Externa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5CFD77-CCD0-478D-87AC-D3BB5A384069}"/>
              </a:ext>
            </a:extLst>
          </p:cNvPr>
          <p:cNvSpPr>
            <a:spLocks noGrp="1"/>
          </p:cNvSpPr>
          <p:nvPr>
            <p:ph type="ctrTitle"/>
          </p:nvPr>
        </p:nvSpPr>
        <p:spPr/>
        <p:txBody>
          <a:bodyPr>
            <a:normAutofit/>
          </a:bodyPr>
          <a:lstStyle/>
          <a:p>
            <a:r>
              <a:rPr lang="en-US" sz="5400" b="1" dirty="0">
                <a:solidFill>
                  <a:schemeClr val="tx1"/>
                </a:solidFill>
              </a:rPr>
              <a:t>Section 5</a:t>
            </a:r>
          </a:p>
        </p:txBody>
      </p:sp>
      <p:sp>
        <p:nvSpPr>
          <p:cNvPr id="3" name="Subtitle 2">
            <a:extLst>
              <a:ext uri="{FF2B5EF4-FFF2-40B4-BE49-F238E27FC236}">
                <a16:creationId xmlns:a16="http://schemas.microsoft.com/office/drawing/2014/main" id="{1F79FFEA-93F3-4B00-9FCE-42F2C2A23900}"/>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22088071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21" name="Freeform 6" title="scalloped circle">
            <a:extLst>
              <a:ext uri="{FF2B5EF4-FFF2-40B4-BE49-F238E27FC236}">
                <a16:creationId xmlns:a16="http://schemas.microsoft.com/office/drawing/2014/main" id="{AD447701-5C61-47D2-A56F-5FDCC544073C}"/>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2" name="Rectangle 12" title="left edge border">
            <a:extLst>
              <a:ext uri="{FF2B5EF4-FFF2-40B4-BE49-F238E27FC236}">
                <a16:creationId xmlns:a16="http://schemas.microsoft.com/office/drawing/2014/main" id="{7D5ECDCF-19AC-4A65-B2EF-088F9B7E1C62}"/>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pic>
        <p:nvPicPr>
          <p:cNvPr id="6" name="Picture 5">
            <a:extLst>
              <a:ext uri="{FF2B5EF4-FFF2-40B4-BE49-F238E27FC236}">
                <a16:creationId xmlns:a16="http://schemas.microsoft.com/office/drawing/2014/main" id="{36BA13CA-5B56-41A2-B41A-95970AA82306}"/>
              </a:ext>
            </a:extLst>
          </p:cNvPr>
          <p:cNvPicPr>
            <a:picLocks noChangeAspect="1"/>
          </p:cNvPicPr>
          <p:nvPr/>
        </p:nvPicPr>
        <p:blipFill rotWithShape="1">
          <a:blip r:embed="rId2">
            <a:grayscl/>
          </a:blip>
          <a:srcRect t="18797" b="22704"/>
          <a:stretch/>
        </p:blipFill>
        <p:spPr>
          <a:xfrm>
            <a:off x="20" y="-6691"/>
            <a:ext cx="12191980" cy="6864691"/>
          </a:xfrm>
          <a:prstGeom prst="rect">
            <a:avLst/>
          </a:prstGeom>
        </p:spPr>
      </p:pic>
      <p:sp>
        <p:nvSpPr>
          <p:cNvPr id="23" name="Rectangle 14">
            <a:extLst>
              <a:ext uri="{FF2B5EF4-FFF2-40B4-BE49-F238E27FC236}">
                <a16:creationId xmlns:a16="http://schemas.microsoft.com/office/drawing/2014/main" id="{1FC56533-4B43-4E02-8E46-A756D64EB2CD}"/>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12192000" cy="6858000"/>
          </a:xfrm>
          <a:prstGeom prst="rect">
            <a:avLst/>
          </a:prstGeom>
          <a:solidFill>
            <a:schemeClr val="tx2">
              <a:alpha val="75000"/>
            </a:schemeClr>
          </a:solidFill>
          <a:ln w="0">
            <a:noFill/>
            <a:prstDash val="solid"/>
            <a:round/>
            <a:headEnd/>
            <a:tailEnd/>
          </a:ln>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Gill Sans MT"/>
              <a:ea typeface="+mn-ea"/>
              <a:cs typeface="+mn-cs"/>
            </a:endParaRPr>
          </a:p>
        </p:txBody>
      </p:sp>
      <p:sp>
        <p:nvSpPr>
          <p:cNvPr id="24" name="Freeform 6" title="scalloped circle">
            <a:extLst>
              <a:ext uri="{FF2B5EF4-FFF2-40B4-BE49-F238E27FC236}">
                <a16:creationId xmlns:a16="http://schemas.microsoft.com/office/drawing/2014/main" id="{DB1A161C-8798-4759-A64D-0012D9DE4D7C}"/>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557016" y="630936"/>
            <a:ext cx="5235575" cy="5229225"/>
          </a:xfrm>
          <a:custGeom>
            <a:avLst/>
            <a:gdLst/>
            <a:ahLst/>
            <a:cxnLst/>
            <a:rect l="0" t="0" r="r" b="b"/>
            <a:pathLst>
              <a:path w="3298" h="3294">
                <a:moveTo>
                  <a:pt x="1649" y="0"/>
                </a:moveTo>
                <a:lnTo>
                  <a:pt x="1681" y="3"/>
                </a:lnTo>
                <a:lnTo>
                  <a:pt x="1712" y="11"/>
                </a:lnTo>
                <a:lnTo>
                  <a:pt x="1742" y="23"/>
                </a:lnTo>
                <a:lnTo>
                  <a:pt x="1773" y="38"/>
                </a:lnTo>
                <a:lnTo>
                  <a:pt x="1802" y="55"/>
                </a:lnTo>
                <a:lnTo>
                  <a:pt x="1832" y="73"/>
                </a:lnTo>
                <a:lnTo>
                  <a:pt x="1862" y="89"/>
                </a:lnTo>
                <a:lnTo>
                  <a:pt x="1892" y="105"/>
                </a:lnTo>
                <a:lnTo>
                  <a:pt x="1921" y="117"/>
                </a:lnTo>
                <a:lnTo>
                  <a:pt x="1953" y="125"/>
                </a:lnTo>
                <a:lnTo>
                  <a:pt x="1984" y="129"/>
                </a:lnTo>
                <a:lnTo>
                  <a:pt x="2017" y="129"/>
                </a:lnTo>
                <a:lnTo>
                  <a:pt x="2051" y="127"/>
                </a:lnTo>
                <a:lnTo>
                  <a:pt x="2085" y="123"/>
                </a:lnTo>
                <a:lnTo>
                  <a:pt x="2119" y="118"/>
                </a:lnTo>
                <a:lnTo>
                  <a:pt x="2153" y="114"/>
                </a:lnTo>
                <a:lnTo>
                  <a:pt x="2187" y="111"/>
                </a:lnTo>
                <a:lnTo>
                  <a:pt x="2219" y="112"/>
                </a:lnTo>
                <a:lnTo>
                  <a:pt x="2250" y="116"/>
                </a:lnTo>
                <a:lnTo>
                  <a:pt x="2280" y="125"/>
                </a:lnTo>
                <a:lnTo>
                  <a:pt x="2305" y="138"/>
                </a:lnTo>
                <a:lnTo>
                  <a:pt x="2329" y="155"/>
                </a:lnTo>
                <a:lnTo>
                  <a:pt x="2350" y="175"/>
                </a:lnTo>
                <a:lnTo>
                  <a:pt x="2371" y="198"/>
                </a:lnTo>
                <a:lnTo>
                  <a:pt x="2390" y="222"/>
                </a:lnTo>
                <a:lnTo>
                  <a:pt x="2409" y="247"/>
                </a:lnTo>
                <a:lnTo>
                  <a:pt x="2428" y="272"/>
                </a:lnTo>
                <a:lnTo>
                  <a:pt x="2447" y="296"/>
                </a:lnTo>
                <a:lnTo>
                  <a:pt x="2467" y="319"/>
                </a:lnTo>
                <a:lnTo>
                  <a:pt x="2490" y="339"/>
                </a:lnTo>
                <a:lnTo>
                  <a:pt x="2512" y="357"/>
                </a:lnTo>
                <a:lnTo>
                  <a:pt x="2537" y="371"/>
                </a:lnTo>
                <a:lnTo>
                  <a:pt x="2564" y="383"/>
                </a:lnTo>
                <a:lnTo>
                  <a:pt x="2593" y="393"/>
                </a:lnTo>
                <a:lnTo>
                  <a:pt x="2623" y="402"/>
                </a:lnTo>
                <a:lnTo>
                  <a:pt x="2653" y="410"/>
                </a:lnTo>
                <a:lnTo>
                  <a:pt x="2684" y="418"/>
                </a:lnTo>
                <a:lnTo>
                  <a:pt x="2713" y="427"/>
                </a:lnTo>
                <a:lnTo>
                  <a:pt x="2742" y="437"/>
                </a:lnTo>
                <a:lnTo>
                  <a:pt x="2769" y="449"/>
                </a:lnTo>
                <a:lnTo>
                  <a:pt x="2793" y="464"/>
                </a:lnTo>
                <a:lnTo>
                  <a:pt x="2815" y="482"/>
                </a:lnTo>
                <a:lnTo>
                  <a:pt x="2833" y="504"/>
                </a:lnTo>
                <a:lnTo>
                  <a:pt x="2848" y="528"/>
                </a:lnTo>
                <a:lnTo>
                  <a:pt x="2860" y="555"/>
                </a:lnTo>
                <a:lnTo>
                  <a:pt x="2870" y="584"/>
                </a:lnTo>
                <a:lnTo>
                  <a:pt x="2879" y="613"/>
                </a:lnTo>
                <a:lnTo>
                  <a:pt x="2887" y="644"/>
                </a:lnTo>
                <a:lnTo>
                  <a:pt x="2895" y="674"/>
                </a:lnTo>
                <a:lnTo>
                  <a:pt x="2904" y="704"/>
                </a:lnTo>
                <a:lnTo>
                  <a:pt x="2914" y="733"/>
                </a:lnTo>
                <a:lnTo>
                  <a:pt x="2926" y="760"/>
                </a:lnTo>
                <a:lnTo>
                  <a:pt x="2940" y="785"/>
                </a:lnTo>
                <a:lnTo>
                  <a:pt x="2958" y="807"/>
                </a:lnTo>
                <a:lnTo>
                  <a:pt x="2978" y="830"/>
                </a:lnTo>
                <a:lnTo>
                  <a:pt x="3001" y="850"/>
                </a:lnTo>
                <a:lnTo>
                  <a:pt x="3025" y="869"/>
                </a:lnTo>
                <a:lnTo>
                  <a:pt x="3051" y="888"/>
                </a:lnTo>
                <a:lnTo>
                  <a:pt x="3076" y="907"/>
                </a:lnTo>
                <a:lnTo>
                  <a:pt x="3100" y="926"/>
                </a:lnTo>
                <a:lnTo>
                  <a:pt x="3123" y="947"/>
                </a:lnTo>
                <a:lnTo>
                  <a:pt x="3143" y="968"/>
                </a:lnTo>
                <a:lnTo>
                  <a:pt x="3160" y="992"/>
                </a:lnTo>
                <a:lnTo>
                  <a:pt x="3173" y="1017"/>
                </a:lnTo>
                <a:lnTo>
                  <a:pt x="3182" y="1047"/>
                </a:lnTo>
                <a:lnTo>
                  <a:pt x="3186" y="1078"/>
                </a:lnTo>
                <a:lnTo>
                  <a:pt x="3187" y="1110"/>
                </a:lnTo>
                <a:lnTo>
                  <a:pt x="3184" y="1144"/>
                </a:lnTo>
                <a:lnTo>
                  <a:pt x="3180" y="1178"/>
                </a:lnTo>
                <a:lnTo>
                  <a:pt x="3175" y="1212"/>
                </a:lnTo>
                <a:lnTo>
                  <a:pt x="3171" y="1246"/>
                </a:lnTo>
                <a:lnTo>
                  <a:pt x="3169" y="1280"/>
                </a:lnTo>
                <a:lnTo>
                  <a:pt x="3169" y="1313"/>
                </a:lnTo>
                <a:lnTo>
                  <a:pt x="3173" y="1344"/>
                </a:lnTo>
                <a:lnTo>
                  <a:pt x="3181" y="1375"/>
                </a:lnTo>
                <a:lnTo>
                  <a:pt x="3193" y="1404"/>
                </a:lnTo>
                <a:lnTo>
                  <a:pt x="3209" y="1434"/>
                </a:lnTo>
                <a:lnTo>
                  <a:pt x="3225" y="1464"/>
                </a:lnTo>
                <a:lnTo>
                  <a:pt x="3243" y="1494"/>
                </a:lnTo>
                <a:lnTo>
                  <a:pt x="3260" y="1523"/>
                </a:lnTo>
                <a:lnTo>
                  <a:pt x="3275" y="1554"/>
                </a:lnTo>
                <a:lnTo>
                  <a:pt x="3287" y="1584"/>
                </a:lnTo>
                <a:lnTo>
                  <a:pt x="3295" y="1615"/>
                </a:lnTo>
                <a:lnTo>
                  <a:pt x="3298" y="1647"/>
                </a:lnTo>
                <a:lnTo>
                  <a:pt x="3295" y="1679"/>
                </a:lnTo>
                <a:lnTo>
                  <a:pt x="3287" y="1710"/>
                </a:lnTo>
                <a:lnTo>
                  <a:pt x="3275" y="1740"/>
                </a:lnTo>
                <a:lnTo>
                  <a:pt x="3260" y="1771"/>
                </a:lnTo>
                <a:lnTo>
                  <a:pt x="3243" y="1800"/>
                </a:lnTo>
                <a:lnTo>
                  <a:pt x="3225" y="1830"/>
                </a:lnTo>
                <a:lnTo>
                  <a:pt x="3209" y="1860"/>
                </a:lnTo>
                <a:lnTo>
                  <a:pt x="3193" y="1890"/>
                </a:lnTo>
                <a:lnTo>
                  <a:pt x="3181" y="1919"/>
                </a:lnTo>
                <a:lnTo>
                  <a:pt x="3173" y="1950"/>
                </a:lnTo>
                <a:lnTo>
                  <a:pt x="3169" y="1981"/>
                </a:lnTo>
                <a:lnTo>
                  <a:pt x="3169" y="2014"/>
                </a:lnTo>
                <a:lnTo>
                  <a:pt x="3171" y="2048"/>
                </a:lnTo>
                <a:lnTo>
                  <a:pt x="3175" y="2082"/>
                </a:lnTo>
                <a:lnTo>
                  <a:pt x="3180" y="2116"/>
                </a:lnTo>
                <a:lnTo>
                  <a:pt x="3184" y="2150"/>
                </a:lnTo>
                <a:lnTo>
                  <a:pt x="3187" y="2184"/>
                </a:lnTo>
                <a:lnTo>
                  <a:pt x="3186" y="2216"/>
                </a:lnTo>
                <a:lnTo>
                  <a:pt x="3182" y="2247"/>
                </a:lnTo>
                <a:lnTo>
                  <a:pt x="3173" y="2277"/>
                </a:lnTo>
                <a:lnTo>
                  <a:pt x="3160" y="2302"/>
                </a:lnTo>
                <a:lnTo>
                  <a:pt x="3143" y="2326"/>
                </a:lnTo>
                <a:lnTo>
                  <a:pt x="3123" y="2347"/>
                </a:lnTo>
                <a:lnTo>
                  <a:pt x="3100" y="2368"/>
                </a:lnTo>
                <a:lnTo>
                  <a:pt x="3076" y="2387"/>
                </a:lnTo>
                <a:lnTo>
                  <a:pt x="3051" y="2406"/>
                </a:lnTo>
                <a:lnTo>
                  <a:pt x="3025" y="2425"/>
                </a:lnTo>
                <a:lnTo>
                  <a:pt x="3001" y="2444"/>
                </a:lnTo>
                <a:lnTo>
                  <a:pt x="2978" y="2464"/>
                </a:lnTo>
                <a:lnTo>
                  <a:pt x="2958" y="2487"/>
                </a:lnTo>
                <a:lnTo>
                  <a:pt x="2940" y="2509"/>
                </a:lnTo>
                <a:lnTo>
                  <a:pt x="2926" y="2534"/>
                </a:lnTo>
                <a:lnTo>
                  <a:pt x="2914" y="2561"/>
                </a:lnTo>
                <a:lnTo>
                  <a:pt x="2904" y="2590"/>
                </a:lnTo>
                <a:lnTo>
                  <a:pt x="2895" y="2620"/>
                </a:lnTo>
                <a:lnTo>
                  <a:pt x="2887" y="2650"/>
                </a:lnTo>
                <a:lnTo>
                  <a:pt x="2879" y="2681"/>
                </a:lnTo>
                <a:lnTo>
                  <a:pt x="2870" y="2710"/>
                </a:lnTo>
                <a:lnTo>
                  <a:pt x="2860" y="2739"/>
                </a:lnTo>
                <a:lnTo>
                  <a:pt x="2848" y="2766"/>
                </a:lnTo>
                <a:lnTo>
                  <a:pt x="2833" y="2790"/>
                </a:lnTo>
                <a:lnTo>
                  <a:pt x="2815" y="2812"/>
                </a:lnTo>
                <a:lnTo>
                  <a:pt x="2793" y="2830"/>
                </a:lnTo>
                <a:lnTo>
                  <a:pt x="2769" y="2845"/>
                </a:lnTo>
                <a:lnTo>
                  <a:pt x="2742" y="2857"/>
                </a:lnTo>
                <a:lnTo>
                  <a:pt x="2713" y="2867"/>
                </a:lnTo>
                <a:lnTo>
                  <a:pt x="2684" y="2876"/>
                </a:lnTo>
                <a:lnTo>
                  <a:pt x="2653" y="2884"/>
                </a:lnTo>
                <a:lnTo>
                  <a:pt x="2623" y="2892"/>
                </a:lnTo>
                <a:lnTo>
                  <a:pt x="2593" y="2901"/>
                </a:lnTo>
                <a:lnTo>
                  <a:pt x="2564" y="2911"/>
                </a:lnTo>
                <a:lnTo>
                  <a:pt x="2537" y="2923"/>
                </a:lnTo>
                <a:lnTo>
                  <a:pt x="2512" y="2937"/>
                </a:lnTo>
                <a:lnTo>
                  <a:pt x="2490" y="2955"/>
                </a:lnTo>
                <a:lnTo>
                  <a:pt x="2467" y="2975"/>
                </a:lnTo>
                <a:lnTo>
                  <a:pt x="2447" y="2998"/>
                </a:lnTo>
                <a:lnTo>
                  <a:pt x="2428" y="3022"/>
                </a:lnTo>
                <a:lnTo>
                  <a:pt x="2409" y="3047"/>
                </a:lnTo>
                <a:lnTo>
                  <a:pt x="2390" y="3072"/>
                </a:lnTo>
                <a:lnTo>
                  <a:pt x="2371" y="3096"/>
                </a:lnTo>
                <a:lnTo>
                  <a:pt x="2350" y="3119"/>
                </a:lnTo>
                <a:lnTo>
                  <a:pt x="2329" y="3139"/>
                </a:lnTo>
                <a:lnTo>
                  <a:pt x="2305" y="3156"/>
                </a:lnTo>
                <a:lnTo>
                  <a:pt x="2280" y="3169"/>
                </a:lnTo>
                <a:lnTo>
                  <a:pt x="2250" y="3178"/>
                </a:lnTo>
                <a:lnTo>
                  <a:pt x="2219" y="3182"/>
                </a:lnTo>
                <a:lnTo>
                  <a:pt x="2187" y="3183"/>
                </a:lnTo>
                <a:lnTo>
                  <a:pt x="2153" y="3180"/>
                </a:lnTo>
                <a:lnTo>
                  <a:pt x="2119" y="3176"/>
                </a:lnTo>
                <a:lnTo>
                  <a:pt x="2085" y="3171"/>
                </a:lnTo>
                <a:lnTo>
                  <a:pt x="2051" y="3167"/>
                </a:lnTo>
                <a:lnTo>
                  <a:pt x="2017" y="3165"/>
                </a:lnTo>
                <a:lnTo>
                  <a:pt x="1984" y="3165"/>
                </a:lnTo>
                <a:lnTo>
                  <a:pt x="1953" y="3169"/>
                </a:lnTo>
                <a:lnTo>
                  <a:pt x="1921" y="3177"/>
                </a:lnTo>
                <a:lnTo>
                  <a:pt x="1892" y="3189"/>
                </a:lnTo>
                <a:lnTo>
                  <a:pt x="1862" y="3205"/>
                </a:lnTo>
                <a:lnTo>
                  <a:pt x="1832" y="3221"/>
                </a:lnTo>
                <a:lnTo>
                  <a:pt x="1802" y="3239"/>
                </a:lnTo>
                <a:lnTo>
                  <a:pt x="1773" y="3256"/>
                </a:lnTo>
                <a:lnTo>
                  <a:pt x="1742" y="3271"/>
                </a:lnTo>
                <a:lnTo>
                  <a:pt x="1712" y="3283"/>
                </a:lnTo>
                <a:lnTo>
                  <a:pt x="1681" y="3291"/>
                </a:lnTo>
                <a:lnTo>
                  <a:pt x="1649" y="3294"/>
                </a:lnTo>
                <a:lnTo>
                  <a:pt x="1617" y="3291"/>
                </a:lnTo>
                <a:lnTo>
                  <a:pt x="1586" y="3283"/>
                </a:lnTo>
                <a:lnTo>
                  <a:pt x="1556" y="3271"/>
                </a:lnTo>
                <a:lnTo>
                  <a:pt x="1525" y="3256"/>
                </a:lnTo>
                <a:lnTo>
                  <a:pt x="1496" y="3239"/>
                </a:lnTo>
                <a:lnTo>
                  <a:pt x="1466" y="3221"/>
                </a:lnTo>
                <a:lnTo>
                  <a:pt x="1436" y="3205"/>
                </a:lnTo>
                <a:lnTo>
                  <a:pt x="1406" y="3189"/>
                </a:lnTo>
                <a:lnTo>
                  <a:pt x="1376" y="3177"/>
                </a:lnTo>
                <a:lnTo>
                  <a:pt x="1345" y="3169"/>
                </a:lnTo>
                <a:lnTo>
                  <a:pt x="1314" y="3165"/>
                </a:lnTo>
                <a:lnTo>
                  <a:pt x="1281" y="3165"/>
                </a:lnTo>
                <a:lnTo>
                  <a:pt x="1247" y="3167"/>
                </a:lnTo>
                <a:lnTo>
                  <a:pt x="1213" y="3171"/>
                </a:lnTo>
                <a:lnTo>
                  <a:pt x="1179" y="3176"/>
                </a:lnTo>
                <a:lnTo>
                  <a:pt x="1145" y="3180"/>
                </a:lnTo>
                <a:lnTo>
                  <a:pt x="1111" y="3183"/>
                </a:lnTo>
                <a:lnTo>
                  <a:pt x="1079" y="3182"/>
                </a:lnTo>
                <a:lnTo>
                  <a:pt x="1048" y="3178"/>
                </a:lnTo>
                <a:lnTo>
                  <a:pt x="1018" y="3169"/>
                </a:lnTo>
                <a:lnTo>
                  <a:pt x="993" y="3156"/>
                </a:lnTo>
                <a:lnTo>
                  <a:pt x="969" y="3139"/>
                </a:lnTo>
                <a:lnTo>
                  <a:pt x="948" y="3119"/>
                </a:lnTo>
                <a:lnTo>
                  <a:pt x="927" y="3096"/>
                </a:lnTo>
                <a:lnTo>
                  <a:pt x="908" y="3072"/>
                </a:lnTo>
                <a:lnTo>
                  <a:pt x="889" y="3047"/>
                </a:lnTo>
                <a:lnTo>
                  <a:pt x="870" y="3022"/>
                </a:lnTo>
                <a:lnTo>
                  <a:pt x="851" y="2998"/>
                </a:lnTo>
                <a:lnTo>
                  <a:pt x="831" y="2975"/>
                </a:lnTo>
                <a:lnTo>
                  <a:pt x="808" y="2955"/>
                </a:lnTo>
                <a:lnTo>
                  <a:pt x="786" y="2937"/>
                </a:lnTo>
                <a:lnTo>
                  <a:pt x="761" y="2923"/>
                </a:lnTo>
                <a:lnTo>
                  <a:pt x="734" y="2911"/>
                </a:lnTo>
                <a:lnTo>
                  <a:pt x="705" y="2901"/>
                </a:lnTo>
                <a:lnTo>
                  <a:pt x="675" y="2892"/>
                </a:lnTo>
                <a:lnTo>
                  <a:pt x="645" y="2884"/>
                </a:lnTo>
                <a:lnTo>
                  <a:pt x="614" y="2876"/>
                </a:lnTo>
                <a:lnTo>
                  <a:pt x="585" y="2867"/>
                </a:lnTo>
                <a:lnTo>
                  <a:pt x="556" y="2857"/>
                </a:lnTo>
                <a:lnTo>
                  <a:pt x="529" y="2845"/>
                </a:lnTo>
                <a:lnTo>
                  <a:pt x="505" y="2830"/>
                </a:lnTo>
                <a:lnTo>
                  <a:pt x="483" y="2812"/>
                </a:lnTo>
                <a:lnTo>
                  <a:pt x="465" y="2790"/>
                </a:lnTo>
                <a:lnTo>
                  <a:pt x="450" y="2766"/>
                </a:lnTo>
                <a:lnTo>
                  <a:pt x="438" y="2739"/>
                </a:lnTo>
                <a:lnTo>
                  <a:pt x="428" y="2710"/>
                </a:lnTo>
                <a:lnTo>
                  <a:pt x="419" y="2681"/>
                </a:lnTo>
                <a:lnTo>
                  <a:pt x="411" y="2650"/>
                </a:lnTo>
                <a:lnTo>
                  <a:pt x="403" y="2620"/>
                </a:lnTo>
                <a:lnTo>
                  <a:pt x="394" y="2590"/>
                </a:lnTo>
                <a:lnTo>
                  <a:pt x="384" y="2561"/>
                </a:lnTo>
                <a:lnTo>
                  <a:pt x="372" y="2534"/>
                </a:lnTo>
                <a:lnTo>
                  <a:pt x="358" y="2509"/>
                </a:lnTo>
                <a:lnTo>
                  <a:pt x="340" y="2487"/>
                </a:lnTo>
                <a:lnTo>
                  <a:pt x="320" y="2464"/>
                </a:lnTo>
                <a:lnTo>
                  <a:pt x="297" y="2444"/>
                </a:lnTo>
                <a:lnTo>
                  <a:pt x="272" y="2425"/>
                </a:lnTo>
                <a:lnTo>
                  <a:pt x="247" y="2406"/>
                </a:lnTo>
                <a:lnTo>
                  <a:pt x="222" y="2387"/>
                </a:lnTo>
                <a:lnTo>
                  <a:pt x="198" y="2368"/>
                </a:lnTo>
                <a:lnTo>
                  <a:pt x="175" y="2347"/>
                </a:lnTo>
                <a:lnTo>
                  <a:pt x="155" y="2326"/>
                </a:lnTo>
                <a:lnTo>
                  <a:pt x="138" y="2302"/>
                </a:lnTo>
                <a:lnTo>
                  <a:pt x="125" y="2277"/>
                </a:lnTo>
                <a:lnTo>
                  <a:pt x="116" y="2247"/>
                </a:lnTo>
                <a:lnTo>
                  <a:pt x="112" y="2216"/>
                </a:lnTo>
                <a:lnTo>
                  <a:pt x="111" y="2184"/>
                </a:lnTo>
                <a:lnTo>
                  <a:pt x="114" y="2150"/>
                </a:lnTo>
                <a:lnTo>
                  <a:pt x="118" y="2116"/>
                </a:lnTo>
                <a:lnTo>
                  <a:pt x="123" y="2082"/>
                </a:lnTo>
                <a:lnTo>
                  <a:pt x="127" y="2048"/>
                </a:lnTo>
                <a:lnTo>
                  <a:pt x="129" y="2014"/>
                </a:lnTo>
                <a:lnTo>
                  <a:pt x="129" y="1981"/>
                </a:lnTo>
                <a:lnTo>
                  <a:pt x="125" y="1950"/>
                </a:lnTo>
                <a:lnTo>
                  <a:pt x="117" y="1919"/>
                </a:lnTo>
                <a:lnTo>
                  <a:pt x="105" y="1890"/>
                </a:lnTo>
                <a:lnTo>
                  <a:pt x="90" y="1860"/>
                </a:lnTo>
                <a:lnTo>
                  <a:pt x="73" y="1830"/>
                </a:lnTo>
                <a:lnTo>
                  <a:pt x="55" y="1800"/>
                </a:lnTo>
                <a:lnTo>
                  <a:pt x="38" y="1771"/>
                </a:lnTo>
                <a:lnTo>
                  <a:pt x="23" y="1740"/>
                </a:lnTo>
                <a:lnTo>
                  <a:pt x="11" y="1710"/>
                </a:lnTo>
                <a:lnTo>
                  <a:pt x="3" y="1679"/>
                </a:lnTo>
                <a:lnTo>
                  <a:pt x="0" y="1647"/>
                </a:lnTo>
                <a:lnTo>
                  <a:pt x="3" y="1615"/>
                </a:lnTo>
                <a:lnTo>
                  <a:pt x="11" y="1584"/>
                </a:lnTo>
                <a:lnTo>
                  <a:pt x="23" y="1554"/>
                </a:lnTo>
                <a:lnTo>
                  <a:pt x="38" y="1523"/>
                </a:lnTo>
                <a:lnTo>
                  <a:pt x="55" y="1494"/>
                </a:lnTo>
                <a:lnTo>
                  <a:pt x="73" y="1464"/>
                </a:lnTo>
                <a:lnTo>
                  <a:pt x="90" y="1434"/>
                </a:lnTo>
                <a:lnTo>
                  <a:pt x="105" y="1404"/>
                </a:lnTo>
                <a:lnTo>
                  <a:pt x="117" y="1375"/>
                </a:lnTo>
                <a:lnTo>
                  <a:pt x="125" y="1344"/>
                </a:lnTo>
                <a:lnTo>
                  <a:pt x="129" y="1313"/>
                </a:lnTo>
                <a:lnTo>
                  <a:pt x="129" y="1280"/>
                </a:lnTo>
                <a:lnTo>
                  <a:pt x="127" y="1246"/>
                </a:lnTo>
                <a:lnTo>
                  <a:pt x="123" y="1212"/>
                </a:lnTo>
                <a:lnTo>
                  <a:pt x="118" y="1178"/>
                </a:lnTo>
                <a:lnTo>
                  <a:pt x="114" y="1144"/>
                </a:lnTo>
                <a:lnTo>
                  <a:pt x="111" y="1110"/>
                </a:lnTo>
                <a:lnTo>
                  <a:pt x="112" y="1078"/>
                </a:lnTo>
                <a:lnTo>
                  <a:pt x="116" y="1047"/>
                </a:lnTo>
                <a:lnTo>
                  <a:pt x="125" y="1017"/>
                </a:lnTo>
                <a:lnTo>
                  <a:pt x="138" y="992"/>
                </a:lnTo>
                <a:lnTo>
                  <a:pt x="155" y="968"/>
                </a:lnTo>
                <a:lnTo>
                  <a:pt x="175" y="947"/>
                </a:lnTo>
                <a:lnTo>
                  <a:pt x="198" y="926"/>
                </a:lnTo>
                <a:lnTo>
                  <a:pt x="222" y="907"/>
                </a:lnTo>
                <a:lnTo>
                  <a:pt x="247" y="888"/>
                </a:lnTo>
                <a:lnTo>
                  <a:pt x="272" y="869"/>
                </a:lnTo>
                <a:lnTo>
                  <a:pt x="297" y="850"/>
                </a:lnTo>
                <a:lnTo>
                  <a:pt x="320" y="830"/>
                </a:lnTo>
                <a:lnTo>
                  <a:pt x="340" y="807"/>
                </a:lnTo>
                <a:lnTo>
                  <a:pt x="358" y="785"/>
                </a:lnTo>
                <a:lnTo>
                  <a:pt x="372" y="760"/>
                </a:lnTo>
                <a:lnTo>
                  <a:pt x="384" y="733"/>
                </a:lnTo>
                <a:lnTo>
                  <a:pt x="394" y="704"/>
                </a:lnTo>
                <a:lnTo>
                  <a:pt x="403" y="674"/>
                </a:lnTo>
                <a:lnTo>
                  <a:pt x="411" y="644"/>
                </a:lnTo>
                <a:lnTo>
                  <a:pt x="419" y="613"/>
                </a:lnTo>
                <a:lnTo>
                  <a:pt x="428" y="584"/>
                </a:lnTo>
                <a:lnTo>
                  <a:pt x="438" y="555"/>
                </a:lnTo>
                <a:lnTo>
                  <a:pt x="450" y="528"/>
                </a:lnTo>
                <a:lnTo>
                  <a:pt x="465" y="504"/>
                </a:lnTo>
                <a:lnTo>
                  <a:pt x="483" y="482"/>
                </a:lnTo>
                <a:lnTo>
                  <a:pt x="505" y="464"/>
                </a:lnTo>
                <a:lnTo>
                  <a:pt x="529" y="449"/>
                </a:lnTo>
                <a:lnTo>
                  <a:pt x="556" y="437"/>
                </a:lnTo>
                <a:lnTo>
                  <a:pt x="585" y="427"/>
                </a:lnTo>
                <a:lnTo>
                  <a:pt x="614" y="418"/>
                </a:lnTo>
                <a:lnTo>
                  <a:pt x="645" y="410"/>
                </a:lnTo>
                <a:lnTo>
                  <a:pt x="675" y="402"/>
                </a:lnTo>
                <a:lnTo>
                  <a:pt x="705" y="393"/>
                </a:lnTo>
                <a:lnTo>
                  <a:pt x="734" y="383"/>
                </a:lnTo>
                <a:lnTo>
                  <a:pt x="761" y="371"/>
                </a:lnTo>
                <a:lnTo>
                  <a:pt x="786" y="357"/>
                </a:lnTo>
                <a:lnTo>
                  <a:pt x="808" y="339"/>
                </a:lnTo>
                <a:lnTo>
                  <a:pt x="831" y="319"/>
                </a:lnTo>
                <a:lnTo>
                  <a:pt x="851" y="296"/>
                </a:lnTo>
                <a:lnTo>
                  <a:pt x="870" y="272"/>
                </a:lnTo>
                <a:lnTo>
                  <a:pt x="889" y="247"/>
                </a:lnTo>
                <a:lnTo>
                  <a:pt x="908" y="222"/>
                </a:lnTo>
                <a:lnTo>
                  <a:pt x="927" y="198"/>
                </a:lnTo>
                <a:lnTo>
                  <a:pt x="948" y="175"/>
                </a:lnTo>
                <a:lnTo>
                  <a:pt x="969" y="155"/>
                </a:lnTo>
                <a:lnTo>
                  <a:pt x="993" y="138"/>
                </a:lnTo>
                <a:lnTo>
                  <a:pt x="1018" y="125"/>
                </a:lnTo>
                <a:lnTo>
                  <a:pt x="1048" y="116"/>
                </a:lnTo>
                <a:lnTo>
                  <a:pt x="1079" y="112"/>
                </a:lnTo>
                <a:lnTo>
                  <a:pt x="1111" y="111"/>
                </a:lnTo>
                <a:lnTo>
                  <a:pt x="1145" y="114"/>
                </a:lnTo>
                <a:lnTo>
                  <a:pt x="1179" y="118"/>
                </a:lnTo>
                <a:lnTo>
                  <a:pt x="1213" y="123"/>
                </a:lnTo>
                <a:lnTo>
                  <a:pt x="1247" y="127"/>
                </a:lnTo>
                <a:lnTo>
                  <a:pt x="1281" y="129"/>
                </a:lnTo>
                <a:lnTo>
                  <a:pt x="1314" y="129"/>
                </a:lnTo>
                <a:lnTo>
                  <a:pt x="1345" y="125"/>
                </a:lnTo>
                <a:lnTo>
                  <a:pt x="1376" y="117"/>
                </a:lnTo>
                <a:lnTo>
                  <a:pt x="1406" y="105"/>
                </a:lnTo>
                <a:lnTo>
                  <a:pt x="1436" y="89"/>
                </a:lnTo>
                <a:lnTo>
                  <a:pt x="1466" y="73"/>
                </a:lnTo>
                <a:lnTo>
                  <a:pt x="1496" y="55"/>
                </a:lnTo>
                <a:lnTo>
                  <a:pt x="1525" y="38"/>
                </a:lnTo>
                <a:lnTo>
                  <a:pt x="1556" y="23"/>
                </a:lnTo>
                <a:lnTo>
                  <a:pt x="1586" y="11"/>
                </a:lnTo>
                <a:lnTo>
                  <a:pt x="1617" y="3"/>
                </a:lnTo>
                <a:lnTo>
                  <a:pt x="1649" y="0"/>
                </a:lnTo>
                <a:close/>
              </a:path>
            </a:pathLst>
          </a:custGeom>
          <a:solidFill>
            <a:schemeClr val="bg2"/>
          </a:solidFill>
          <a:ln w="0">
            <a:noFill/>
            <a:prstDash val="solid"/>
            <a:round/>
            <a:headEnd/>
            <a:tailEnd/>
          </a:ln>
        </p:spPr>
      </p:sp>
      <p:sp>
        <p:nvSpPr>
          <p:cNvPr id="25" name="Rectangle 18" title="left edge border">
            <a:extLst>
              <a:ext uri="{FF2B5EF4-FFF2-40B4-BE49-F238E27FC236}">
                <a16:creationId xmlns:a16="http://schemas.microsoft.com/office/drawing/2014/main" id="{2403F8C8-7B1D-4B7F-BFB3-52F427847533}"/>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3C3FA468-E8E8-41C3-9F9D-5260CB00D279}"/>
              </a:ext>
            </a:extLst>
          </p:cNvPr>
          <p:cNvSpPr>
            <a:spLocks noGrp="1"/>
          </p:cNvSpPr>
          <p:nvPr>
            <p:ph type="title"/>
          </p:nvPr>
        </p:nvSpPr>
        <p:spPr>
          <a:xfrm>
            <a:off x="1015594" y="873508"/>
            <a:ext cx="10318418" cy="4467118"/>
          </a:xfrm>
        </p:spPr>
        <p:txBody>
          <a:bodyPr vert="horz" lIns="91440" tIns="45720" rIns="91440" bIns="45720" rtlCol="0" anchor="ctr">
            <a:normAutofit/>
          </a:bodyPr>
          <a:lstStyle/>
          <a:p>
            <a:pPr algn="ctr"/>
            <a:r>
              <a:rPr lang="en-US" sz="4000" b="1" dirty="0">
                <a:solidFill>
                  <a:schemeClr val="tx1"/>
                </a:solidFill>
              </a:rPr>
              <a:t>3D</a:t>
            </a:r>
            <a:br>
              <a:rPr lang="en-US" sz="4000" b="1" dirty="0">
                <a:solidFill>
                  <a:schemeClr val="tx1"/>
                </a:solidFill>
              </a:rPr>
            </a:br>
            <a:r>
              <a:rPr lang="en-US" sz="4000" b="1" dirty="0">
                <a:solidFill>
                  <a:schemeClr val="tx1"/>
                </a:solidFill>
              </a:rPr>
              <a:t> Environment</a:t>
            </a:r>
          </a:p>
        </p:txBody>
      </p:sp>
      <p:sp>
        <p:nvSpPr>
          <p:cNvPr id="3" name="Text Placeholder 2">
            <a:extLst>
              <a:ext uri="{FF2B5EF4-FFF2-40B4-BE49-F238E27FC236}">
                <a16:creationId xmlns:a16="http://schemas.microsoft.com/office/drawing/2014/main" id="{D03D37B3-71B6-4951-82CA-F9B490B8A58C}"/>
              </a:ext>
            </a:extLst>
          </p:cNvPr>
          <p:cNvSpPr>
            <a:spLocks noGrp="1"/>
          </p:cNvSpPr>
          <p:nvPr>
            <p:ph type="body" idx="1"/>
          </p:nvPr>
        </p:nvSpPr>
        <p:spPr>
          <a:xfrm>
            <a:off x="1596931" y="5956474"/>
            <a:ext cx="9281602" cy="534624"/>
          </a:xfrm>
        </p:spPr>
        <p:txBody>
          <a:bodyPr vert="horz" lIns="91440" tIns="45720" rIns="91440" bIns="45720" rtlCol="0" anchor="t">
            <a:normAutofit/>
          </a:bodyPr>
          <a:lstStyle/>
          <a:p>
            <a:pPr algn="ctr"/>
            <a:endParaRPr lang="en-US">
              <a:solidFill>
                <a:schemeClr val="bg2"/>
              </a:solidFill>
            </a:endParaRPr>
          </a:p>
        </p:txBody>
      </p:sp>
    </p:spTree>
    <p:extLst>
      <p:ext uri="{BB962C8B-B14F-4D97-AF65-F5344CB8AC3E}">
        <p14:creationId xmlns:p14="http://schemas.microsoft.com/office/powerpoint/2010/main" val="21984814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271C82-653F-40C8-A5C9-F45825BAA1B4}"/>
              </a:ext>
            </a:extLst>
          </p:cNvPr>
          <p:cNvSpPr>
            <a:spLocks noGrp="1"/>
          </p:cNvSpPr>
          <p:nvPr>
            <p:ph type="title"/>
          </p:nvPr>
        </p:nvSpPr>
        <p:spPr/>
        <p:txBody>
          <a:bodyPr>
            <a:noAutofit/>
          </a:bodyPr>
          <a:lstStyle/>
          <a:p>
            <a:r>
              <a:rPr lang="en-US" sz="4000" b="1" dirty="0"/>
              <a:t>Orthographic</a:t>
            </a:r>
            <a:r>
              <a:rPr lang="en-US" sz="4000" dirty="0"/>
              <a:t> Projection </a:t>
            </a:r>
            <a:r>
              <a:rPr lang="en-US" sz="4000" b="1" dirty="0">
                <a:solidFill>
                  <a:srgbClr val="53AE6E"/>
                </a:solidFill>
              </a:rPr>
              <a:t>vs</a:t>
            </a:r>
            <a:r>
              <a:rPr lang="en-US" sz="4000" dirty="0"/>
              <a:t>. </a:t>
            </a:r>
            <a:r>
              <a:rPr lang="en-US" sz="4000" b="1" dirty="0"/>
              <a:t>Perspective</a:t>
            </a:r>
            <a:r>
              <a:rPr lang="en-US" sz="4000" dirty="0"/>
              <a:t> Projection</a:t>
            </a:r>
          </a:p>
        </p:txBody>
      </p:sp>
      <p:sp>
        <p:nvSpPr>
          <p:cNvPr id="6" name="Text Placeholder 5">
            <a:extLst>
              <a:ext uri="{FF2B5EF4-FFF2-40B4-BE49-F238E27FC236}">
                <a16:creationId xmlns:a16="http://schemas.microsoft.com/office/drawing/2014/main" id="{F258A25A-0578-4197-8B1D-886947009C91}"/>
              </a:ext>
            </a:extLst>
          </p:cNvPr>
          <p:cNvSpPr>
            <a:spLocks noGrp="1"/>
          </p:cNvSpPr>
          <p:nvPr>
            <p:ph type="body" idx="1"/>
          </p:nvPr>
        </p:nvSpPr>
        <p:spPr/>
        <p:txBody>
          <a:bodyPr/>
          <a:lstStyle/>
          <a:p>
            <a:r>
              <a:rPr lang="en-US" sz="2400" dirty="0"/>
              <a:t>Orthographic</a:t>
            </a:r>
            <a:endParaRPr lang="en-US" dirty="0"/>
          </a:p>
        </p:txBody>
      </p:sp>
      <p:sp>
        <p:nvSpPr>
          <p:cNvPr id="7" name="Content Placeholder 6">
            <a:extLst>
              <a:ext uri="{FF2B5EF4-FFF2-40B4-BE49-F238E27FC236}">
                <a16:creationId xmlns:a16="http://schemas.microsoft.com/office/drawing/2014/main" id="{DB88F3BB-8089-497A-9AEC-81A9C79E0B56}"/>
              </a:ext>
            </a:extLst>
          </p:cNvPr>
          <p:cNvSpPr>
            <a:spLocks noGrp="1"/>
          </p:cNvSpPr>
          <p:nvPr>
            <p:ph sz="half" idx="2"/>
          </p:nvPr>
        </p:nvSpPr>
        <p:spPr/>
        <p:txBody>
          <a:bodyPr/>
          <a:lstStyle/>
          <a:p>
            <a:r>
              <a:rPr lang="en-US" dirty="0"/>
              <a:t>:Simply, it ignores the </a:t>
            </a:r>
            <a:r>
              <a:rPr lang="en-US" b="1" dirty="0">
                <a:solidFill>
                  <a:srgbClr val="53AE6E"/>
                </a:solidFill>
              </a:rPr>
              <a:t>z-component</a:t>
            </a:r>
            <a:r>
              <a:rPr lang="en-US" dirty="0"/>
              <a:t> of the point. Good for engineering designs but not realistic because if objects far from the eye should appear smaller than objects close the eye. However, this doesn't happen in orthographic projection</a:t>
            </a:r>
          </a:p>
        </p:txBody>
      </p:sp>
      <p:sp>
        <p:nvSpPr>
          <p:cNvPr id="8" name="Text Placeholder 7">
            <a:extLst>
              <a:ext uri="{FF2B5EF4-FFF2-40B4-BE49-F238E27FC236}">
                <a16:creationId xmlns:a16="http://schemas.microsoft.com/office/drawing/2014/main" id="{DC373C8D-4FD8-4A33-8436-586F27969D24}"/>
              </a:ext>
            </a:extLst>
          </p:cNvPr>
          <p:cNvSpPr>
            <a:spLocks noGrp="1"/>
          </p:cNvSpPr>
          <p:nvPr>
            <p:ph type="body" sz="quarter" idx="3"/>
          </p:nvPr>
        </p:nvSpPr>
        <p:spPr/>
        <p:txBody>
          <a:bodyPr/>
          <a:lstStyle/>
          <a:p>
            <a:r>
              <a:rPr lang="en-US" sz="2400" dirty="0"/>
              <a:t>Perspective</a:t>
            </a:r>
            <a:endParaRPr lang="en-US" dirty="0"/>
          </a:p>
        </p:txBody>
      </p:sp>
      <p:sp>
        <p:nvSpPr>
          <p:cNvPr id="9" name="Content Placeholder 8">
            <a:extLst>
              <a:ext uri="{FF2B5EF4-FFF2-40B4-BE49-F238E27FC236}">
                <a16:creationId xmlns:a16="http://schemas.microsoft.com/office/drawing/2014/main" id="{9277013F-CF37-413A-8A90-5D20B9AAC982}"/>
              </a:ext>
            </a:extLst>
          </p:cNvPr>
          <p:cNvSpPr>
            <a:spLocks noGrp="1"/>
          </p:cNvSpPr>
          <p:nvPr>
            <p:ph sz="quarter" idx="4"/>
          </p:nvPr>
        </p:nvSpPr>
        <p:spPr/>
        <p:txBody>
          <a:bodyPr/>
          <a:lstStyle/>
          <a:p>
            <a:r>
              <a:rPr lang="en-US" dirty="0"/>
              <a:t>Things far from the eye look smaller. It tries to model the viewing of </a:t>
            </a:r>
            <a:r>
              <a:rPr lang="en-US" b="1" dirty="0">
                <a:solidFill>
                  <a:srgbClr val="53AE6E"/>
                </a:solidFill>
              </a:rPr>
              <a:t>the human eye</a:t>
            </a:r>
            <a:r>
              <a:rPr lang="en-US" dirty="0"/>
              <a:t>: First, a ray from the point to the eye is drawn, and its projection on the near plane is observed. The projection on the near plane is what we see on the screen.</a:t>
            </a:r>
          </a:p>
        </p:txBody>
      </p:sp>
    </p:spTree>
    <p:extLst>
      <p:ext uri="{BB962C8B-B14F-4D97-AF65-F5344CB8AC3E}">
        <p14:creationId xmlns:p14="http://schemas.microsoft.com/office/powerpoint/2010/main" val="39740044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302F16-645D-4C5C-832E-9BDB941A7001}"/>
              </a:ext>
            </a:extLst>
          </p:cNvPr>
          <p:cNvSpPr>
            <a:spLocks noGrp="1"/>
          </p:cNvSpPr>
          <p:nvPr>
            <p:ph type="title"/>
          </p:nvPr>
        </p:nvSpPr>
        <p:spPr/>
        <p:txBody>
          <a:bodyPr/>
          <a:lstStyle/>
          <a:p>
            <a:r>
              <a:rPr lang="en-US" dirty="0"/>
              <a:t>Set UP 3D</a:t>
            </a:r>
          </a:p>
        </p:txBody>
      </p:sp>
      <p:graphicFrame>
        <p:nvGraphicFramePr>
          <p:cNvPr id="5" name="Content Placeholder 4">
            <a:extLst>
              <a:ext uri="{FF2B5EF4-FFF2-40B4-BE49-F238E27FC236}">
                <a16:creationId xmlns:a16="http://schemas.microsoft.com/office/drawing/2014/main" id="{8629BA11-7B19-443E-B6E7-569F04A5F65D}"/>
              </a:ext>
            </a:extLst>
          </p:cNvPr>
          <p:cNvGraphicFramePr>
            <a:graphicFrameLocks noGrp="1"/>
          </p:cNvGraphicFramePr>
          <p:nvPr>
            <p:ph idx="1"/>
            <p:extLst>
              <p:ext uri="{D42A27DB-BD31-4B8C-83A1-F6EECF244321}">
                <p14:modId xmlns:p14="http://schemas.microsoft.com/office/powerpoint/2010/main" val="4174420338"/>
              </p:ext>
            </p:extLst>
          </p:nvPr>
        </p:nvGraphicFramePr>
        <p:xfrm>
          <a:off x="962526" y="1278170"/>
          <a:ext cx="10467474" cy="5620195"/>
        </p:xfrm>
        <a:graphic>
          <a:graphicData uri="http://schemas.openxmlformats.org/drawingml/2006/table">
            <a:tbl>
              <a:tblPr>
                <a:tableStyleId>{5C22544A-7EE6-4342-B048-85BDC9FD1C3A}</a:tableStyleId>
              </a:tblPr>
              <a:tblGrid>
                <a:gridCol w="10467474">
                  <a:extLst>
                    <a:ext uri="{9D8B030D-6E8A-4147-A177-3AD203B41FA5}">
                      <a16:colId xmlns:a16="http://schemas.microsoft.com/office/drawing/2014/main" val="2460950494"/>
                    </a:ext>
                  </a:extLst>
                </a:gridCol>
              </a:tblGrid>
              <a:tr h="4420266">
                <a:tc>
                  <a:txBody>
                    <a:bodyPr/>
                    <a:lstStyle/>
                    <a:p>
                      <a:pPr marL="0" marR="0" algn="l">
                        <a:lnSpc>
                          <a:spcPct val="105000"/>
                        </a:lnSpc>
                        <a:spcBef>
                          <a:spcPts val="0"/>
                        </a:spcBef>
                        <a:spcAft>
                          <a:spcPts val="0"/>
                        </a:spcAft>
                      </a:pPr>
                      <a:r>
                        <a:rPr lang="en-US" sz="1800" b="1" dirty="0">
                          <a:solidFill>
                            <a:srgbClr val="0000FF"/>
                          </a:solidFill>
                          <a:effectLst/>
                          <a:latin typeface="Courier New" panose="02070309020205020404" pitchFamily="49" charset="0"/>
                          <a:ea typeface="Times New Roman" panose="02020603050405020304" pitchFamily="18" charset="0"/>
                          <a:cs typeface="Times New Roman" panose="02020603050405020304" pitchFamily="18" charset="0"/>
                        </a:rPr>
                        <a:t>void</a:t>
                      </a: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800" b="1" dirty="0" err="1">
                          <a:effectLst/>
                          <a:latin typeface="Courier New" panose="02070309020205020404" pitchFamily="49" charset="0"/>
                          <a:ea typeface="Times New Roman" panose="02020603050405020304" pitchFamily="18" charset="0"/>
                          <a:cs typeface="Times New Roman" panose="02020603050405020304" pitchFamily="18" charset="0"/>
                        </a:rPr>
                        <a:t>SetTransformations</a:t>
                      </a: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 </a:t>
                      </a:r>
                      <a:endParaRPr lang="en-US" sz="1800" b="1"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0"/>
                        </a:spcAft>
                      </a:pP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800" b="1" dirty="0">
                          <a:solidFill>
                            <a:srgbClr val="008000"/>
                          </a:solidFill>
                          <a:effectLst/>
                          <a:latin typeface="Courier New" panose="02070309020205020404" pitchFamily="49" charset="0"/>
                          <a:ea typeface="Times New Roman" panose="02020603050405020304" pitchFamily="18" charset="0"/>
                          <a:cs typeface="Times New Roman" panose="02020603050405020304" pitchFamily="18" charset="0"/>
                        </a:rPr>
                        <a:t>//set up the logical coordinate system of the window: [-100, 100] x [-100, 100]</a:t>
                      </a:r>
                      <a:endParaRPr lang="en-US" sz="1800" b="1"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0"/>
                        </a:spcAft>
                      </a:pP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800" b="1" dirty="0" err="1">
                          <a:effectLst/>
                          <a:latin typeface="Courier New" panose="02070309020205020404" pitchFamily="49" charset="0"/>
                          <a:ea typeface="Times New Roman" panose="02020603050405020304" pitchFamily="18" charset="0"/>
                          <a:cs typeface="Times New Roman" panose="02020603050405020304" pitchFamily="18" charset="0"/>
                        </a:rPr>
                        <a:t>glMatrixMode</a:t>
                      </a: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(GL_PROJECTION);</a:t>
                      </a:r>
                      <a:endParaRPr lang="en-US" sz="1800" b="1"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0"/>
                        </a:spcAft>
                      </a:pP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800" b="1" dirty="0" err="1">
                          <a:effectLst/>
                          <a:latin typeface="Courier New" panose="02070309020205020404" pitchFamily="49" charset="0"/>
                          <a:ea typeface="Times New Roman" panose="02020603050405020304" pitchFamily="18" charset="0"/>
                          <a:cs typeface="Times New Roman" panose="02020603050405020304" pitchFamily="18" charset="0"/>
                        </a:rPr>
                        <a:t>glLoadIdentity</a:t>
                      </a: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a:t>
                      </a:r>
                      <a:endParaRPr lang="en-US" sz="1800" b="1"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0"/>
                        </a:spcAft>
                      </a:pP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800" b="1" dirty="0" err="1">
                          <a:effectLst/>
                          <a:latin typeface="Courier New" panose="02070309020205020404" pitchFamily="49" charset="0"/>
                          <a:ea typeface="Times New Roman" panose="02020603050405020304" pitchFamily="18" charset="0"/>
                          <a:cs typeface="Times New Roman" panose="02020603050405020304" pitchFamily="18" charset="0"/>
                        </a:rPr>
                        <a:t>gluPerspective</a:t>
                      </a: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(60,(</a:t>
                      </a:r>
                      <a:r>
                        <a:rPr lang="en-US" sz="1800" b="1" dirty="0">
                          <a:solidFill>
                            <a:srgbClr val="0000FF"/>
                          </a:solidFill>
                          <a:effectLst/>
                          <a:latin typeface="Courier New" panose="02070309020205020404" pitchFamily="49" charset="0"/>
                          <a:ea typeface="Times New Roman" panose="02020603050405020304" pitchFamily="18" charset="0"/>
                          <a:cs typeface="Times New Roman" panose="02020603050405020304" pitchFamily="18" charset="0"/>
                        </a:rPr>
                        <a:t>double</a:t>
                      </a: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)800/ 600, 0.01, 1000);</a:t>
                      </a:r>
                      <a:endParaRPr lang="en-US" sz="1800" b="1"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0"/>
                        </a:spcAft>
                      </a:pP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     </a:t>
                      </a:r>
                      <a:r>
                        <a:rPr lang="en-US" sz="1800" b="1" dirty="0" err="1">
                          <a:effectLst/>
                          <a:latin typeface="Courier New" panose="02070309020205020404" pitchFamily="49" charset="0"/>
                          <a:ea typeface="Times New Roman" panose="02020603050405020304" pitchFamily="18" charset="0"/>
                          <a:cs typeface="Times New Roman" panose="02020603050405020304" pitchFamily="18" charset="0"/>
                        </a:rPr>
                        <a:t>glEnable</a:t>
                      </a: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(GL_DEPTH_TEST);</a:t>
                      </a:r>
                      <a:endParaRPr lang="en-US" sz="1800" b="1"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1000"/>
                        </a:spcAft>
                      </a:pPr>
                      <a:r>
                        <a:rPr lang="en-US" sz="1800" b="1" dirty="0">
                          <a:solidFill>
                            <a:srgbClr val="008000"/>
                          </a:solidFill>
                          <a:effectLst/>
                          <a:latin typeface="Courier New" panose="02070309020205020404" pitchFamily="49" charset="0"/>
                          <a:ea typeface="Times New Roman" panose="02020603050405020304" pitchFamily="18" charset="0"/>
                          <a:cs typeface="Times New Roman" panose="02020603050405020304" pitchFamily="18" charset="0"/>
                        </a:rPr>
                        <a:t>// set the camera here</a:t>
                      </a:r>
                      <a:endParaRPr lang="en-US" sz="1800" b="1" dirty="0">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1000"/>
                        </a:spcAft>
                      </a:pPr>
                      <a:r>
                        <a:rPr lang="en-US" sz="1800" b="1" dirty="0" err="1">
                          <a:solidFill>
                            <a:schemeClr val="tx1"/>
                          </a:solidFill>
                          <a:effectLst/>
                          <a:latin typeface="Courier New" panose="02070309020205020404" pitchFamily="49" charset="0"/>
                          <a:ea typeface="Times New Roman" panose="02020603050405020304" pitchFamily="18" charset="0"/>
                          <a:cs typeface="Times New Roman" panose="02020603050405020304" pitchFamily="18" charset="0"/>
                        </a:rPr>
                        <a:t>gluLookAt</a:t>
                      </a:r>
                      <a:r>
                        <a:rPr lang="en-US" sz="1800" b="1" dirty="0">
                          <a:solidFill>
                            <a:schemeClr val="tx1"/>
                          </a:solidFill>
                          <a:effectLst/>
                          <a:latin typeface="Courier New" panose="02070309020205020404" pitchFamily="49" charset="0"/>
                          <a:ea typeface="Times New Roman" panose="02020603050405020304" pitchFamily="18" charset="0"/>
                          <a:cs typeface="Times New Roman" panose="02020603050405020304" pitchFamily="18" charset="0"/>
                        </a:rPr>
                        <a:t>(</a:t>
                      </a:r>
                      <a:endParaRPr lang="en-US" sz="1800" b="1"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1000"/>
                        </a:spcAft>
                      </a:pPr>
                      <a:r>
                        <a:rPr lang="en-US" sz="1800" b="1" dirty="0">
                          <a:solidFill>
                            <a:schemeClr val="tx1"/>
                          </a:solidFill>
                          <a:effectLst/>
                          <a:latin typeface="Courier New" panose="02070309020205020404" pitchFamily="49" charset="0"/>
                          <a:ea typeface="Times New Roman" panose="02020603050405020304" pitchFamily="18" charset="0"/>
                          <a:cs typeface="Times New Roman" panose="02020603050405020304" pitchFamily="18" charset="0"/>
                        </a:rPr>
                        <a:t>                </a:t>
                      </a:r>
                      <a:r>
                        <a:rPr lang="en-US" sz="1800" b="1" dirty="0">
                          <a:solidFill>
                            <a:srgbClr val="53AE6E"/>
                          </a:solidFill>
                          <a:effectLst/>
                          <a:latin typeface="Courier New" panose="02070309020205020404" pitchFamily="49" charset="0"/>
                          <a:ea typeface="Times New Roman" panose="02020603050405020304" pitchFamily="18" charset="0"/>
                          <a:cs typeface="Times New Roman" panose="02020603050405020304" pitchFamily="18" charset="0"/>
                        </a:rPr>
                        <a:t>//cam </a:t>
                      </a:r>
                      <a:r>
                        <a:rPr lang="en-US" sz="1800" b="1" dirty="0" err="1">
                          <a:solidFill>
                            <a:srgbClr val="53AE6E"/>
                          </a:solidFill>
                          <a:effectLst/>
                          <a:latin typeface="Courier New" panose="02070309020205020404" pitchFamily="49" charset="0"/>
                          <a:ea typeface="Times New Roman" panose="02020603050405020304" pitchFamily="18" charset="0"/>
                          <a:cs typeface="Times New Roman" panose="02020603050405020304" pitchFamily="18" charset="0"/>
                        </a:rPr>
                        <a:t>pos</a:t>
                      </a:r>
                      <a:endParaRPr lang="en-US" sz="1800" b="1" dirty="0">
                        <a:solidFill>
                          <a:srgbClr val="53AE6E"/>
                        </a:solidFill>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1000"/>
                        </a:spcAft>
                      </a:pPr>
                      <a:r>
                        <a:rPr lang="en-US" sz="1800" b="1" dirty="0">
                          <a:solidFill>
                            <a:schemeClr val="tx1"/>
                          </a:solidFill>
                          <a:effectLst/>
                          <a:latin typeface="Courier New" panose="02070309020205020404" pitchFamily="49" charset="0"/>
                          <a:ea typeface="Times New Roman" panose="02020603050405020304" pitchFamily="18" charset="0"/>
                          <a:cs typeface="Times New Roman" panose="02020603050405020304" pitchFamily="18" charset="0"/>
                        </a:rPr>
                        <a:t>                30, 40, 20,</a:t>
                      </a:r>
                      <a:endParaRPr lang="en-US" sz="1800" b="1"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1000"/>
                        </a:spcAft>
                      </a:pPr>
                      <a:r>
                        <a:rPr lang="en-US" sz="1800" b="1" dirty="0">
                          <a:solidFill>
                            <a:srgbClr val="53AE6E"/>
                          </a:solidFill>
                          <a:effectLst/>
                          <a:latin typeface="Courier New" panose="02070309020205020404" pitchFamily="49" charset="0"/>
                          <a:ea typeface="Times New Roman" panose="02020603050405020304" pitchFamily="18" charset="0"/>
                          <a:cs typeface="Times New Roman" panose="02020603050405020304" pitchFamily="18" charset="0"/>
                        </a:rPr>
                        <a:t>                //looking at</a:t>
                      </a:r>
                      <a:endParaRPr lang="en-US" sz="1800" b="1" dirty="0">
                        <a:solidFill>
                          <a:srgbClr val="53AE6E"/>
                        </a:solidFill>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1000"/>
                        </a:spcAft>
                      </a:pPr>
                      <a:r>
                        <a:rPr lang="en-US" sz="1800" b="1" dirty="0">
                          <a:solidFill>
                            <a:schemeClr val="tx1"/>
                          </a:solidFill>
                          <a:effectLst/>
                          <a:latin typeface="Courier New" panose="02070309020205020404" pitchFamily="49" charset="0"/>
                          <a:ea typeface="Times New Roman" panose="02020603050405020304" pitchFamily="18" charset="0"/>
                          <a:cs typeface="Times New Roman" panose="02020603050405020304" pitchFamily="18" charset="0"/>
                        </a:rPr>
                        <a:t>                0, 0, 0,</a:t>
                      </a:r>
                      <a:endParaRPr lang="en-US" sz="1800" b="1"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1000"/>
                        </a:spcAft>
                      </a:pPr>
                      <a:r>
                        <a:rPr lang="en-US" sz="1800" b="1" dirty="0">
                          <a:solidFill>
                            <a:srgbClr val="53AE6E"/>
                          </a:solidFill>
                          <a:effectLst/>
                          <a:latin typeface="Courier New" panose="02070309020205020404" pitchFamily="49" charset="0"/>
                          <a:ea typeface="Times New Roman" panose="02020603050405020304" pitchFamily="18" charset="0"/>
                          <a:cs typeface="Times New Roman" panose="02020603050405020304" pitchFamily="18" charset="0"/>
                        </a:rPr>
                        <a:t>                //up </a:t>
                      </a:r>
                      <a:r>
                        <a:rPr lang="en-US" sz="1800" b="1" dirty="0" err="1">
                          <a:solidFill>
                            <a:srgbClr val="53AE6E"/>
                          </a:solidFill>
                          <a:effectLst/>
                          <a:latin typeface="Courier New" panose="02070309020205020404" pitchFamily="49" charset="0"/>
                          <a:ea typeface="Times New Roman" panose="02020603050405020304" pitchFamily="18" charset="0"/>
                          <a:cs typeface="Times New Roman" panose="02020603050405020304" pitchFamily="18" charset="0"/>
                        </a:rPr>
                        <a:t>dir</a:t>
                      </a:r>
                      <a:endParaRPr lang="en-US" sz="1800" b="1" dirty="0">
                        <a:solidFill>
                          <a:srgbClr val="53AE6E"/>
                        </a:solidFill>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1000"/>
                        </a:spcAft>
                      </a:pPr>
                      <a:r>
                        <a:rPr lang="en-US" sz="1800" b="1" dirty="0">
                          <a:solidFill>
                            <a:schemeClr val="tx1"/>
                          </a:solidFill>
                          <a:effectLst/>
                          <a:latin typeface="Courier New" panose="02070309020205020404" pitchFamily="49" charset="0"/>
                          <a:ea typeface="Times New Roman" panose="02020603050405020304" pitchFamily="18" charset="0"/>
                          <a:cs typeface="Times New Roman" panose="02020603050405020304" pitchFamily="18" charset="0"/>
                        </a:rPr>
                        <a:t>                0, 1, 0);</a:t>
                      </a:r>
                      <a:endParaRPr lang="en-US" sz="1800" b="1" dirty="0">
                        <a:solidFill>
                          <a:schemeClr val="tx1"/>
                        </a:solidFill>
                        <a:effectLst/>
                        <a:latin typeface="Cambria" panose="02040503050406030204" pitchFamily="18" charset="0"/>
                        <a:ea typeface="Times New Roman" panose="02020603050405020304" pitchFamily="18" charset="0"/>
                        <a:cs typeface="Times New Roman" panose="02020603050405020304" pitchFamily="18" charset="0"/>
                      </a:endParaRPr>
                    </a:p>
                    <a:p>
                      <a:pPr marL="0" marR="0" algn="l">
                        <a:lnSpc>
                          <a:spcPct val="105000"/>
                        </a:lnSpc>
                        <a:spcBef>
                          <a:spcPts val="0"/>
                        </a:spcBef>
                        <a:spcAft>
                          <a:spcPts val="0"/>
                        </a:spcAft>
                      </a:pPr>
                      <a:r>
                        <a:rPr lang="en-US" sz="1800" b="1" dirty="0">
                          <a:effectLst/>
                          <a:latin typeface="Courier New" panose="02070309020205020404" pitchFamily="49" charset="0"/>
                          <a:ea typeface="Times New Roman" panose="02020603050405020304" pitchFamily="18" charset="0"/>
                          <a:cs typeface="Times New Roman" panose="02020603050405020304" pitchFamily="18" charset="0"/>
                        </a:rPr>
                        <a:t>}</a:t>
                      </a:r>
                      <a:endParaRPr lang="en-US" sz="1800" b="1"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747751812"/>
                  </a:ext>
                </a:extLst>
              </a:tr>
            </a:tbl>
          </a:graphicData>
        </a:graphic>
      </p:graphicFrame>
    </p:spTree>
    <p:extLst>
      <p:ext uri="{BB962C8B-B14F-4D97-AF65-F5344CB8AC3E}">
        <p14:creationId xmlns:p14="http://schemas.microsoft.com/office/powerpoint/2010/main" val="6706291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02A8B-A13A-401E-8FB8-8CAF9BEB50D9}"/>
              </a:ext>
            </a:extLst>
          </p:cNvPr>
          <p:cNvSpPr>
            <a:spLocks noGrp="1"/>
          </p:cNvSpPr>
          <p:nvPr>
            <p:ph type="title"/>
          </p:nvPr>
        </p:nvSpPr>
        <p:spPr/>
        <p:txBody>
          <a:bodyPr/>
          <a:lstStyle/>
          <a:p>
            <a:r>
              <a:rPr lang="en-US" dirty="0"/>
              <a:t>Set UP 3D</a:t>
            </a:r>
            <a:endParaRPr lang="en-GB" dirty="0"/>
          </a:p>
        </p:txBody>
      </p:sp>
      <p:sp>
        <p:nvSpPr>
          <p:cNvPr id="3" name="Content Placeholder 2">
            <a:extLst>
              <a:ext uri="{FF2B5EF4-FFF2-40B4-BE49-F238E27FC236}">
                <a16:creationId xmlns:a16="http://schemas.microsoft.com/office/drawing/2014/main" id="{16044D75-A320-453D-AAC1-F4CADDDB069C}"/>
              </a:ext>
            </a:extLst>
          </p:cNvPr>
          <p:cNvSpPr>
            <a:spLocks noGrp="1"/>
          </p:cNvSpPr>
          <p:nvPr>
            <p:ph idx="1"/>
          </p:nvPr>
        </p:nvSpPr>
        <p:spPr>
          <a:xfrm>
            <a:off x="1251678" y="2021305"/>
            <a:ext cx="10178322" cy="4836695"/>
          </a:xfrm>
        </p:spPr>
        <p:txBody>
          <a:bodyPr>
            <a:noAutofit/>
          </a:bodyPr>
          <a:lstStyle/>
          <a:p>
            <a:r>
              <a:rPr lang="en-US" sz="1800" b="1" dirty="0" err="1"/>
              <a:t>fovy</a:t>
            </a:r>
            <a:endParaRPr lang="en-US" sz="1800" b="1" dirty="0"/>
          </a:p>
          <a:p>
            <a:r>
              <a:rPr lang="en-US" sz="1800" b="1" dirty="0"/>
              <a:t>Specifies the field of view angle, in degrees, in the y direction.</a:t>
            </a:r>
          </a:p>
          <a:p>
            <a:endParaRPr lang="en-US" sz="1800" b="1" dirty="0"/>
          </a:p>
          <a:p>
            <a:r>
              <a:rPr lang="en-US" sz="1800" b="1" dirty="0"/>
              <a:t>aspect</a:t>
            </a:r>
          </a:p>
          <a:p>
            <a:r>
              <a:rPr lang="en-US" sz="1800" b="1" dirty="0"/>
              <a:t>Specifies the aspect ratio that determines the field of view in the x direction. The aspect ratio is the ratio of x (width) to y (height).</a:t>
            </a:r>
          </a:p>
          <a:p>
            <a:endParaRPr lang="en-US" sz="1800" b="1" dirty="0"/>
          </a:p>
          <a:p>
            <a:r>
              <a:rPr lang="en-US" sz="1800" b="1" dirty="0" err="1"/>
              <a:t>zNear</a:t>
            </a:r>
            <a:endParaRPr lang="en-US" sz="1800" b="1" dirty="0"/>
          </a:p>
          <a:p>
            <a:r>
              <a:rPr lang="en-US" sz="1800" b="1" dirty="0"/>
              <a:t>Specifies the distance from the viewer to the near clipping plane (always positive).</a:t>
            </a:r>
          </a:p>
          <a:p>
            <a:endParaRPr lang="en-US" sz="1800" b="1" dirty="0"/>
          </a:p>
          <a:p>
            <a:r>
              <a:rPr lang="en-US" sz="1800" b="1" dirty="0" err="1"/>
              <a:t>zFar</a:t>
            </a:r>
            <a:endParaRPr lang="en-US" sz="1800" b="1" dirty="0"/>
          </a:p>
          <a:p>
            <a:r>
              <a:rPr lang="en-US" sz="1800" b="1" dirty="0"/>
              <a:t>Specifies the distance from the viewer to the far clipping plane (always positive).</a:t>
            </a:r>
            <a:endParaRPr lang="en-GB" sz="1800" b="1" dirty="0"/>
          </a:p>
        </p:txBody>
      </p:sp>
    </p:spTree>
    <p:extLst>
      <p:ext uri="{BB962C8B-B14F-4D97-AF65-F5344CB8AC3E}">
        <p14:creationId xmlns:p14="http://schemas.microsoft.com/office/powerpoint/2010/main" val="824557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00AF7-E78F-4D11-A51A-A20AF06EC76B}"/>
              </a:ext>
            </a:extLst>
          </p:cNvPr>
          <p:cNvSpPr>
            <a:spLocks noGrp="1"/>
          </p:cNvSpPr>
          <p:nvPr>
            <p:ph type="title"/>
          </p:nvPr>
        </p:nvSpPr>
        <p:spPr/>
        <p:txBody>
          <a:bodyPr/>
          <a:lstStyle/>
          <a:p>
            <a:r>
              <a:rPr lang="en-US" sz="5400" b="1" dirty="0" err="1"/>
              <a:t>Prespective</a:t>
            </a:r>
            <a:endParaRPr lang="en-US" b="1" dirty="0"/>
          </a:p>
        </p:txBody>
      </p:sp>
      <p:sp>
        <p:nvSpPr>
          <p:cNvPr id="5" name="Content Placeholder 4">
            <a:extLst>
              <a:ext uri="{FF2B5EF4-FFF2-40B4-BE49-F238E27FC236}">
                <a16:creationId xmlns:a16="http://schemas.microsoft.com/office/drawing/2014/main" id="{390CE445-072D-4D1D-A8EC-FCBA0F66F56E}"/>
              </a:ext>
            </a:extLst>
          </p:cNvPr>
          <p:cNvSpPr>
            <a:spLocks noGrp="1"/>
          </p:cNvSpPr>
          <p:nvPr>
            <p:ph idx="1"/>
          </p:nvPr>
        </p:nvSpPr>
        <p:spPr/>
        <p:txBody>
          <a:bodyPr/>
          <a:lstStyle/>
          <a:p>
            <a:r>
              <a:rPr lang="en-US" dirty="0"/>
              <a:t>The command </a:t>
            </a:r>
            <a:r>
              <a:rPr lang="en-US" sz="2400" b="1" dirty="0" err="1">
                <a:solidFill>
                  <a:srgbClr val="53AE6E"/>
                </a:solidFill>
              </a:rPr>
              <a:t>gluPerspective</a:t>
            </a:r>
            <a:r>
              <a:rPr lang="en-US" dirty="0"/>
              <a:t>() creates a viewing volume of the shape of a frustum, by </a:t>
            </a:r>
            <a:r>
              <a:rPr lang="en-US" dirty="0">
                <a:highlight>
                  <a:srgbClr val="FFFF00"/>
                </a:highlight>
              </a:rPr>
              <a:t>specifying the angle of the field of view in the y-z plane </a:t>
            </a:r>
            <a:r>
              <a:rPr lang="en-US" dirty="0"/>
              <a:t>and the </a:t>
            </a:r>
            <a:r>
              <a:rPr lang="en-US" dirty="0">
                <a:highlight>
                  <a:srgbClr val="FFFF00"/>
                </a:highlight>
              </a:rPr>
              <a:t>aspect ratio of the width to height (x/y). </a:t>
            </a:r>
            <a:r>
              <a:rPr lang="en-US" dirty="0"/>
              <a:t>(For a square portion of the screen, the aspect ratio is 1.0.) These two parameters are enough to determine an untruncated pyramid along the line of sight. You also </a:t>
            </a:r>
            <a:r>
              <a:rPr lang="en-US" dirty="0">
                <a:highlight>
                  <a:srgbClr val="FFFF00"/>
                </a:highlight>
              </a:rPr>
              <a:t>specify the distance between the viewpoint and the near and far clipping planes</a:t>
            </a:r>
            <a:r>
              <a:rPr lang="en-US" dirty="0"/>
              <a:t>, thereby truncating the pyramid. Note that </a:t>
            </a:r>
            <a:r>
              <a:rPr lang="en-US" sz="2400" b="1" dirty="0" err="1">
                <a:solidFill>
                  <a:srgbClr val="53AE6E"/>
                </a:solidFill>
              </a:rPr>
              <a:t>gluPerspective</a:t>
            </a:r>
            <a:r>
              <a:rPr lang="en-US" dirty="0"/>
              <a:t>() is limited to creating frustums that are symmetric in both the x- and y-axes along the line of sight, but this is usually what you want.</a:t>
            </a:r>
          </a:p>
        </p:txBody>
      </p:sp>
      <p:sp>
        <p:nvSpPr>
          <p:cNvPr id="4" name="Rectangle 3">
            <a:extLst>
              <a:ext uri="{FF2B5EF4-FFF2-40B4-BE49-F238E27FC236}">
                <a16:creationId xmlns:a16="http://schemas.microsoft.com/office/drawing/2014/main" id="{1B027755-DB97-49B8-94E6-7C9D64BD2862}"/>
              </a:ext>
            </a:extLst>
          </p:cNvPr>
          <p:cNvSpPr/>
          <p:nvPr/>
        </p:nvSpPr>
        <p:spPr>
          <a:xfrm>
            <a:off x="1444487" y="5090747"/>
            <a:ext cx="6096000" cy="1200329"/>
          </a:xfrm>
          <a:prstGeom prst="rect">
            <a:avLst/>
          </a:prstGeom>
        </p:spPr>
        <p:txBody>
          <a:bodyPr>
            <a:spAutoFit/>
          </a:bodyPr>
          <a:lstStyle/>
          <a:p>
            <a:r>
              <a:rPr lang="en-US" dirty="0"/>
              <a:t>void </a:t>
            </a:r>
            <a:r>
              <a:rPr lang="en-US" b="1" dirty="0" err="1">
                <a:solidFill>
                  <a:srgbClr val="53AE6E"/>
                </a:solidFill>
              </a:rPr>
              <a:t>gluPerspective</a:t>
            </a:r>
            <a:r>
              <a:rPr lang="en-US" dirty="0"/>
              <a:t>(	</a:t>
            </a:r>
            <a:r>
              <a:rPr lang="en-US" dirty="0" err="1"/>
              <a:t>GLdouble</a:t>
            </a:r>
            <a:r>
              <a:rPr lang="en-US" dirty="0"/>
              <a:t> </a:t>
            </a:r>
            <a:r>
              <a:rPr lang="en-US" dirty="0" err="1"/>
              <a:t>fovy</a:t>
            </a:r>
            <a:r>
              <a:rPr lang="en-US" dirty="0"/>
              <a:t>,</a:t>
            </a:r>
          </a:p>
          <a:p>
            <a:r>
              <a:rPr lang="en-US" dirty="0"/>
              <a:t> 					</a:t>
            </a:r>
            <a:r>
              <a:rPr lang="en-US" dirty="0" err="1"/>
              <a:t>GLdouble</a:t>
            </a:r>
            <a:r>
              <a:rPr lang="en-US" dirty="0"/>
              <a:t> aspect,</a:t>
            </a:r>
          </a:p>
          <a:p>
            <a:r>
              <a:rPr lang="en-US" dirty="0"/>
              <a:t> 					</a:t>
            </a:r>
            <a:r>
              <a:rPr lang="en-US" dirty="0" err="1"/>
              <a:t>GLdouble</a:t>
            </a:r>
            <a:r>
              <a:rPr lang="en-US" dirty="0"/>
              <a:t> </a:t>
            </a:r>
            <a:r>
              <a:rPr lang="en-US" dirty="0" err="1"/>
              <a:t>zNear</a:t>
            </a:r>
            <a:r>
              <a:rPr lang="en-US" dirty="0"/>
              <a:t>,</a:t>
            </a:r>
          </a:p>
          <a:p>
            <a:r>
              <a:rPr lang="en-US" dirty="0"/>
              <a:t> 					</a:t>
            </a:r>
            <a:r>
              <a:rPr lang="en-US" dirty="0" err="1"/>
              <a:t>GLdouble</a:t>
            </a:r>
            <a:r>
              <a:rPr lang="en-US" dirty="0"/>
              <a:t> </a:t>
            </a:r>
            <a:r>
              <a:rPr lang="en-US" dirty="0" err="1"/>
              <a:t>zFar</a:t>
            </a:r>
            <a:r>
              <a:rPr lang="en-US" dirty="0"/>
              <a:t>);</a:t>
            </a:r>
          </a:p>
        </p:txBody>
      </p:sp>
    </p:spTree>
    <p:extLst>
      <p:ext uri="{BB962C8B-B14F-4D97-AF65-F5344CB8AC3E}">
        <p14:creationId xmlns:p14="http://schemas.microsoft.com/office/powerpoint/2010/main" val="498375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00AF7-E78F-4D11-A51A-A20AF06EC76B}"/>
              </a:ext>
            </a:extLst>
          </p:cNvPr>
          <p:cNvSpPr>
            <a:spLocks noGrp="1"/>
          </p:cNvSpPr>
          <p:nvPr>
            <p:ph type="title"/>
          </p:nvPr>
        </p:nvSpPr>
        <p:spPr/>
        <p:txBody>
          <a:bodyPr/>
          <a:lstStyle/>
          <a:p>
            <a:r>
              <a:rPr lang="en-US" sz="5400" b="1" dirty="0" err="1"/>
              <a:t>Prespective</a:t>
            </a:r>
            <a:endParaRPr lang="en-US" b="1" dirty="0"/>
          </a:p>
        </p:txBody>
      </p:sp>
      <p:pic>
        <p:nvPicPr>
          <p:cNvPr id="4" name="Content Placeholder 3">
            <a:extLst>
              <a:ext uri="{FF2B5EF4-FFF2-40B4-BE49-F238E27FC236}">
                <a16:creationId xmlns:a16="http://schemas.microsoft.com/office/drawing/2014/main" id="{FB6C29AE-E6B5-4FF9-A4EF-C91C3E8A54FB}"/>
              </a:ext>
            </a:extLst>
          </p:cNvPr>
          <p:cNvPicPr>
            <a:picLocks noGrp="1"/>
          </p:cNvPicPr>
          <p:nvPr>
            <p:ph idx="1"/>
          </p:nvPr>
        </p:nvPicPr>
        <p:blipFill>
          <a:blip r:embed="rId2"/>
          <a:srcRect/>
          <a:stretch>
            <a:fillRect/>
          </a:stretch>
        </p:blipFill>
        <p:spPr bwMode="auto">
          <a:xfrm>
            <a:off x="1470992" y="2863849"/>
            <a:ext cx="9475304" cy="3483941"/>
          </a:xfrm>
          <a:prstGeom prst="rect">
            <a:avLst/>
          </a:prstGeom>
          <a:noFill/>
          <a:ln w="9525">
            <a:noFill/>
            <a:miter lim="800000"/>
            <a:headEnd/>
            <a:tailEnd/>
          </a:ln>
        </p:spPr>
      </p:pic>
    </p:spTree>
    <p:extLst>
      <p:ext uri="{BB962C8B-B14F-4D97-AF65-F5344CB8AC3E}">
        <p14:creationId xmlns:p14="http://schemas.microsoft.com/office/powerpoint/2010/main" val="29553787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83B871-24E5-4E53-A570-A428FCF0F922}"/>
              </a:ext>
            </a:extLst>
          </p:cNvPr>
          <p:cNvSpPr>
            <a:spLocks noGrp="1"/>
          </p:cNvSpPr>
          <p:nvPr>
            <p:ph type="title"/>
          </p:nvPr>
        </p:nvSpPr>
        <p:spPr/>
        <p:txBody>
          <a:bodyPr/>
          <a:lstStyle/>
          <a:p>
            <a:r>
              <a:rPr lang="en-US" b="1" dirty="0" err="1"/>
              <a:t>glEnable</a:t>
            </a:r>
            <a:r>
              <a:rPr lang="en-US" b="1" dirty="0"/>
              <a:t>()</a:t>
            </a:r>
            <a:endParaRPr lang="en-US" dirty="0"/>
          </a:p>
        </p:txBody>
      </p:sp>
      <p:sp>
        <p:nvSpPr>
          <p:cNvPr id="3" name="Content Placeholder 2">
            <a:extLst>
              <a:ext uri="{FF2B5EF4-FFF2-40B4-BE49-F238E27FC236}">
                <a16:creationId xmlns:a16="http://schemas.microsoft.com/office/drawing/2014/main" id="{22FF2C28-C85F-42EE-BC29-D120C45C5E1D}"/>
              </a:ext>
            </a:extLst>
          </p:cNvPr>
          <p:cNvSpPr>
            <a:spLocks noGrp="1"/>
          </p:cNvSpPr>
          <p:nvPr>
            <p:ph idx="1"/>
          </p:nvPr>
        </p:nvSpPr>
        <p:spPr/>
        <p:txBody>
          <a:bodyPr/>
          <a:lstStyle/>
          <a:p>
            <a:r>
              <a:rPr lang="en-US" dirty="0"/>
              <a:t>The command </a:t>
            </a:r>
            <a:r>
              <a:rPr lang="en-US" sz="2400" b="1" dirty="0" err="1">
                <a:solidFill>
                  <a:srgbClr val="53AE6E"/>
                </a:solidFill>
              </a:rPr>
              <a:t>glEnable</a:t>
            </a:r>
            <a:r>
              <a:rPr lang="en-US" b="1" dirty="0"/>
              <a:t>()</a:t>
            </a:r>
            <a:r>
              <a:rPr lang="en-US" dirty="0"/>
              <a:t> enables a given OpenGL capability, in our case we are enabling the depth buffer. The depth buffer holds the depth of each pixels of the frame. It is also called z buffer.</a:t>
            </a:r>
          </a:p>
          <a:p>
            <a:endParaRPr lang="en-US" dirty="0"/>
          </a:p>
          <a:p>
            <a:endParaRPr lang="en-US" dirty="0"/>
          </a:p>
        </p:txBody>
      </p:sp>
    </p:spTree>
    <p:extLst>
      <p:ext uri="{BB962C8B-B14F-4D97-AF65-F5344CB8AC3E}">
        <p14:creationId xmlns:p14="http://schemas.microsoft.com/office/powerpoint/2010/main" val="2698124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4878-85CE-45BB-B7C5-5AEDA80B8E4A}"/>
              </a:ext>
            </a:extLst>
          </p:cNvPr>
          <p:cNvSpPr>
            <a:spLocks noGrp="1"/>
          </p:cNvSpPr>
          <p:nvPr>
            <p:ph type="title"/>
          </p:nvPr>
        </p:nvSpPr>
        <p:spPr/>
        <p:txBody>
          <a:bodyPr/>
          <a:lstStyle/>
          <a:p>
            <a:r>
              <a:rPr lang="en-US" b="1" dirty="0" err="1"/>
              <a:t>gluLookAt</a:t>
            </a:r>
            <a:r>
              <a:rPr lang="en-US" b="1" dirty="0"/>
              <a:t>()</a:t>
            </a:r>
            <a:r>
              <a:rPr lang="en-US" dirty="0"/>
              <a:t> </a:t>
            </a:r>
          </a:p>
        </p:txBody>
      </p:sp>
      <p:sp>
        <p:nvSpPr>
          <p:cNvPr id="3" name="Content Placeholder 2">
            <a:extLst>
              <a:ext uri="{FF2B5EF4-FFF2-40B4-BE49-F238E27FC236}">
                <a16:creationId xmlns:a16="http://schemas.microsoft.com/office/drawing/2014/main" id="{2947FD3B-48E8-4974-B92D-82DC85E6266E}"/>
              </a:ext>
            </a:extLst>
          </p:cNvPr>
          <p:cNvSpPr>
            <a:spLocks noGrp="1"/>
          </p:cNvSpPr>
          <p:nvPr>
            <p:ph idx="1"/>
          </p:nvPr>
        </p:nvSpPr>
        <p:spPr/>
        <p:txBody>
          <a:bodyPr/>
          <a:lstStyle/>
          <a:p>
            <a:r>
              <a:rPr lang="en-US" dirty="0"/>
              <a:t>The command </a:t>
            </a:r>
            <a:r>
              <a:rPr lang="en-US" sz="2400" b="1" dirty="0" err="1">
                <a:solidFill>
                  <a:srgbClr val="53AE6E"/>
                </a:solidFill>
              </a:rPr>
              <a:t>gluLookAt</a:t>
            </a:r>
            <a:r>
              <a:rPr lang="en-US" dirty="0"/>
              <a:t> creates a viewing matrix derived from an </a:t>
            </a:r>
            <a:r>
              <a:rPr lang="en-US" b="1" dirty="0">
                <a:solidFill>
                  <a:srgbClr val="53AE6E"/>
                </a:solidFill>
              </a:rPr>
              <a:t>eye</a:t>
            </a:r>
            <a:r>
              <a:rPr lang="en-US" dirty="0"/>
              <a:t> point, a reference point indicating the </a:t>
            </a:r>
            <a:r>
              <a:rPr lang="en-US" b="1" dirty="0">
                <a:solidFill>
                  <a:srgbClr val="53AE6E"/>
                </a:solidFill>
              </a:rPr>
              <a:t>center</a:t>
            </a:r>
            <a:r>
              <a:rPr lang="en-US" dirty="0"/>
              <a:t> of the scene, and an </a:t>
            </a:r>
            <a:r>
              <a:rPr lang="en-US" b="1" i="1" dirty="0">
                <a:solidFill>
                  <a:srgbClr val="53AE6E"/>
                </a:solidFill>
              </a:rPr>
              <a:t>UP</a:t>
            </a:r>
            <a:r>
              <a:rPr lang="en-US" dirty="0"/>
              <a:t> vector.</a:t>
            </a:r>
          </a:p>
          <a:p>
            <a:endParaRPr lang="en-US" dirty="0"/>
          </a:p>
          <a:p>
            <a:pPr marL="0" indent="0">
              <a:buNone/>
            </a:pPr>
            <a:endParaRPr lang="en-US" dirty="0"/>
          </a:p>
          <a:p>
            <a:pPr marL="0" indent="0">
              <a:buNone/>
            </a:pPr>
            <a:endParaRPr lang="en-US" dirty="0"/>
          </a:p>
        </p:txBody>
      </p:sp>
      <p:sp>
        <p:nvSpPr>
          <p:cNvPr id="10" name="Rectangle 9">
            <a:extLst>
              <a:ext uri="{FF2B5EF4-FFF2-40B4-BE49-F238E27FC236}">
                <a16:creationId xmlns:a16="http://schemas.microsoft.com/office/drawing/2014/main" id="{0773C620-C520-4B7F-99A9-0C7C81AA13DF}"/>
              </a:ext>
            </a:extLst>
          </p:cNvPr>
          <p:cNvSpPr/>
          <p:nvPr/>
        </p:nvSpPr>
        <p:spPr>
          <a:xfrm>
            <a:off x="1444487" y="3294269"/>
            <a:ext cx="6096000" cy="2585323"/>
          </a:xfrm>
          <a:prstGeom prst="rect">
            <a:avLst/>
          </a:prstGeom>
        </p:spPr>
        <p:txBody>
          <a:bodyPr>
            <a:spAutoFit/>
          </a:bodyPr>
          <a:lstStyle/>
          <a:p>
            <a:r>
              <a:rPr lang="en-US" dirty="0"/>
              <a:t>void </a:t>
            </a:r>
            <a:r>
              <a:rPr lang="en-US" b="1" dirty="0" err="1">
                <a:solidFill>
                  <a:srgbClr val="53AE6E"/>
                </a:solidFill>
              </a:rPr>
              <a:t>gluLookAt</a:t>
            </a:r>
            <a:r>
              <a:rPr lang="en-US" dirty="0"/>
              <a:t>(	</a:t>
            </a:r>
            <a:r>
              <a:rPr lang="en-US" dirty="0" err="1"/>
              <a:t>GLdouble</a:t>
            </a:r>
            <a:r>
              <a:rPr lang="en-US" dirty="0"/>
              <a:t> </a:t>
            </a:r>
            <a:r>
              <a:rPr lang="en-US" dirty="0" err="1"/>
              <a:t>eyeX</a:t>
            </a:r>
            <a:r>
              <a:rPr lang="en-US" dirty="0"/>
              <a:t>,</a:t>
            </a:r>
          </a:p>
          <a:p>
            <a:r>
              <a:rPr lang="en-US" dirty="0"/>
              <a:t> 				</a:t>
            </a:r>
            <a:r>
              <a:rPr lang="en-US" dirty="0" err="1"/>
              <a:t>GLdouble</a:t>
            </a:r>
            <a:r>
              <a:rPr lang="en-US" dirty="0"/>
              <a:t> </a:t>
            </a:r>
            <a:r>
              <a:rPr lang="en-US" dirty="0" err="1"/>
              <a:t>eyeY</a:t>
            </a:r>
            <a:r>
              <a:rPr lang="en-US" dirty="0"/>
              <a:t>,</a:t>
            </a:r>
          </a:p>
          <a:p>
            <a:r>
              <a:rPr lang="en-US" dirty="0"/>
              <a:t> 				</a:t>
            </a:r>
            <a:r>
              <a:rPr lang="en-US" dirty="0" err="1"/>
              <a:t>GLdouble</a:t>
            </a:r>
            <a:r>
              <a:rPr lang="en-US" dirty="0"/>
              <a:t> </a:t>
            </a:r>
            <a:r>
              <a:rPr lang="en-US" dirty="0" err="1"/>
              <a:t>eyeZ</a:t>
            </a:r>
            <a:r>
              <a:rPr lang="en-US" dirty="0"/>
              <a:t>,</a:t>
            </a:r>
          </a:p>
          <a:p>
            <a:r>
              <a:rPr lang="en-US" dirty="0"/>
              <a:t> 				</a:t>
            </a:r>
            <a:r>
              <a:rPr lang="en-US" dirty="0" err="1"/>
              <a:t>GLdouble</a:t>
            </a:r>
            <a:r>
              <a:rPr lang="en-US" dirty="0"/>
              <a:t> </a:t>
            </a:r>
            <a:r>
              <a:rPr lang="en-US" dirty="0" err="1"/>
              <a:t>centerX</a:t>
            </a:r>
            <a:r>
              <a:rPr lang="en-US" dirty="0"/>
              <a:t>,</a:t>
            </a:r>
          </a:p>
          <a:p>
            <a:r>
              <a:rPr lang="en-US" dirty="0"/>
              <a:t> 				</a:t>
            </a:r>
            <a:r>
              <a:rPr lang="en-US" dirty="0" err="1"/>
              <a:t>GLdouble</a:t>
            </a:r>
            <a:r>
              <a:rPr lang="en-US" dirty="0"/>
              <a:t> </a:t>
            </a:r>
            <a:r>
              <a:rPr lang="en-US" dirty="0" err="1"/>
              <a:t>centerY</a:t>
            </a:r>
            <a:r>
              <a:rPr lang="en-US" dirty="0"/>
              <a:t>,</a:t>
            </a:r>
          </a:p>
          <a:p>
            <a:r>
              <a:rPr lang="en-US" dirty="0"/>
              <a:t> 				</a:t>
            </a:r>
            <a:r>
              <a:rPr lang="en-US" dirty="0" err="1"/>
              <a:t>GLdouble</a:t>
            </a:r>
            <a:r>
              <a:rPr lang="en-US" dirty="0"/>
              <a:t> </a:t>
            </a:r>
            <a:r>
              <a:rPr lang="en-US" dirty="0" err="1"/>
              <a:t>centerZ</a:t>
            </a:r>
            <a:r>
              <a:rPr lang="en-US" dirty="0"/>
              <a:t>,</a:t>
            </a:r>
          </a:p>
          <a:p>
            <a:r>
              <a:rPr lang="en-US" dirty="0"/>
              <a:t> 				</a:t>
            </a:r>
            <a:r>
              <a:rPr lang="en-US" dirty="0" err="1"/>
              <a:t>GLdouble</a:t>
            </a:r>
            <a:r>
              <a:rPr lang="en-US" dirty="0"/>
              <a:t> </a:t>
            </a:r>
            <a:r>
              <a:rPr lang="en-US" dirty="0" err="1"/>
              <a:t>upX</a:t>
            </a:r>
            <a:r>
              <a:rPr lang="en-US" dirty="0"/>
              <a:t>,</a:t>
            </a:r>
          </a:p>
          <a:p>
            <a:r>
              <a:rPr lang="en-US" dirty="0"/>
              <a:t> 				</a:t>
            </a:r>
            <a:r>
              <a:rPr lang="en-US" dirty="0" err="1"/>
              <a:t>GLdouble</a:t>
            </a:r>
            <a:r>
              <a:rPr lang="en-US" dirty="0"/>
              <a:t> </a:t>
            </a:r>
            <a:r>
              <a:rPr lang="en-US" dirty="0" err="1"/>
              <a:t>upY</a:t>
            </a:r>
            <a:r>
              <a:rPr lang="en-US" dirty="0"/>
              <a:t>,</a:t>
            </a:r>
          </a:p>
          <a:p>
            <a:r>
              <a:rPr lang="en-US" dirty="0"/>
              <a:t> 				</a:t>
            </a:r>
            <a:r>
              <a:rPr lang="en-US" dirty="0" err="1"/>
              <a:t>GLdouble</a:t>
            </a:r>
            <a:r>
              <a:rPr lang="en-US" dirty="0"/>
              <a:t> </a:t>
            </a:r>
            <a:r>
              <a:rPr lang="en-US" dirty="0" err="1"/>
              <a:t>upZ</a:t>
            </a:r>
            <a:r>
              <a:rPr lang="en-US" dirty="0"/>
              <a:t>);</a:t>
            </a:r>
          </a:p>
        </p:txBody>
      </p:sp>
    </p:spTree>
    <p:extLst>
      <p:ext uri="{BB962C8B-B14F-4D97-AF65-F5344CB8AC3E}">
        <p14:creationId xmlns:p14="http://schemas.microsoft.com/office/powerpoint/2010/main" val="3734072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3A296-BEC6-4BA3-92A8-0D5A4C6D7030}"/>
              </a:ext>
            </a:extLst>
          </p:cNvPr>
          <p:cNvSpPr>
            <a:spLocks noGrp="1"/>
          </p:cNvSpPr>
          <p:nvPr>
            <p:ph type="ctrTitle"/>
          </p:nvPr>
        </p:nvSpPr>
        <p:spPr/>
        <p:txBody>
          <a:bodyPr/>
          <a:lstStyle/>
          <a:p>
            <a:r>
              <a:rPr lang="en-US" sz="5400" b="1" dirty="0"/>
              <a:t>Example</a:t>
            </a:r>
          </a:p>
        </p:txBody>
      </p:sp>
      <p:sp>
        <p:nvSpPr>
          <p:cNvPr id="3" name="Subtitle 2">
            <a:extLst>
              <a:ext uri="{FF2B5EF4-FFF2-40B4-BE49-F238E27FC236}">
                <a16:creationId xmlns:a16="http://schemas.microsoft.com/office/drawing/2014/main" id="{3F479C34-26E7-464D-9E8D-93712309909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6294553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3A296-BEC6-4BA3-92A8-0D5A4C6D7030}"/>
              </a:ext>
            </a:extLst>
          </p:cNvPr>
          <p:cNvSpPr>
            <a:spLocks noGrp="1"/>
          </p:cNvSpPr>
          <p:nvPr>
            <p:ph type="ctrTitle"/>
          </p:nvPr>
        </p:nvSpPr>
        <p:spPr/>
        <p:txBody>
          <a:bodyPr/>
          <a:lstStyle/>
          <a:p>
            <a:r>
              <a:rPr lang="en-US" sz="5400" b="1" dirty="0"/>
              <a:t>Lightening</a:t>
            </a:r>
          </a:p>
        </p:txBody>
      </p:sp>
      <p:sp>
        <p:nvSpPr>
          <p:cNvPr id="3" name="Subtitle 2">
            <a:extLst>
              <a:ext uri="{FF2B5EF4-FFF2-40B4-BE49-F238E27FC236}">
                <a16:creationId xmlns:a16="http://schemas.microsoft.com/office/drawing/2014/main" id="{3F479C34-26E7-464D-9E8D-93712309909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6999459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4878-85CE-45BB-B7C5-5AEDA80B8E4A}"/>
              </a:ext>
            </a:extLst>
          </p:cNvPr>
          <p:cNvSpPr>
            <a:spLocks noGrp="1"/>
          </p:cNvSpPr>
          <p:nvPr>
            <p:ph type="title"/>
          </p:nvPr>
        </p:nvSpPr>
        <p:spPr/>
        <p:txBody>
          <a:bodyPr/>
          <a:lstStyle/>
          <a:p>
            <a:r>
              <a:rPr lang="en-US" b="1" dirty="0"/>
              <a:t>Lightening</a:t>
            </a:r>
            <a:endParaRPr lang="en-US" dirty="0"/>
          </a:p>
        </p:txBody>
      </p:sp>
      <p:pic>
        <p:nvPicPr>
          <p:cNvPr id="5" name="Content Placeholder 4">
            <a:extLst>
              <a:ext uri="{FF2B5EF4-FFF2-40B4-BE49-F238E27FC236}">
                <a16:creationId xmlns:a16="http://schemas.microsoft.com/office/drawing/2014/main" id="{96174571-5F1E-4F28-BCCC-17B2EE4E3804}"/>
              </a:ext>
            </a:extLst>
          </p:cNvPr>
          <p:cNvPicPr>
            <a:picLocks noGrp="1"/>
          </p:cNvPicPr>
          <p:nvPr>
            <p:ph idx="1"/>
          </p:nvPr>
        </p:nvPicPr>
        <p:blipFill>
          <a:blip r:embed="rId2"/>
          <a:srcRect/>
          <a:stretch>
            <a:fillRect/>
          </a:stretch>
        </p:blipFill>
        <p:spPr bwMode="auto">
          <a:xfrm>
            <a:off x="4292600" y="3016250"/>
            <a:ext cx="4095750" cy="2133600"/>
          </a:xfrm>
          <a:prstGeom prst="rect">
            <a:avLst/>
          </a:prstGeom>
          <a:noFill/>
          <a:ln w="9525">
            <a:noFill/>
            <a:miter lim="800000"/>
            <a:headEnd/>
            <a:tailEnd/>
          </a:ln>
        </p:spPr>
      </p:pic>
    </p:spTree>
    <p:extLst>
      <p:ext uri="{BB962C8B-B14F-4D97-AF65-F5344CB8AC3E}">
        <p14:creationId xmlns:p14="http://schemas.microsoft.com/office/powerpoint/2010/main" val="19151628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4878-85CE-45BB-B7C5-5AEDA80B8E4A}"/>
              </a:ext>
            </a:extLst>
          </p:cNvPr>
          <p:cNvSpPr>
            <a:spLocks noGrp="1"/>
          </p:cNvSpPr>
          <p:nvPr>
            <p:ph type="title"/>
          </p:nvPr>
        </p:nvSpPr>
        <p:spPr/>
        <p:txBody>
          <a:bodyPr/>
          <a:lstStyle/>
          <a:p>
            <a:r>
              <a:rPr lang="en-US" b="1" dirty="0"/>
              <a:t>Lightening</a:t>
            </a:r>
            <a:endParaRPr lang="en-US" dirty="0"/>
          </a:p>
        </p:txBody>
      </p:sp>
      <p:sp>
        <p:nvSpPr>
          <p:cNvPr id="4" name="Content Placeholder 3">
            <a:extLst>
              <a:ext uri="{FF2B5EF4-FFF2-40B4-BE49-F238E27FC236}">
                <a16:creationId xmlns:a16="http://schemas.microsoft.com/office/drawing/2014/main" id="{BF4E42C7-301C-4736-9B7F-5FB6EC4C570D}"/>
              </a:ext>
            </a:extLst>
          </p:cNvPr>
          <p:cNvSpPr>
            <a:spLocks noGrp="1"/>
          </p:cNvSpPr>
          <p:nvPr>
            <p:ph idx="1"/>
          </p:nvPr>
        </p:nvSpPr>
        <p:spPr/>
        <p:txBody>
          <a:bodyPr/>
          <a:lstStyle/>
          <a:p>
            <a:r>
              <a:rPr lang="en-US" dirty="0"/>
              <a:t>To use </a:t>
            </a:r>
            <a:r>
              <a:rPr lang="en-US" b="1" dirty="0">
                <a:solidFill>
                  <a:srgbClr val="53AE6E"/>
                </a:solidFill>
              </a:rPr>
              <a:t>lighting</a:t>
            </a:r>
            <a:r>
              <a:rPr lang="en-US" dirty="0"/>
              <a:t> in OpenGL, you have to:</a:t>
            </a:r>
          </a:p>
          <a:p>
            <a:pPr lvl="1"/>
            <a:r>
              <a:rPr lang="en-US" dirty="0"/>
              <a:t>define one or more light sources, and</a:t>
            </a:r>
          </a:p>
          <a:p>
            <a:pPr lvl="1"/>
            <a:r>
              <a:rPr lang="en-US" dirty="0"/>
              <a:t>specify a material for each primitive drawn that describes how the primitive reflects the incident light</a:t>
            </a:r>
          </a:p>
          <a:p>
            <a:endParaRPr lang="en-US" dirty="0"/>
          </a:p>
        </p:txBody>
      </p:sp>
      <p:pic>
        <p:nvPicPr>
          <p:cNvPr id="7" name="Picture 6" descr="C:\Everything\Work\Work Drive\StudyStuff\Courses Taught\Computer Graphics\2008-2009\Labs\Lab 6\gl8_files\amb2.jpg">
            <a:extLst>
              <a:ext uri="{FF2B5EF4-FFF2-40B4-BE49-F238E27FC236}">
                <a16:creationId xmlns:a16="http://schemas.microsoft.com/office/drawing/2014/main" id="{248BE680-68A9-4D09-8CED-4EB562B25E4D}"/>
              </a:ext>
            </a:extLst>
          </p:cNvPr>
          <p:cNvPicPr/>
          <p:nvPr/>
        </p:nvPicPr>
        <p:blipFill>
          <a:blip r:embed="rId2"/>
          <a:srcRect/>
          <a:stretch>
            <a:fillRect/>
          </a:stretch>
        </p:blipFill>
        <p:spPr bwMode="auto">
          <a:xfrm>
            <a:off x="4472940" y="4256532"/>
            <a:ext cx="1623060" cy="1623060"/>
          </a:xfrm>
          <a:prstGeom prst="rect">
            <a:avLst/>
          </a:prstGeom>
          <a:noFill/>
          <a:ln w="9525">
            <a:noFill/>
            <a:miter lim="800000"/>
            <a:headEnd/>
            <a:tailEnd/>
          </a:ln>
        </p:spPr>
      </p:pic>
      <p:pic>
        <p:nvPicPr>
          <p:cNvPr id="8" name="Picture 7" descr="C:\Everything\Work\Work Drive\StudyStuff\Courses Taught\Computer Graphics\2008-2009\Labs\Lab 6\gl8_files\spec1.jpg">
            <a:extLst>
              <a:ext uri="{FF2B5EF4-FFF2-40B4-BE49-F238E27FC236}">
                <a16:creationId xmlns:a16="http://schemas.microsoft.com/office/drawing/2014/main" id="{C3CD259D-8850-4FC5-BC9B-2E067E84C95C}"/>
              </a:ext>
            </a:extLst>
          </p:cNvPr>
          <p:cNvPicPr/>
          <p:nvPr/>
        </p:nvPicPr>
        <p:blipFill>
          <a:blip r:embed="rId3"/>
          <a:srcRect/>
          <a:stretch>
            <a:fillRect/>
          </a:stretch>
        </p:blipFill>
        <p:spPr bwMode="auto">
          <a:xfrm>
            <a:off x="6340839" y="4253992"/>
            <a:ext cx="1625600" cy="1625600"/>
          </a:xfrm>
          <a:prstGeom prst="rect">
            <a:avLst/>
          </a:prstGeom>
          <a:noFill/>
          <a:ln w="9525">
            <a:noFill/>
            <a:miter lim="800000"/>
            <a:headEnd/>
            <a:tailEnd/>
          </a:ln>
        </p:spPr>
      </p:pic>
    </p:spTree>
    <p:extLst>
      <p:ext uri="{BB962C8B-B14F-4D97-AF65-F5344CB8AC3E}">
        <p14:creationId xmlns:p14="http://schemas.microsoft.com/office/powerpoint/2010/main" val="26879383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4878-85CE-45BB-B7C5-5AEDA80B8E4A}"/>
              </a:ext>
            </a:extLst>
          </p:cNvPr>
          <p:cNvSpPr>
            <a:spLocks noGrp="1"/>
          </p:cNvSpPr>
          <p:nvPr>
            <p:ph type="title"/>
          </p:nvPr>
        </p:nvSpPr>
        <p:spPr/>
        <p:txBody>
          <a:bodyPr/>
          <a:lstStyle/>
          <a:p>
            <a:r>
              <a:rPr lang="en-US" b="1" dirty="0"/>
              <a:t>Types of </a:t>
            </a:r>
            <a:r>
              <a:rPr lang="en-US" b="1" dirty="0" err="1"/>
              <a:t>reflectioN</a:t>
            </a:r>
            <a:endParaRPr lang="en-US" dirty="0"/>
          </a:p>
        </p:txBody>
      </p:sp>
      <p:sp>
        <p:nvSpPr>
          <p:cNvPr id="4" name="Content Placeholder 3">
            <a:extLst>
              <a:ext uri="{FF2B5EF4-FFF2-40B4-BE49-F238E27FC236}">
                <a16:creationId xmlns:a16="http://schemas.microsoft.com/office/drawing/2014/main" id="{11E2E30B-6076-439B-B25F-5BC0CE0DF27E}"/>
              </a:ext>
            </a:extLst>
          </p:cNvPr>
          <p:cNvSpPr>
            <a:spLocks noGrp="1"/>
          </p:cNvSpPr>
          <p:nvPr>
            <p:ph idx="1"/>
          </p:nvPr>
        </p:nvSpPr>
        <p:spPr>
          <a:xfrm>
            <a:off x="1251678" y="2286001"/>
            <a:ext cx="10178322" cy="3593591"/>
          </a:xfrm>
        </p:spPr>
        <p:txBody>
          <a:bodyPr/>
          <a:lstStyle/>
          <a:p>
            <a:r>
              <a:rPr lang="en-US" sz="2400" b="1" dirty="0">
                <a:solidFill>
                  <a:srgbClr val="53AE6E"/>
                </a:solidFill>
              </a:rPr>
              <a:t>DIFFUSE</a:t>
            </a:r>
            <a:r>
              <a:rPr lang="en-US" dirty="0"/>
              <a:t> - An incoming ray of light is reflected uniformly in all directions. So, you see it the same from any view point. However, once the light radiates from the surface, it does so equally in all directions. It is diffuse lighting that best defines the color of 3D objects. </a:t>
            </a:r>
          </a:p>
          <a:p>
            <a:endParaRPr lang="en-US" dirty="0"/>
          </a:p>
        </p:txBody>
      </p:sp>
      <p:pic>
        <p:nvPicPr>
          <p:cNvPr id="1026" name="Picture 2" descr="Diffuse1">
            <a:extLst>
              <a:ext uri="{FF2B5EF4-FFF2-40B4-BE49-F238E27FC236}">
                <a16:creationId xmlns:a16="http://schemas.microsoft.com/office/drawing/2014/main" id="{542A8924-A6A0-48EC-92FB-35753B231A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58964" y="3763617"/>
            <a:ext cx="3945708" cy="2168362"/>
          </a:xfrm>
          <a:prstGeom prst="rect">
            <a:avLst/>
          </a:prstGeom>
          <a:solidFill>
            <a:srgbClr val="FFFFFF"/>
          </a:solidFill>
        </p:spPr>
      </p:pic>
      <p:pic>
        <p:nvPicPr>
          <p:cNvPr id="1025" name="Picture 3" descr="Diffuse2">
            <a:extLst>
              <a:ext uri="{FF2B5EF4-FFF2-40B4-BE49-F238E27FC236}">
                <a16:creationId xmlns:a16="http://schemas.microsoft.com/office/drawing/2014/main" id="{30D6AF5B-8F99-45D4-870F-9237AE54E93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5999" y="3763617"/>
            <a:ext cx="4155699" cy="2115975"/>
          </a:xfrm>
          <a:prstGeom prst="rect">
            <a:avLst/>
          </a:prstGeom>
          <a:solidFill>
            <a:srgbClr val="FFFFFF"/>
          </a:solidFill>
        </p:spPr>
      </p:pic>
      <p:sp>
        <p:nvSpPr>
          <p:cNvPr id="6" name="Rectangle 3">
            <a:extLst>
              <a:ext uri="{FF2B5EF4-FFF2-40B4-BE49-F238E27FC236}">
                <a16:creationId xmlns:a16="http://schemas.microsoft.com/office/drawing/2014/main" id="{5DA1255E-E52E-4B39-8EE2-D49333CF930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5945810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4878-85CE-45BB-B7C5-5AEDA80B8E4A}"/>
              </a:ext>
            </a:extLst>
          </p:cNvPr>
          <p:cNvSpPr>
            <a:spLocks noGrp="1"/>
          </p:cNvSpPr>
          <p:nvPr>
            <p:ph type="title"/>
          </p:nvPr>
        </p:nvSpPr>
        <p:spPr/>
        <p:txBody>
          <a:bodyPr/>
          <a:lstStyle/>
          <a:p>
            <a:r>
              <a:rPr lang="en-US" b="1" dirty="0"/>
              <a:t>Types of </a:t>
            </a:r>
            <a:r>
              <a:rPr lang="en-US" b="1" dirty="0" err="1"/>
              <a:t>reflectioN</a:t>
            </a:r>
            <a:endParaRPr lang="en-US" dirty="0"/>
          </a:p>
        </p:txBody>
      </p:sp>
      <p:sp>
        <p:nvSpPr>
          <p:cNvPr id="4" name="Content Placeholder 3">
            <a:extLst>
              <a:ext uri="{FF2B5EF4-FFF2-40B4-BE49-F238E27FC236}">
                <a16:creationId xmlns:a16="http://schemas.microsoft.com/office/drawing/2014/main" id="{11E2E30B-6076-439B-B25F-5BC0CE0DF27E}"/>
              </a:ext>
            </a:extLst>
          </p:cNvPr>
          <p:cNvSpPr>
            <a:spLocks noGrp="1"/>
          </p:cNvSpPr>
          <p:nvPr>
            <p:ph idx="1"/>
          </p:nvPr>
        </p:nvSpPr>
        <p:spPr>
          <a:xfrm>
            <a:off x="1251678" y="2286001"/>
            <a:ext cx="10178322" cy="3593591"/>
          </a:xfrm>
        </p:spPr>
        <p:txBody>
          <a:bodyPr/>
          <a:lstStyle/>
          <a:p>
            <a:pPr lvl="0" fontAlgn="base"/>
            <a:r>
              <a:rPr lang="en-US" b="1" dirty="0">
                <a:solidFill>
                  <a:srgbClr val="53AE6E"/>
                </a:solidFill>
              </a:rPr>
              <a:t>specular</a:t>
            </a:r>
            <a:r>
              <a:rPr lang="en-US" dirty="0"/>
              <a:t> – Specular reflection is similar to reflections of light off a shiny, mirror-like surface. Specular lighting helps us to distinguish between flat, dull surfaces such as plaster and shiny surfaces like polished plastics and metals. </a:t>
            </a:r>
          </a:p>
          <a:p>
            <a:endParaRPr lang="en-US" dirty="0"/>
          </a:p>
        </p:txBody>
      </p:sp>
      <p:sp>
        <p:nvSpPr>
          <p:cNvPr id="6" name="Rectangle 3">
            <a:extLst>
              <a:ext uri="{FF2B5EF4-FFF2-40B4-BE49-F238E27FC236}">
                <a16:creationId xmlns:a16="http://schemas.microsoft.com/office/drawing/2014/main" id="{5DA1255E-E52E-4B39-8EE2-D49333CF930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pic>
        <p:nvPicPr>
          <p:cNvPr id="7" name="Picture 6" descr="phongpic">
            <a:extLst>
              <a:ext uri="{FF2B5EF4-FFF2-40B4-BE49-F238E27FC236}">
                <a16:creationId xmlns:a16="http://schemas.microsoft.com/office/drawing/2014/main" id="{CF774429-FCC5-48FF-B3A7-C84CF37EC0C7}"/>
              </a:ext>
            </a:extLst>
          </p:cNvPr>
          <p:cNvPicPr/>
          <p:nvPr/>
        </p:nvPicPr>
        <p:blipFill>
          <a:blip r:embed="rId3"/>
          <a:srcRect/>
          <a:stretch>
            <a:fillRect/>
          </a:stretch>
        </p:blipFill>
        <p:spPr bwMode="auto">
          <a:xfrm>
            <a:off x="4239039" y="3896139"/>
            <a:ext cx="3713922" cy="2579476"/>
          </a:xfrm>
          <a:prstGeom prst="rect">
            <a:avLst/>
          </a:prstGeom>
          <a:solidFill>
            <a:schemeClr val="bg1"/>
          </a:solidFill>
          <a:ln w="9525">
            <a:noFill/>
            <a:miter lim="800000"/>
            <a:headEnd/>
            <a:tailEnd/>
          </a:ln>
        </p:spPr>
      </p:pic>
    </p:spTree>
    <p:extLst>
      <p:ext uri="{BB962C8B-B14F-4D97-AF65-F5344CB8AC3E}">
        <p14:creationId xmlns:p14="http://schemas.microsoft.com/office/powerpoint/2010/main" val="24856208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4878-85CE-45BB-B7C5-5AEDA80B8E4A}"/>
              </a:ext>
            </a:extLst>
          </p:cNvPr>
          <p:cNvSpPr>
            <a:spLocks noGrp="1"/>
          </p:cNvSpPr>
          <p:nvPr>
            <p:ph type="title"/>
          </p:nvPr>
        </p:nvSpPr>
        <p:spPr/>
        <p:txBody>
          <a:bodyPr/>
          <a:lstStyle/>
          <a:p>
            <a:r>
              <a:rPr lang="en-US" b="1" dirty="0"/>
              <a:t>Types of </a:t>
            </a:r>
            <a:r>
              <a:rPr lang="en-US" b="1" dirty="0" err="1"/>
              <a:t>reflectioN</a:t>
            </a:r>
            <a:endParaRPr lang="en-US" dirty="0"/>
          </a:p>
        </p:txBody>
      </p:sp>
      <p:sp>
        <p:nvSpPr>
          <p:cNvPr id="4" name="Content Placeholder 3">
            <a:extLst>
              <a:ext uri="{FF2B5EF4-FFF2-40B4-BE49-F238E27FC236}">
                <a16:creationId xmlns:a16="http://schemas.microsoft.com/office/drawing/2014/main" id="{11E2E30B-6076-439B-B25F-5BC0CE0DF27E}"/>
              </a:ext>
            </a:extLst>
          </p:cNvPr>
          <p:cNvSpPr>
            <a:spLocks noGrp="1"/>
          </p:cNvSpPr>
          <p:nvPr>
            <p:ph idx="1"/>
          </p:nvPr>
        </p:nvSpPr>
        <p:spPr>
          <a:xfrm>
            <a:off x="1251678" y="2286001"/>
            <a:ext cx="10178322" cy="3593591"/>
          </a:xfrm>
        </p:spPr>
        <p:txBody>
          <a:bodyPr/>
          <a:lstStyle/>
          <a:p>
            <a:pPr lvl="0"/>
            <a:r>
              <a:rPr lang="en-US" sz="2400" b="1" dirty="0">
                <a:solidFill>
                  <a:srgbClr val="53AE6E"/>
                </a:solidFill>
              </a:rPr>
              <a:t>ambient</a:t>
            </a:r>
            <a:r>
              <a:rPr lang="en-US" dirty="0"/>
              <a:t>– Some of the light rays from a light source undergo multiple reflections from various objects in the surroundings and from light sources that populate the environment before hitting and reflecting off the surface of the observed object. But it would be computationally very expensive to model this kind of light precisely. OpenGL approximates this by the </a:t>
            </a:r>
            <a:r>
              <a:rPr lang="en-US" b="1" dirty="0">
                <a:solidFill>
                  <a:srgbClr val="53AE6E"/>
                </a:solidFill>
              </a:rPr>
              <a:t>ambient</a:t>
            </a:r>
            <a:r>
              <a:rPr lang="en-US" dirty="0"/>
              <a:t> light which is </a:t>
            </a:r>
            <a:r>
              <a:rPr lang="en-US" dirty="0">
                <a:highlight>
                  <a:srgbClr val="FFFF00"/>
                </a:highlight>
              </a:rPr>
              <a:t>a uniform background light existing everywhere in the scene</a:t>
            </a:r>
            <a:r>
              <a:rPr lang="en-US" dirty="0"/>
              <a:t>. Similar to diffuse, the light is reflected off the surface uniformly in all directions. </a:t>
            </a:r>
          </a:p>
          <a:p>
            <a:pPr lvl="0"/>
            <a:endParaRPr lang="en-US" dirty="0"/>
          </a:p>
          <a:p>
            <a:pPr lvl="0"/>
            <a:r>
              <a:rPr lang="en-US" sz="2400" b="1" dirty="0">
                <a:solidFill>
                  <a:srgbClr val="53AE6E"/>
                </a:solidFill>
              </a:rPr>
              <a:t>emission</a:t>
            </a:r>
            <a:r>
              <a:rPr lang="en-US" dirty="0"/>
              <a:t> – </a:t>
            </a:r>
            <a:r>
              <a:rPr lang="en-US" dirty="0">
                <a:highlight>
                  <a:srgbClr val="FFFF00"/>
                </a:highlight>
              </a:rPr>
              <a:t>The polygon itself emits additional light </a:t>
            </a:r>
            <a:r>
              <a:rPr lang="en-US" dirty="0"/>
              <a:t>regardless of the light sources in the scene.</a:t>
            </a:r>
          </a:p>
          <a:p>
            <a:endParaRPr lang="en-US" dirty="0"/>
          </a:p>
        </p:txBody>
      </p:sp>
      <p:sp>
        <p:nvSpPr>
          <p:cNvPr id="6" name="Rectangle 3">
            <a:extLst>
              <a:ext uri="{FF2B5EF4-FFF2-40B4-BE49-F238E27FC236}">
                <a16:creationId xmlns:a16="http://schemas.microsoft.com/office/drawing/2014/main" id="{5DA1255E-E52E-4B39-8EE2-D49333CF930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30058084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4878-85CE-45BB-B7C5-5AEDA80B8E4A}"/>
              </a:ext>
            </a:extLst>
          </p:cNvPr>
          <p:cNvSpPr>
            <a:spLocks noGrp="1"/>
          </p:cNvSpPr>
          <p:nvPr>
            <p:ph type="title"/>
          </p:nvPr>
        </p:nvSpPr>
        <p:spPr/>
        <p:txBody>
          <a:bodyPr>
            <a:normAutofit/>
          </a:bodyPr>
          <a:lstStyle/>
          <a:p>
            <a:r>
              <a:rPr lang="en-US" b="1" dirty="0"/>
              <a:t>light sources in OpenGL</a:t>
            </a:r>
            <a:endParaRPr lang="en-US" dirty="0"/>
          </a:p>
        </p:txBody>
      </p:sp>
      <p:graphicFrame>
        <p:nvGraphicFramePr>
          <p:cNvPr id="3" name="Content Placeholder 2">
            <a:extLst>
              <a:ext uri="{FF2B5EF4-FFF2-40B4-BE49-F238E27FC236}">
                <a16:creationId xmlns:a16="http://schemas.microsoft.com/office/drawing/2014/main" id="{E19B0025-6761-4ACA-92C7-F464B7E63E68}"/>
              </a:ext>
            </a:extLst>
          </p:cNvPr>
          <p:cNvGraphicFramePr>
            <a:graphicFrameLocks noGrp="1"/>
          </p:cNvGraphicFramePr>
          <p:nvPr>
            <p:ph idx="1"/>
            <p:extLst>
              <p:ext uri="{D42A27DB-BD31-4B8C-83A1-F6EECF244321}">
                <p14:modId xmlns:p14="http://schemas.microsoft.com/office/powerpoint/2010/main" val="2775019268"/>
              </p:ext>
            </p:extLst>
          </p:nvPr>
        </p:nvGraphicFramePr>
        <p:xfrm>
          <a:off x="1250949" y="3552474"/>
          <a:ext cx="10179050" cy="1492133"/>
        </p:xfrm>
        <a:graphic>
          <a:graphicData uri="http://schemas.openxmlformats.org/drawingml/2006/table">
            <a:tbl>
              <a:tblPr>
                <a:tableStyleId>{5C22544A-7EE6-4342-B048-85BDC9FD1C3A}</a:tableStyleId>
              </a:tblPr>
              <a:tblGrid>
                <a:gridCol w="10179050">
                  <a:extLst>
                    <a:ext uri="{9D8B030D-6E8A-4147-A177-3AD203B41FA5}">
                      <a16:colId xmlns:a16="http://schemas.microsoft.com/office/drawing/2014/main" val="2174049507"/>
                    </a:ext>
                  </a:extLst>
                </a:gridCol>
              </a:tblGrid>
              <a:tr h="1492133">
                <a:tc>
                  <a:txBody>
                    <a:bodyPr/>
                    <a:lstStyle/>
                    <a:p>
                      <a:pPr marL="0" marR="0" algn="l">
                        <a:lnSpc>
                          <a:spcPct val="80000"/>
                        </a:lnSpc>
                        <a:spcBef>
                          <a:spcPts val="600"/>
                        </a:spcBef>
                        <a:spcAft>
                          <a:spcPts val="600"/>
                        </a:spcAft>
                      </a:pPr>
                      <a:r>
                        <a:rPr lang="en-US" sz="1800" b="1" dirty="0">
                          <a:effectLst/>
                        </a:rPr>
                        <a:t>float </a:t>
                      </a:r>
                      <a:r>
                        <a:rPr lang="en-US" sz="1800" b="1" dirty="0" err="1">
                          <a:effectLst/>
                        </a:rPr>
                        <a:t>myLightPosition</a:t>
                      </a:r>
                      <a:r>
                        <a:rPr lang="en-US" sz="1800" b="1" dirty="0">
                          <a:effectLst/>
                        </a:rPr>
                        <a:t>[4] = {3.0, 6.0, 5.0, 1.0};</a:t>
                      </a:r>
                    </a:p>
                    <a:p>
                      <a:pPr marL="0" marR="0" algn="l">
                        <a:lnSpc>
                          <a:spcPct val="80000"/>
                        </a:lnSpc>
                        <a:spcBef>
                          <a:spcPts val="600"/>
                        </a:spcBef>
                        <a:spcAft>
                          <a:spcPts val="600"/>
                        </a:spcAft>
                      </a:pPr>
                      <a:r>
                        <a:rPr lang="en-US" sz="1800" b="1" dirty="0" err="1">
                          <a:effectLst/>
                        </a:rPr>
                        <a:t>glLightfv</a:t>
                      </a:r>
                      <a:r>
                        <a:rPr lang="en-US" sz="1800" b="1" dirty="0">
                          <a:effectLst/>
                        </a:rPr>
                        <a:t>(GL_LIGHT0, GL_POSITION, </a:t>
                      </a:r>
                      <a:r>
                        <a:rPr lang="en-US" sz="1800" b="1" dirty="0" err="1">
                          <a:effectLst/>
                        </a:rPr>
                        <a:t>myLightPosition</a:t>
                      </a:r>
                      <a:r>
                        <a:rPr lang="en-US" sz="1800" b="1" dirty="0">
                          <a:effectLst/>
                        </a:rPr>
                        <a:t>);</a:t>
                      </a:r>
                    </a:p>
                    <a:p>
                      <a:pPr marL="0" marR="0" algn="l">
                        <a:lnSpc>
                          <a:spcPct val="80000"/>
                        </a:lnSpc>
                        <a:spcBef>
                          <a:spcPts val="600"/>
                        </a:spcBef>
                        <a:spcAft>
                          <a:spcPts val="600"/>
                        </a:spcAft>
                      </a:pPr>
                      <a:r>
                        <a:rPr lang="en-US" sz="1800" b="1" dirty="0" err="1">
                          <a:effectLst/>
                        </a:rPr>
                        <a:t>glEnable</a:t>
                      </a:r>
                      <a:r>
                        <a:rPr lang="en-US" sz="1800" b="1" dirty="0">
                          <a:effectLst/>
                        </a:rPr>
                        <a:t>(GL_LIGHTING); // enable</a:t>
                      </a:r>
                    </a:p>
                    <a:p>
                      <a:pPr marL="0" marR="0" algn="l">
                        <a:lnSpc>
                          <a:spcPct val="80000"/>
                        </a:lnSpc>
                        <a:spcBef>
                          <a:spcPts val="600"/>
                        </a:spcBef>
                        <a:spcAft>
                          <a:spcPts val="600"/>
                        </a:spcAft>
                      </a:pPr>
                      <a:r>
                        <a:rPr lang="en-US" sz="1800" b="1" dirty="0" err="1">
                          <a:effectLst/>
                        </a:rPr>
                        <a:t>glEnable</a:t>
                      </a:r>
                      <a:r>
                        <a:rPr lang="en-US" sz="1800" b="1" dirty="0">
                          <a:effectLst/>
                        </a:rPr>
                        <a:t>(GL_LIGHT0); // enable this particular source</a:t>
                      </a:r>
                      <a:endParaRPr lang="en-US" sz="1800" b="1" dirty="0">
                        <a:effectLst/>
                        <a:latin typeface="Courier New" panose="02070309020205020404" pitchFamily="49" charset="0"/>
                        <a:ea typeface="Times New Roman" panose="02020603050405020304" pitchFamily="18" charset="0"/>
                        <a:cs typeface="Times New Roman" panose="02020603050405020304" pitchFamily="18" charset="0"/>
                      </a:endParaRPr>
                    </a:p>
                  </a:txBody>
                  <a:tcPr marL="0" marR="0" marT="0" marB="0"/>
                </a:tc>
                <a:extLst>
                  <a:ext uri="{0D108BD9-81ED-4DB2-BD59-A6C34878D82A}">
                    <a16:rowId xmlns:a16="http://schemas.microsoft.com/office/drawing/2014/main" val="1174738337"/>
                  </a:ext>
                </a:extLst>
              </a:tr>
            </a:tbl>
          </a:graphicData>
        </a:graphic>
      </p:graphicFrame>
      <p:sp>
        <p:nvSpPr>
          <p:cNvPr id="6" name="Rectangle 3">
            <a:extLst>
              <a:ext uri="{FF2B5EF4-FFF2-40B4-BE49-F238E27FC236}">
                <a16:creationId xmlns:a16="http://schemas.microsoft.com/office/drawing/2014/main" id="{5DA1255E-E52E-4B39-8EE2-D49333CF930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8" name="Rectangle 7">
            <a:extLst>
              <a:ext uri="{FF2B5EF4-FFF2-40B4-BE49-F238E27FC236}">
                <a16:creationId xmlns:a16="http://schemas.microsoft.com/office/drawing/2014/main" id="{D4D5EE88-9D4A-4DC1-AD34-C990DAF99FE7}"/>
              </a:ext>
            </a:extLst>
          </p:cNvPr>
          <p:cNvSpPr/>
          <p:nvPr/>
        </p:nvSpPr>
        <p:spPr>
          <a:xfrm>
            <a:off x="1006839" y="1982088"/>
            <a:ext cx="10178321" cy="1323439"/>
          </a:xfrm>
          <a:prstGeom prst="rect">
            <a:avLst/>
          </a:prstGeom>
        </p:spPr>
        <p:txBody>
          <a:bodyPr wrap="square">
            <a:spAutoFit/>
          </a:bodyPr>
          <a:lstStyle/>
          <a:p>
            <a:r>
              <a:rPr lang="en-US" sz="2000" dirty="0">
                <a:solidFill>
                  <a:schemeClr val="tx1">
                    <a:lumMod val="65000"/>
                    <a:lumOff val="35000"/>
                  </a:schemeClr>
                </a:solidFill>
              </a:rPr>
              <a:t>With OpenGL, you can define up to eight light sources, which are referred to through names GL_LIGHT0, GL_LIGHT1, etc. Each source is invested with various properties, and must be enabled. Each property has a default value.</a:t>
            </a:r>
            <a:r>
              <a:rPr lang="en-US" dirty="0"/>
              <a:t> </a:t>
            </a:r>
            <a:r>
              <a:rPr lang="en-US" sz="2000" dirty="0">
                <a:solidFill>
                  <a:schemeClr val="tx1">
                    <a:lumMod val="65000"/>
                    <a:lumOff val="35000"/>
                  </a:schemeClr>
                </a:solidFill>
              </a:rPr>
              <a:t>to create a source located at (3, 6, 5) in world coordinates, use:</a:t>
            </a:r>
          </a:p>
        </p:txBody>
      </p:sp>
    </p:spTree>
    <p:extLst>
      <p:ext uri="{BB962C8B-B14F-4D97-AF65-F5344CB8AC3E}">
        <p14:creationId xmlns:p14="http://schemas.microsoft.com/office/powerpoint/2010/main" val="152963975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4878-85CE-45BB-B7C5-5AEDA80B8E4A}"/>
              </a:ext>
            </a:extLst>
          </p:cNvPr>
          <p:cNvSpPr>
            <a:spLocks noGrp="1"/>
          </p:cNvSpPr>
          <p:nvPr>
            <p:ph type="title"/>
          </p:nvPr>
        </p:nvSpPr>
        <p:spPr/>
        <p:txBody>
          <a:bodyPr>
            <a:normAutofit/>
          </a:bodyPr>
          <a:lstStyle/>
          <a:p>
            <a:r>
              <a:rPr lang="en-US" b="1" dirty="0"/>
              <a:t>light sources in OpenGL</a:t>
            </a:r>
            <a:endParaRPr lang="en-US" dirty="0"/>
          </a:p>
        </p:txBody>
      </p:sp>
      <p:sp>
        <p:nvSpPr>
          <p:cNvPr id="6" name="Rectangle 3">
            <a:extLst>
              <a:ext uri="{FF2B5EF4-FFF2-40B4-BE49-F238E27FC236}">
                <a16:creationId xmlns:a16="http://schemas.microsoft.com/office/drawing/2014/main" id="{5DA1255E-E52E-4B39-8EE2-D49333CF930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Content Placeholder 4">
            <a:extLst>
              <a:ext uri="{FF2B5EF4-FFF2-40B4-BE49-F238E27FC236}">
                <a16:creationId xmlns:a16="http://schemas.microsoft.com/office/drawing/2014/main" id="{E779F605-E31F-4543-A8A5-250A3FCD0675}"/>
              </a:ext>
            </a:extLst>
          </p:cNvPr>
          <p:cNvSpPr>
            <a:spLocks noGrp="1"/>
          </p:cNvSpPr>
          <p:nvPr>
            <p:ph idx="1"/>
          </p:nvPr>
        </p:nvSpPr>
        <p:spPr/>
        <p:txBody>
          <a:bodyPr/>
          <a:lstStyle/>
          <a:p>
            <a:r>
              <a:rPr lang="en-US" dirty="0"/>
              <a:t>The command used to specify all properties of lights is </a:t>
            </a:r>
            <a:r>
              <a:rPr lang="en-US" b="1" dirty="0" err="1">
                <a:solidFill>
                  <a:srgbClr val="53AE6E"/>
                </a:solidFill>
              </a:rPr>
              <a:t>glLight</a:t>
            </a:r>
            <a:r>
              <a:rPr lang="en-US" dirty="0"/>
              <a:t>{if}[v](light,  </a:t>
            </a:r>
            <a:r>
              <a:rPr lang="en-US" dirty="0" err="1"/>
              <a:t>pname</a:t>
            </a:r>
            <a:r>
              <a:rPr lang="en-US" dirty="0"/>
              <a:t>, </a:t>
            </a:r>
            <a:r>
              <a:rPr lang="en-US" dirty="0" err="1"/>
              <a:t>param</a:t>
            </a:r>
            <a:r>
              <a:rPr lang="en-US" dirty="0"/>
              <a:t>), where:</a:t>
            </a:r>
          </a:p>
          <a:p>
            <a:endParaRPr lang="en-US" dirty="0"/>
          </a:p>
        </p:txBody>
      </p:sp>
      <p:graphicFrame>
        <p:nvGraphicFramePr>
          <p:cNvPr id="7" name="Table 6">
            <a:extLst>
              <a:ext uri="{FF2B5EF4-FFF2-40B4-BE49-F238E27FC236}">
                <a16:creationId xmlns:a16="http://schemas.microsoft.com/office/drawing/2014/main" id="{CC14EFA1-6B95-47B5-8462-C7B0CE8AF555}"/>
              </a:ext>
            </a:extLst>
          </p:cNvPr>
          <p:cNvGraphicFramePr>
            <a:graphicFrameLocks noGrp="1"/>
          </p:cNvGraphicFramePr>
          <p:nvPr>
            <p:extLst>
              <p:ext uri="{D42A27DB-BD31-4B8C-83A1-F6EECF244321}">
                <p14:modId xmlns:p14="http://schemas.microsoft.com/office/powerpoint/2010/main" val="1630415368"/>
              </p:ext>
            </p:extLst>
          </p:nvPr>
        </p:nvGraphicFramePr>
        <p:xfrm>
          <a:off x="2067338" y="3193774"/>
          <a:ext cx="8872984" cy="2831617"/>
        </p:xfrm>
        <a:graphic>
          <a:graphicData uri="http://schemas.openxmlformats.org/drawingml/2006/table">
            <a:tbl>
              <a:tblPr firstRow="1" firstCol="1" bandRow="1">
                <a:tableStyleId>{BC89EF96-8CEA-46FF-86C4-4CE0E7609802}</a:tableStyleId>
              </a:tblPr>
              <a:tblGrid>
                <a:gridCol w="4436492">
                  <a:extLst>
                    <a:ext uri="{9D8B030D-6E8A-4147-A177-3AD203B41FA5}">
                      <a16:colId xmlns:a16="http://schemas.microsoft.com/office/drawing/2014/main" val="3743072878"/>
                    </a:ext>
                  </a:extLst>
                </a:gridCol>
                <a:gridCol w="4436492">
                  <a:extLst>
                    <a:ext uri="{9D8B030D-6E8A-4147-A177-3AD203B41FA5}">
                      <a16:colId xmlns:a16="http://schemas.microsoft.com/office/drawing/2014/main" val="936411153"/>
                    </a:ext>
                  </a:extLst>
                </a:gridCol>
              </a:tblGrid>
              <a:tr h="769165">
                <a:tc>
                  <a:txBody>
                    <a:bodyPr/>
                    <a:lstStyle/>
                    <a:p>
                      <a:pPr marL="0" marR="0" algn="ctr">
                        <a:lnSpc>
                          <a:spcPct val="105000"/>
                        </a:lnSpc>
                        <a:spcBef>
                          <a:spcPts val="0"/>
                        </a:spcBef>
                        <a:spcAft>
                          <a:spcPts val="0"/>
                        </a:spcAft>
                      </a:pPr>
                      <a:r>
                        <a:rPr lang="en-US" sz="1600" dirty="0">
                          <a:effectLst/>
                        </a:rPr>
                        <a:t>Light</a:t>
                      </a:r>
                      <a:endParaRPr lang="en-US" sz="16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l">
                        <a:lnSpc>
                          <a:spcPct val="105000"/>
                        </a:lnSpc>
                        <a:spcBef>
                          <a:spcPts val="0"/>
                        </a:spcBef>
                        <a:spcAft>
                          <a:spcPts val="0"/>
                        </a:spcAft>
                      </a:pPr>
                      <a:r>
                        <a:rPr lang="en-US" sz="1600" b="0" dirty="0">
                          <a:effectLst/>
                        </a:rPr>
                        <a:t>refers to the light source being modified. It can be either GL_LIGHT0, GL_LIGHT1, …, or GL_LIGHT7.</a:t>
                      </a:r>
                      <a:endParaRPr lang="en-US" sz="16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205070083"/>
                  </a:ext>
                </a:extLst>
              </a:tr>
              <a:tr h="769165">
                <a:tc>
                  <a:txBody>
                    <a:bodyPr/>
                    <a:lstStyle/>
                    <a:p>
                      <a:pPr marL="0" marR="0" algn="ctr">
                        <a:lnSpc>
                          <a:spcPct val="105000"/>
                        </a:lnSpc>
                        <a:spcBef>
                          <a:spcPts val="0"/>
                        </a:spcBef>
                        <a:spcAft>
                          <a:spcPts val="0"/>
                        </a:spcAft>
                      </a:pPr>
                      <a:r>
                        <a:rPr lang="en-US" sz="1600" dirty="0" err="1">
                          <a:effectLst/>
                        </a:rPr>
                        <a:t>Pname</a:t>
                      </a:r>
                      <a:endParaRPr lang="en-US" sz="16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l">
                        <a:lnSpc>
                          <a:spcPct val="105000"/>
                        </a:lnSpc>
                        <a:spcBef>
                          <a:spcPts val="0"/>
                        </a:spcBef>
                        <a:spcAft>
                          <a:spcPts val="0"/>
                        </a:spcAft>
                      </a:pPr>
                      <a:r>
                        <a:rPr lang="en-US" sz="1600" dirty="0">
                          <a:effectLst/>
                        </a:rPr>
                        <a:t>refers to the characteristic of the light being set. It can be any of the named parameters given in table 1.</a:t>
                      </a:r>
                      <a:endParaRPr lang="en-US" sz="16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781342519"/>
                  </a:ext>
                </a:extLst>
              </a:tr>
              <a:tr h="1293287">
                <a:tc>
                  <a:txBody>
                    <a:bodyPr/>
                    <a:lstStyle/>
                    <a:p>
                      <a:pPr marL="0" marR="0" algn="ctr">
                        <a:lnSpc>
                          <a:spcPct val="105000"/>
                        </a:lnSpc>
                        <a:spcBef>
                          <a:spcPts val="0"/>
                        </a:spcBef>
                        <a:spcAft>
                          <a:spcPts val="0"/>
                        </a:spcAft>
                      </a:pPr>
                      <a:r>
                        <a:rPr lang="en-US" sz="1600" dirty="0">
                          <a:effectLst/>
                        </a:rPr>
                        <a:t>Param</a:t>
                      </a:r>
                      <a:endParaRPr lang="en-US" sz="16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gn="l">
                        <a:lnSpc>
                          <a:spcPct val="105000"/>
                        </a:lnSpc>
                        <a:spcBef>
                          <a:spcPts val="0"/>
                        </a:spcBef>
                        <a:spcAft>
                          <a:spcPts val="0"/>
                        </a:spcAft>
                      </a:pPr>
                      <a:r>
                        <a:rPr lang="en-US" sz="1600" dirty="0">
                          <a:effectLst/>
                        </a:rPr>
                        <a:t>indicates the values to which the </a:t>
                      </a:r>
                      <a:r>
                        <a:rPr lang="en-US" sz="1600" dirty="0" err="1">
                          <a:effectLst/>
                        </a:rPr>
                        <a:t>pname</a:t>
                      </a:r>
                      <a:r>
                        <a:rPr lang="en-US" sz="1600" dirty="0">
                          <a:effectLst/>
                        </a:rPr>
                        <a:t> characteristic is set. It can be an array of values if you are calling the vector version </a:t>
                      </a:r>
                      <a:r>
                        <a:rPr lang="en-US" sz="1600" dirty="0" err="1">
                          <a:effectLst/>
                        </a:rPr>
                        <a:t>glLight</a:t>
                      </a:r>
                      <a:r>
                        <a:rPr lang="en-US" sz="1600" dirty="0">
                          <a:effectLst/>
                        </a:rPr>
                        <a:t>{if}v (). If you the suffix v is dropped, it should be a single value.</a:t>
                      </a:r>
                      <a:endParaRPr lang="en-US" sz="16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353721537"/>
                  </a:ext>
                </a:extLst>
              </a:tr>
            </a:tbl>
          </a:graphicData>
        </a:graphic>
      </p:graphicFrame>
    </p:spTree>
    <p:extLst>
      <p:ext uri="{BB962C8B-B14F-4D97-AF65-F5344CB8AC3E}">
        <p14:creationId xmlns:p14="http://schemas.microsoft.com/office/powerpoint/2010/main" val="16833557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DE4878-85CE-45BB-B7C5-5AEDA80B8E4A}"/>
              </a:ext>
            </a:extLst>
          </p:cNvPr>
          <p:cNvSpPr>
            <a:spLocks noGrp="1"/>
          </p:cNvSpPr>
          <p:nvPr>
            <p:ph type="title"/>
          </p:nvPr>
        </p:nvSpPr>
        <p:spPr/>
        <p:txBody>
          <a:bodyPr>
            <a:normAutofit/>
          </a:bodyPr>
          <a:lstStyle/>
          <a:p>
            <a:r>
              <a:rPr lang="en-US" b="1" dirty="0"/>
              <a:t>Material Properties</a:t>
            </a:r>
            <a:endParaRPr lang="en-US" dirty="0"/>
          </a:p>
        </p:txBody>
      </p:sp>
      <p:sp>
        <p:nvSpPr>
          <p:cNvPr id="6" name="Rectangle 3">
            <a:extLst>
              <a:ext uri="{FF2B5EF4-FFF2-40B4-BE49-F238E27FC236}">
                <a16:creationId xmlns:a16="http://schemas.microsoft.com/office/drawing/2014/main" id="{5DA1255E-E52E-4B39-8EE2-D49333CF930B}"/>
              </a:ext>
            </a:extLst>
          </p:cNvPr>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5" name="Content Placeholder 4">
            <a:extLst>
              <a:ext uri="{FF2B5EF4-FFF2-40B4-BE49-F238E27FC236}">
                <a16:creationId xmlns:a16="http://schemas.microsoft.com/office/drawing/2014/main" id="{E779F605-E31F-4543-A8A5-250A3FCD0675}"/>
              </a:ext>
            </a:extLst>
          </p:cNvPr>
          <p:cNvSpPr>
            <a:spLocks noGrp="1"/>
          </p:cNvSpPr>
          <p:nvPr>
            <p:ph idx="1"/>
          </p:nvPr>
        </p:nvSpPr>
        <p:spPr/>
        <p:txBody>
          <a:bodyPr/>
          <a:lstStyle/>
          <a:p>
            <a:r>
              <a:rPr lang="en-US" dirty="0"/>
              <a:t>The material properties define how the surface of the primitive reflects the incident light.</a:t>
            </a:r>
          </a:p>
          <a:p>
            <a:r>
              <a:rPr lang="en-US" dirty="0"/>
              <a:t>All material properties can be set using the command </a:t>
            </a:r>
            <a:r>
              <a:rPr lang="en-US" b="1" dirty="0" err="1">
                <a:solidFill>
                  <a:srgbClr val="53AE6E"/>
                </a:solidFill>
              </a:rPr>
              <a:t>glMaterial</a:t>
            </a:r>
            <a:r>
              <a:rPr lang="en-US" dirty="0"/>
              <a:t>{if}[v](face, </a:t>
            </a:r>
            <a:r>
              <a:rPr lang="en-US" dirty="0" err="1"/>
              <a:t>pname</a:t>
            </a:r>
            <a:r>
              <a:rPr lang="en-US" dirty="0"/>
              <a:t>, </a:t>
            </a:r>
            <a:r>
              <a:rPr lang="en-US" dirty="0" err="1"/>
              <a:t>param</a:t>
            </a:r>
            <a:r>
              <a:rPr lang="en-US" dirty="0"/>
              <a:t>), where</a:t>
            </a:r>
          </a:p>
          <a:p>
            <a:endParaRPr lang="en-US" dirty="0"/>
          </a:p>
        </p:txBody>
      </p:sp>
      <p:graphicFrame>
        <p:nvGraphicFramePr>
          <p:cNvPr id="3" name="Table 2">
            <a:extLst>
              <a:ext uri="{FF2B5EF4-FFF2-40B4-BE49-F238E27FC236}">
                <a16:creationId xmlns:a16="http://schemas.microsoft.com/office/drawing/2014/main" id="{C73079AF-A790-40FC-802E-625D9A31CAD5}"/>
              </a:ext>
            </a:extLst>
          </p:cNvPr>
          <p:cNvGraphicFramePr>
            <a:graphicFrameLocks noGrp="1"/>
          </p:cNvGraphicFramePr>
          <p:nvPr>
            <p:extLst>
              <p:ext uri="{D42A27DB-BD31-4B8C-83A1-F6EECF244321}">
                <p14:modId xmlns:p14="http://schemas.microsoft.com/office/powerpoint/2010/main" val="3781929181"/>
              </p:ext>
            </p:extLst>
          </p:nvPr>
        </p:nvGraphicFramePr>
        <p:xfrm>
          <a:off x="1251677" y="3428999"/>
          <a:ext cx="10178322" cy="3272735"/>
        </p:xfrm>
        <a:graphic>
          <a:graphicData uri="http://schemas.openxmlformats.org/drawingml/2006/table">
            <a:tbl>
              <a:tblPr firstRow="1" firstCol="1" bandRow="1">
                <a:tableStyleId>{BC89EF96-8CEA-46FF-86C4-4CE0E7609802}</a:tableStyleId>
              </a:tblPr>
              <a:tblGrid>
                <a:gridCol w="5089161">
                  <a:extLst>
                    <a:ext uri="{9D8B030D-6E8A-4147-A177-3AD203B41FA5}">
                      <a16:colId xmlns:a16="http://schemas.microsoft.com/office/drawing/2014/main" val="1652609396"/>
                    </a:ext>
                  </a:extLst>
                </a:gridCol>
                <a:gridCol w="5089161">
                  <a:extLst>
                    <a:ext uri="{9D8B030D-6E8A-4147-A177-3AD203B41FA5}">
                      <a16:colId xmlns:a16="http://schemas.microsoft.com/office/drawing/2014/main" val="3465823018"/>
                    </a:ext>
                  </a:extLst>
                </a:gridCol>
              </a:tblGrid>
              <a:tr h="1338846">
                <a:tc>
                  <a:txBody>
                    <a:bodyPr/>
                    <a:lstStyle/>
                    <a:p>
                      <a:pPr marL="0" marR="0" algn="ctr">
                        <a:lnSpc>
                          <a:spcPct val="105000"/>
                        </a:lnSpc>
                        <a:spcBef>
                          <a:spcPts val="0"/>
                        </a:spcBef>
                        <a:spcAft>
                          <a:spcPts val="0"/>
                        </a:spcAft>
                      </a:pPr>
                      <a:r>
                        <a:rPr lang="en-US" sz="1400" dirty="0">
                          <a:effectLst/>
                        </a:rPr>
                        <a:t>Face</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3650" marR="63650" marT="0" marB="0" anchor="ctr"/>
                </a:tc>
                <a:tc>
                  <a:txBody>
                    <a:bodyPr/>
                    <a:lstStyle/>
                    <a:p>
                      <a:pPr marL="0" marR="0" algn="l">
                        <a:lnSpc>
                          <a:spcPct val="105000"/>
                        </a:lnSpc>
                        <a:spcBef>
                          <a:spcPts val="0"/>
                        </a:spcBef>
                        <a:spcAft>
                          <a:spcPts val="0"/>
                        </a:spcAft>
                      </a:pPr>
                      <a:r>
                        <a:rPr lang="en-US" sz="1400" b="0" dirty="0">
                          <a:effectLst/>
                        </a:rPr>
                        <a:t>can be GL_FRONT, GL_BACK, or GL_FRONT_AND_BACK to indicate which face of the object the material should be applied to. A primitive is front-facing when its vertices appear to the camera in a counter-clockwise order. Otherwise, the primitive is back-facing. OpenGL allows you to put different material to front- and back-facing primitives. </a:t>
                      </a:r>
                      <a:endParaRPr lang="en-US" sz="1400" b="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3650" marR="63650" marT="0" marB="0" anchor="ctr"/>
                </a:tc>
                <a:extLst>
                  <a:ext uri="{0D108BD9-81ED-4DB2-BD59-A6C34878D82A}">
                    <a16:rowId xmlns:a16="http://schemas.microsoft.com/office/drawing/2014/main" val="258461350"/>
                  </a:ext>
                </a:extLst>
              </a:tr>
              <a:tr h="297521">
                <a:tc>
                  <a:txBody>
                    <a:bodyPr/>
                    <a:lstStyle/>
                    <a:p>
                      <a:pPr marL="0" marR="0" algn="ctr">
                        <a:lnSpc>
                          <a:spcPct val="105000"/>
                        </a:lnSpc>
                        <a:spcBef>
                          <a:spcPts val="0"/>
                        </a:spcBef>
                        <a:spcAft>
                          <a:spcPts val="0"/>
                        </a:spcAft>
                      </a:pPr>
                      <a:r>
                        <a:rPr lang="en-US" sz="1400">
                          <a:effectLst/>
                        </a:rPr>
                        <a:t>Pname</a:t>
                      </a:r>
                      <a:endParaRPr lang="en-US" sz="1400">
                        <a:effectLst/>
                        <a:latin typeface="Cambria" panose="02040503050406030204" pitchFamily="18" charset="0"/>
                        <a:ea typeface="Times New Roman" panose="02020603050405020304" pitchFamily="18" charset="0"/>
                        <a:cs typeface="Times New Roman" panose="02020603050405020304" pitchFamily="18" charset="0"/>
                      </a:endParaRPr>
                    </a:p>
                  </a:txBody>
                  <a:tcPr marL="63650" marR="63650" marT="0" marB="0" anchor="ctr"/>
                </a:tc>
                <a:tc>
                  <a:txBody>
                    <a:bodyPr/>
                    <a:lstStyle/>
                    <a:p>
                      <a:pPr marL="0" marR="0" algn="l">
                        <a:lnSpc>
                          <a:spcPct val="105000"/>
                        </a:lnSpc>
                        <a:spcBef>
                          <a:spcPts val="0"/>
                        </a:spcBef>
                        <a:spcAft>
                          <a:spcPts val="0"/>
                        </a:spcAft>
                      </a:pPr>
                      <a:r>
                        <a:rPr lang="en-US" sz="1400" dirty="0">
                          <a:effectLst/>
                        </a:rPr>
                        <a:t>refers to the particular material property being set.</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3650" marR="63650" marT="0" marB="0" anchor="ctr"/>
                </a:tc>
                <a:extLst>
                  <a:ext uri="{0D108BD9-81ED-4DB2-BD59-A6C34878D82A}">
                    <a16:rowId xmlns:a16="http://schemas.microsoft.com/office/drawing/2014/main" val="1513684993"/>
                  </a:ext>
                </a:extLst>
              </a:tr>
              <a:tr h="1636368">
                <a:tc>
                  <a:txBody>
                    <a:bodyPr/>
                    <a:lstStyle/>
                    <a:p>
                      <a:pPr marL="0" marR="0" algn="ctr">
                        <a:lnSpc>
                          <a:spcPct val="105000"/>
                        </a:lnSpc>
                        <a:spcBef>
                          <a:spcPts val="0"/>
                        </a:spcBef>
                        <a:spcAft>
                          <a:spcPts val="0"/>
                        </a:spcAft>
                      </a:pPr>
                      <a:r>
                        <a:rPr lang="en-US" sz="1400" dirty="0">
                          <a:effectLst/>
                        </a:rPr>
                        <a:t>Param</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3650" marR="63650" marT="0" marB="0" anchor="ctr"/>
                </a:tc>
                <a:tc>
                  <a:txBody>
                    <a:bodyPr/>
                    <a:lstStyle/>
                    <a:p>
                      <a:pPr marL="0" marR="0" algn="l">
                        <a:lnSpc>
                          <a:spcPct val="105000"/>
                        </a:lnSpc>
                        <a:spcBef>
                          <a:spcPts val="0"/>
                        </a:spcBef>
                        <a:spcAft>
                          <a:spcPts val="0"/>
                        </a:spcAft>
                      </a:pPr>
                      <a:r>
                        <a:rPr lang="en-US" sz="1400" dirty="0">
                          <a:effectLst/>
                        </a:rPr>
                        <a:t>is the desired values for that property, which is either an array of values (if the vector version is used) or the actual value (if the </a:t>
                      </a:r>
                      <a:r>
                        <a:rPr lang="en-US" sz="1400" dirty="0" err="1">
                          <a:effectLst/>
                        </a:rPr>
                        <a:t>nonvector</a:t>
                      </a:r>
                      <a:r>
                        <a:rPr lang="en-US" sz="1400" dirty="0">
                          <a:effectLst/>
                        </a:rPr>
                        <a:t> version is used). The </a:t>
                      </a:r>
                      <a:r>
                        <a:rPr lang="en-US" sz="1400" dirty="0" err="1">
                          <a:effectLst/>
                        </a:rPr>
                        <a:t>nonvector</a:t>
                      </a:r>
                      <a:r>
                        <a:rPr lang="en-US" sz="1400" dirty="0">
                          <a:effectLst/>
                        </a:rPr>
                        <a:t> version works only for setting GL_SHININESS. The possible values for </a:t>
                      </a:r>
                      <a:r>
                        <a:rPr lang="en-US" sz="1400" dirty="0" err="1">
                          <a:effectLst/>
                        </a:rPr>
                        <a:t>pname</a:t>
                      </a:r>
                      <a:r>
                        <a:rPr lang="en-US" sz="1400" dirty="0">
                          <a:effectLst/>
                        </a:rPr>
                        <a:t> are shown in table 2. Note that GL_AMBIENT_AND_DIFFUSE allows you to set both the ambient and diffuse material colors simultaneously to the same RGBA value. </a:t>
                      </a:r>
                      <a:endParaRPr lang="en-US" sz="1400" dirty="0">
                        <a:effectLst/>
                        <a:latin typeface="Cambria" panose="02040503050406030204" pitchFamily="18" charset="0"/>
                        <a:ea typeface="Times New Roman" panose="02020603050405020304" pitchFamily="18" charset="0"/>
                        <a:cs typeface="Times New Roman" panose="02020603050405020304" pitchFamily="18" charset="0"/>
                      </a:endParaRPr>
                    </a:p>
                  </a:txBody>
                  <a:tcPr marL="63650" marR="63650" marT="0" marB="0" anchor="ctr"/>
                </a:tc>
                <a:extLst>
                  <a:ext uri="{0D108BD9-81ED-4DB2-BD59-A6C34878D82A}">
                    <a16:rowId xmlns:a16="http://schemas.microsoft.com/office/drawing/2014/main" val="3541747086"/>
                  </a:ext>
                </a:extLst>
              </a:tr>
            </a:tbl>
          </a:graphicData>
        </a:graphic>
      </p:graphicFrame>
    </p:spTree>
    <p:extLst>
      <p:ext uri="{BB962C8B-B14F-4D97-AF65-F5344CB8AC3E}">
        <p14:creationId xmlns:p14="http://schemas.microsoft.com/office/powerpoint/2010/main" val="21744512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3A296-BEC6-4BA3-92A8-0D5A4C6D7030}"/>
              </a:ext>
            </a:extLst>
          </p:cNvPr>
          <p:cNvSpPr>
            <a:spLocks noGrp="1"/>
          </p:cNvSpPr>
          <p:nvPr>
            <p:ph type="ctrTitle"/>
          </p:nvPr>
        </p:nvSpPr>
        <p:spPr/>
        <p:txBody>
          <a:bodyPr/>
          <a:lstStyle/>
          <a:p>
            <a:r>
              <a:rPr lang="en-US" sz="5400" b="1" dirty="0"/>
              <a:t>Example</a:t>
            </a:r>
          </a:p>
        </p:txBody>
      </p:sp>
      <p:sp>
        <p:nvSpPr>
          <p:cNvPr id="3" name="Subtitle 2">
            <a:extLst>
              <a:ext uri="{FF2B5EF4-FFF2-40B4-BE49-F238E27FC236}">
                <a16:creationId xmlns:a16="http://schemas.microsoft.com/office/drawing/2014/main" id="{3F479C34-26E7-464D-9E8D-93712309909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9856612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3A296-BEC6-4BA3-92A8-0D5A4C6D7030}"/>
              </a:ext>
            </a:extLst>
          </p:cNvPr>
          <p:cNvSpPr>
            <a:spLocks noGrp="1"/>
          </p:cNvSpPr>
          <p:nvPr>
            <p:ph type="ctrTitle"/>
          </p:nvPr>
        </p:nvSpPr>
        <p:spPr/>
        <p:txBody>
          <a:bodyPr/>
          <a:lstStyle/>
          <a:p>
            <a:r>
              <a:rPr lang="en-US" sz="6000" b="1" dirty="0"/>
              <a:t>Texture</a:t>
            </a:r>
          </a:p>
        </p:txBody>
      </p:sp>
      <p:sp>
        <p:nvSpPr>
          <p:cNvPr id="3" name="Subtitle 2">
            <a:extLst>
              <a:ext uri="{FF2B5EF4-FFF2-40B4-BE49-F238E27FC236}">
                <a16:creationId xmlns:a16="http://schemas.microsoft.com/office/drawing/2014/main" id="{3F479C34-26E7-464D-9E8D-93712309909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24151658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DA2CD-4D14-4090-BA29-4586003F2E51}"/>
              </a:ext>
            </a:extLst>
          </p:cNvPr>
          <p:cNvSpPr>
            <a:spLocks noGrp="1"/>
          </p:cNvSpPr>
          <p:nvPr>
            <p:ph type="title"/>
          </p:nvPr>
        </p:nvSpPr>
        <p:spPr>
          <a:xfrm>
            <a:off x="1251678" y="382385"/>
            <a:ext cx="10178322" cy="1492132"/>
          </a:xfrm>
        </p:spPr>
        <p:txBody>
          <a:bodyPr anchor="ctr"/>
          <a:lstStyle/>
          <a:p>
            <a:r>
              <a:rPr lang="en-US" b="1" dirty="0"/>
              <a:t>Texture</a:t>
            </a:r>
          </a:p>
        </p:txBody>
      </p:sp>
      <p:sp>
        <p:nvSpPr>
          <p:cNvPr id="3" name="Content Placeholder 2">
            <a:extLst>
              <a:ext uri="{FF2B5EF4-FFF2-40B4-BE49-F238E27FC236}">
                <a16:creationId xmlns:a16="http://schemas.microsoft.com/office/drawing/2014/main" id="{AE2E5960-11A1-4839-A55F-4D2FA87D240D}"/>
              </a:ext>
            </a:extLst>
          </p:cNvPr>
          <p:cNvSpPr>
            <a:spLocks noGrp="1"/>
          </p:cNvSpPr>
          <p:nvPr>
            <p:ph idx="1"/>
          </p:nvPr>
        </p:nvSpPr>
        <p:spPr>
          <a:xfrm>
            <a:off x="1251678" y="2135529"/>
            <a:ext cx="10178322" cy="4340086"/>
          </a:xfrm>
        </p:spPr>
        <p:txBody>
          <a:bodyPr>
            <a:normAutofit/>
          </a:bodyPr>
          <a:lstStyle/>
          <a:p>
            <a:pPr algn="just"/>
            <a:r>
              <a:rPr lang="en-US" sz="2400" dirty="0"/>
              <a:t>What artists and programmers generally prefer is to use a </a:t>
            </a:r>
            <a:r>
              <a:rPr lang="en-US" sz="2400" b="1" dirty="0">
                <a:solidFill>
                  <a:srgbClr val="53AE6E"/>
                </a:solidFill>
              </a:rPr>
              <a:t>texture</a:t>
            </a:r>
            <a:r>
              <a:rPr lang="en-US" sz="2400" dirty="0"/>
              <a:t>. A </a:t>
            </a:r>
            <a:r>
              <a:rPr lang="en-US" sz="2400" dirty="0">
                <a:solidFill>
                  <a:srgbClr val="53AE6E"/>
                </a:solidFill>
              </a:rPr>
              <a:t>texture</a:t>
            </a:r>
            <a:r>
              <a:rPr lang="en-US" sz="2400" dirty="0"/>
              <a:t> is a 2D image (even 1D and 3D textures exist) used to add detail to an object; think of a texture as a piece of paper with a nice brick image (for example) on it neatly folded over your 3D house so it looks like your house has a stone exterior. Because we can insert a lot of detail in a single image, we can give the illusion the object is extremely detailed without having to specify extra vertices.</a:t>
            </a:r>
          </a:p>
          <a:p>
            <a:pPr algn="just"/>
            <a:endParaRPr lang="en-US" sz="2400" dirty="0"/>
          </a:p>
        </p:txBody>
      </p:sp>
    </p:spTree>
    <p:extLst>
      <p:ext uri="{BB962C8B-B14F-4D97-AF65-F5344CB8AC3E}">
        <p14:creationId xmlns:p14="http://schemas.microsoft.com/office/powerpoint/2010/main" val="29039187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a:extLst>
              <a:ext uri="{FF2B5EF4-FFF2-40B4-BE49-F238E27FC236}">
                <a16:creationId xmlns:a16="http://schemas.microsoft.com/office/drawing/2014/main" id="{166903F1-68FA-4B15-B68A-23851CB9EABA}"/>
              </a:ext>
            </a:extLst>
          </p:cNvPr>
          <p:cNvPicPr>
            <a:picLocks noGrp="1" noChangeAspect="1"/>
          </p:cNvPicPr>
          <p:nvPr>
            <p:ph type="pic" idx="1"/>
          </p:nvPr>
        </p:nvPicPr>
        <p:blipFill>
          <a:blip r:embed="rId2"/>
          <a:srcRect l="7996" r="7996"/>
          <a:stretch>
            <a:fillRect/>
          </a:stretch>
        </p:blipFill>
        <p:spPr>
          <a:xfrm>
            <a:off x="0" y="0"/>
            <a:ext cx="7354957" cy="6857999"/>
          </a:xfrm>
        </p:spPr>
      </p:pic>
      <p:sp>
        <p:nvSpPr>
          <p:cNvPr id="2" name="Title 1">
            <a:extLst>
              <a:ext uri="{FF2B5EF4-FFF2-40B4-BE49-F238E27FC236}">
                <a16:creationId xmlns:a16="http://schemas.microsoft.com/office/drawing/2014/main" id="{012DA2CD-4D14-4090-BA29-4586003F2E51}"/>
              </a:ext>
            </a:extLst>
          </p:cNvPr>
          <p:cNvSpPr>
            <a:spLocks noGrp="1"/>
          </p:cNvSpPr>
          <p:nvPr>
            <p:ph type="title"/>
          </p:nvPr>
        </p:nvSpPr>
        <p:spPr/>
        <p:txBody>
          <a:bodyPr anchor="ctr">
            <a:normAutofit/>
          </a:bodyPr>
          <a:lstStyle/>
          <a:p>
            <a:r>
              <a:rPr lang="en-US" sz="3200" b="1" dirty="0"/>
              <a:t>Texture</a:t>
            </a:r>
          </a:p>
        </p:txBody>
      </p:sp>
      <p:sp>
        <p:nvSpPr>
          <p:cNvPr id="5" name="Text Placeholder 4">
            <a:extLst>
              <a:ext uri="{FF2B5EF4-FFF2-40B4-BE49-F238E27FC236}">
                <a16:creationId xmlns:a16="http://schemas.microsoft.com/office/drawing/2014/main" id="{92434369-2F17-428C-B3FB-081DDE5E73F1}"/>
              </a:ext>
            </a:extLst>
          </p:cNvPr>
          <p:cNvSpPr>
            <a:spLocks noGrp="1"/>
          </p:cNvSpPr>
          <p:nvPr>
            <p:ph type="body" sz="half" idx="2"/>
          </p:nvPr>
        </p:nvSpPr>
        <p:spPr/>
        <p:txBody>
          <a:bodyPr>
            <a:normAutofit/>
          </a:bodyPr>
          <a:lstStyle/>
          <a:p>
            <a:r>
              <a:rPr lang="en-US" sz="1800" dirty="0"/>
              <a:t>In order to map a texture to the triangle we need to tell each vertex of the triangle which part of the texture it corresponds to. Each vertex should thus have a texture coordinate associated with them that specifies what part of the texture image to sample from. Fragment interpolation then does the rest for the other fragments.</a:t>
            </a:r>
          </a:p>
        </p:txBody>
      </p:sp>
    </p:spTree>
    <p:extLst>
      <p:ext uri="{BB962C8B-B14F-4D97-AF65-F5344CB8AC3E}">
        <p14:creationId xmlns:p14="http://schemas.microsoft.com/office/powerpoint/2010/main" val="7926520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1C9AB5B-374C-461D-ACE6-0E57D1688A73}"/>
              </a:ext>
            </a:extLst>
          </p:cNvPr>
          <p:cNvPicPr>
            <a:picLocks noChangeAspect="1"/>
          </p:cNvPicPr>
          <p:nvPr/>
        </p:nvPicPr>
        <p:blipFill>
          <a:blip r:embed="rId2"/>
          <a:stretch>
            <a:fillRect/>
          </a:stretch>
        </p:blipFill>
        <p:spPr>
          <a:xfrm>
            <a:off x="6098193" y="1425422"/>
            <a:ext cx="5176744" cy="4033415"/>
          </a:xfrm>
          <a:prstGeom prst="rect">
            <a:avLst/>
          </a:prstGeom>
        </p:spPr>
      </p:pic>
      <p:sp>
        <p:nvSpPr>
          <p:cNvPr id="2" name="Title 1">
            <a:extLst>
              <a:ext uri="{FF2B5EF4-FFF2-40B4-BE49-F238E27FC236}">
                <a16:creationId xmlns:a16="http://schemas.microsoft.com/office/drawing/2014/main" id="{11459232-8BF7-417C-862B-5C978227E3F6}"/>
              </a:ext>
            </a:extLst>
          </p:cNvPr>
          <p:cNvSpPr>
            <a:spLocks noGrp="1"/>
          </p:cNvSpPr>
          <p:nvPr>
            <p:ph type="title"/>
          </p:nvPr>
        </p:nvSpPr>
        <p:spPr>
          <a:xfrm>
            <a:off x="1251677" y="645105"/>
            <a:ext cx="4357499" cy="1320855"/>
          </a:xfrm>
        </p:spPr>
        <p:txBody>
          <a:bodyPr>
            <a:normAutofit/>
          </a:bodyPr>
          <a:lstStyle/>
          <a:p>
            <a:r>
              <a:rPr lang="en-US" sz="4400" b="1"/>
              <a:t>Texture</a:t>
            </a:r>
          </a:p>
        </p:txBody>
      </p:sp>
      <p:sp>
        <p:nvSpPr>
          <p:cNvPr id="3" name="Content Placeholder 2">
            <a:extLst>
              <a:ext uri="{FF2B5EF4-FFF2-40B4-BE49-F238E27FC236}">
                <a16:creationId xmlns:a16="http://schemas.microsoft.com/office/drawing/2014/main" id="{5A405EFD-BF68-4D5C-8498-107BD72DB6C9}"/>
              </a:ext>
            </a:extLst>
          </p:cNvPr>
          <p:cNvSpPr>
            <a:spLocks noGrp="1"/>
          </p:cNvSpPr>
          <p:nvPr>
            <p:ph idx="1"/>
          </p:nvPr>
        </p:nvSpPr>
        <p:spPr>
          <a:xfrm>
            <a:off x="1251678" y="2286001"/>
            <a:ext cx="4363595" cy="3593591"/>
          </a:xfrm>
        </p:spPr>
        <p:txBody>
          <a:bodyPr>
            <a:normAutofit/>
          </a:bodyPr>
          <a:lstStyle/>
          <a:p>
            <a:pPr>
              <a:lnSpc>
                <a:spcPct val="100000"/>
              </a:lnSpc>
            </a:pPr>
            <a:r>
              <a:rPr lang="en-US">
                <a:solidFill>
                  <a:srgbClr val="000000"/>
                </a:solidFill>
              </a:rPr>
              <a:t>Texture coordinates range from 0 to 1 in the x and y axis (remember that we use 2D texture images). Retrieving the texture color using texture coordinates is called sampling. Texture coordinates start at (0,0) for the lower left corner of a texture image to (1,1) for the upper right corner of a texture image. The following image shows how we map texture coordinates to the triangle.</a:t>
            </a:r>
          </a:p>
          <a:p>
            <a:pPr>
              <a:lnSpc>
                <a:spcPct val="100000"/>
              </a:lnSpc>
            </a:pPr>
            <a:endParaRPr lang="en-US">
              <a:solidFill>
                <a:srgbClr val="000000"/>
              </a:solidFill>
            </a:endParaRPr>
          </a:p>
        </p:txBody>
      </p:sp>
    </p:spTree>
    <p:extLst>
      <p:ext uri="{BB962C8B-B14F-4D97-AF65-F5344CB8AC3E}">
        <p14:creationId xmlns:p14="http://schemas.microsoft.com/office/powerpoint/2010/main" val="4189702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69836-7C0A-47C1-8BD3-91641DEACE22}"/>
              </a:ext>
            </a:extLst>
          </p:cNvPr>
          <p:cNvSpPr>
            <a:spLocks noGrp="1"/>
          </p:cNvSpPr>
          <p:nvPr>
            <p:ph type="title"/>
          </p:nvPr>
        </p:nvSpPr>
        <p:spPr/>
        <p:txBody>
          <a:bodyPr anchor="ctr">
            <a:normAutofit/>
          </a:bodyPr>
          <a:lstStyle/>
          <a:p>
            <a:r>
              <a:rPr lang="en-US" b="1" dirty="0"/>
              <a:t>Texture Wrapping</a:t>
            </a:r>
            <a:endParaRPr lang="en-US" dirty="0"/>
          </a:p>
        </p:txBody>
      </p:sp>
      <p:sp>
        <p:nvSpPr>
          <p:cNvPr id="3" name="Content Placeholder 2">
            <a:extLst>
              <a:ext uri="{FF2B5EF4-FFF2-40B4-BE49-F238E27FC236}">
                <a16:creationId xmlns:a16="http://schemas.microsoft.com/office/drawing/2014/main" id="{6540800D-B147-43D3-BE40-5D0ABE3C4C50}"/>
              </a:ext>
            </a:extLst>
          </p:cNvPr>
          <p:cNvSpPr>
            <a:spLocks noGrp="1"/>
          </p:cNvSpPr>
          <p:nvPr>
            <p:ph idx="1"/>
          </p:nvPr>
        </p:nvSpPr>
        <p:spPr/>
        <p:txBody>
          <a:bodyPr>
            <a:normAutofit fontScale="92500" lnSpcReduction="10000"/>
          </a:bodyPr>
          <a:lstStyle/>
          <a:p>
            <a:pPr marL="0" indent="0" algn="just">
              <a:buNone/>
            </a:pPr>
            <a:r>
              <a:rPr lang="en-US" sz="2400" dirty="0"/>
              <a:t>The default behavior of OpenGL is to repeat the texture images , but there are more options OpenGL offers:</a:t>
            </a:r>
          </a:p>
          <a:p>
            <a:pPr algn="just"/>
            <a:r>
              <a:rPr lang="en-US" sz="2400" b="1" dirty="0">
                <a:solidFill>
                  <a:srgbClr val="53AE6E"/>
                </a:solidFill>
              </a:rPr>
              <a:t>GL_REPEAT</a:t>
            </a:r>
            <a:r>
              <a:rPr lang="en-US" sz="2400" dirty="0">
                <a:solidFill>
                  <a:srgbClr val="53AE6E"/>
                </a:solidFill>
              </a:rPr>
              <a:t>: </a:t>
            </a:r>
            <a:r>
              <a:rPr lang="en-US" sz="2400" dirty="0"/>
              <a:t>The default behavior for textures. Repeats the texture image.</a:t>
            </a:r>
          </a:p>
          <a:p>
            <a:pPr algn="just"/>
            <a:r>
              <a:rPr lang="en-US" sz="2400" b="1" dirty="0">
                <a:solidFill>
                  <a:srgbClr val="53AE6E"/>
                </a:solidFill>
              </a:rPr>
              <a:t>GL_MIRRORED_REPEAT</a:t>
            </a:r>
            <a:r>
              <a:rPr lang="en-US" sz="2400" dirty="0"/>
              <a:t>: Same as GL_REPEAT but mirrors the image with each repeat.</a:t>
            </a:r>
          </a:p>
          <a:p>
            <a:pPr algn="just"/>
            <a:r>
              <a:rPr lang="en-US" sz="2400" b="1" dirty="0">
                <a:solidFill>
                  <a:srgbClr val="53AE6E"/>
                </a:solidFill>
              </a:rPr>
              <a:t>GL_CLAMP_TO_EDGE</a:t>
            </a:r>
            <a:r>
              <a:rPr lang="en-US" sz="2400" dirty="0"/>
              <a:t>: Clamps the coordinates between 0 and 1. The result is that higher coordinates become clamped to the edge, resulting in a stretched edge pattern.</a:t>
            </a:r>
          </a:p>
          <a:p>
            <a:pPr algn="just"/>
            <a:r>
              <a:rPr lang="en-US" sz="2400" b="1" dirty="0">
                <a:solidFill>
                  <a:srgbClr val="53AE6E"/>
                </a:solidFill>
              </a:rPr>
              <a:t>GL_CLAMP_TO_BORDER</a:t>
            </a:r>
            <a:r>
              <a:rPr lang="en-US" sz="2400" dirty="0"/>
              <a:t>: Coordinates outside the range are now given a user-specified border color.</a:t>
            </a:r>
          </a:p>
        </p:txBody>
      </p:sp>
    </p:spTree>
    <p:extLst>
      <p:ext uri="{BB962C8B-B14F-4D97-AF65-F5344CB8AC3E}">
        <p14:creationId xmlns:p14="http://schemas.microsoft.com/office/powerpoint/2010/main" val="14296366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52DFE-BA65-4CFF-850A-C150D8FA0DCE}"/>
              </a:ext>
            </a:extLst>
          </p:cNvPr>
          <p:cNvSpPr>
            <a:spLocks noGrp="1"/>
          </p:cNvSpPr>
          <p:nvPr>
            <p:ph type="title"/>
          </p:nvPr>
        </p:nvSpPr>
        <p:spPr/>
        <p:txBody>
          <a:bodyPr anchor="ctr"/>
          <a:lstStyle/>
          <a:p>
            <a:r>
              <a:rPr lang="en-US" b="1" dirty="0"/>
              <a:t>Texture Wrapping</a:t>
            </a:r>
            <a:endParaRPr lang="en-US" dirty="0"/>
          </a:p>
        </p:txBody>
      </p:sp>
      <p:pic>
        <p:nvPicPr>
          <p:cNvPr id="5" name="Content Placeholder 4">
            <a:extLst>
              <a:ext uri="{FF2B5EF4-FFF2-40B4-BE49-F238E27FC236}">
                <a16:creationId xmlns:a16="http://schemas.microsoft.com/office/drawing/2014/main" id="{4F72816D-E12D-47D5-8C43-964273B38A9E}"/>
              </a:ext>
            </a:extLst>
          </p:cNvPr>
          <p:cNvPicPr>
            <a:picLocks noGrp="1" noChangeAspect="1"/>
          </p:cNvPicPr>
          <p:nvPr>
            <p:ph idx="1"/>
          </p:nvPr>
        </p:nvPicPr>
        <p:blipFill>
          <a:blip r:embed="rId2"/>
          <a:stretch>
            <a:fillRect/>
          </a:stretch>
        </p:blipFill>
        <p:spPr>
          <a:xfrm>
            <a:off x="1251678" y="1541295"/>
            <a:ext cx="10158730" cy="2857143"/>
          </a:xfrm>
        </p:spPr>
      </p:pic>
      <p:sp>
        <p:nvSpPr>
          <p:cNvPr id="6" name="Rectangle 5">
            <a:extLst>
              <a:ext uri="{FF2B5EF4-FFF2-40B4-BE49-F238E27FC236}">
                <a16:creationId xmlns:a16="http://schemas.microsoft.com/office/drawing/2014/main" id="{78F61ABB-E36E-49CF-BD5F-5E8CB85162D6}"/>
              </a:ext>
            </a:extLst>
          </p:cNvPr>
          <p:cNvSpPr/>
          <p:nvPr/>
        </p:nvSpPr>
        <p:spPr>
          <a:xfrm>
            <a:off x="1251678" y="4591375"/>
            <a:ext cx="9880148"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err="1"/>
              <a:t>glTexParameter</a:t>
            </a:r>
            <a:r>
              <a:rPr lang="en-US" dirty="0" err="1">
                <a:latin typeface="Courier New" panose="02070309020205020404" pitchFamily="49" charset="0"/>
              </a:rPr>
              <a:t>i</a:t>
            </a:r>
            <a:r>
              <a:rPr lang="en-US" dirty="0">
                <a:latin typeface="Courier New" panose="02070309020205020404" pitchFamily="49" charset="0"/>
              </a:rPr>
              <a:t>(GL_TEXTURE_2D, GL_TEXTURE_WRAP_S, GL_MIRRORED_REPEAT); </a:t>
            </a:r>
            <a:r>
              <a:rPr lang="en-US" dirty="0" err="1"/>
              <a:t>glTexParameter</a:t>
            </a:r>
            <a:r>
              <a:rPr lang="en-US" dirty="0" err="1">
                <a:latin typeface="Courier New" panose="02070309020205020404" pitchFamily="49" charset="0"/>
              </a:rPr>
              <a:t>i</a:t>
            </a:r>
            <a:r>
              <a:rPr lang="en-US" dirty="0">
                <a:latin typeface="Courier New" panose="02070309020205020404" pitchFamily="49" charset="0"/>
              </a:rPr>
              <a:t>(GL_TEXTURE_2D, GL_TEXTURE_WRAP_T, GL_MIRRORED_REPEAT);</a:t>
            </a:r>
            <a:endParaRPr lang="en-US" dirty="0"/>
          </a:p>
        </p:txBody>
      </p:sp>
    </p:spTree>
    <p:extLst>
      <p:ext uri="{BB962C8B-B14F-4D97-AF65-F5344CB8AC3E}">
        <p14:creationId xmlns:p14="http://schemas.microsoft.com/office/powerpoint/2010/main" val="401838980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A74C8B-A4C1-49CF-BF99-710FBE402518}"/>
              </a:ext>
            </a:extLst>
          </p:cNvPr>
          <p:cNvSpPr>
            <a:spLocks noGrp="1"/>
          </p:cNvSpPr>
          <p:nvPr>
            <p:ph type="title"/>
          </p:nvPr>
        </p:nvSpPr>
        <p:spPr/>
        <p:txBody>
          <a:bodyPr anchor="ctr"/>
          <a:lstStyle/>
          <a:p>
            <a:r>
              <a:rPr lang="en-US" b="1" dirty="0"/>
              <a:t>Texture Filtering</a:t>
            </a:r>
            <a:endParaRPr lang="en-US" dirty="0"/>
          </a:p>
        </p:txBody>
      </p:sp>
      <p:sp>
        <p:nvSpPr>
          <p:cNvPr id="3" name="Content Placeholder 2">
            <a:extLst>
              <a:ext uri="{FF2B5EF4-FFF2-40B4-BE49-F238E27FC236}">
                <a16:creationId xmlns:a16="http://schemas.microsoft.com/office/drawing/2014/main" id="{84FE4170-3AB3-4788-9FCD-AE07A9958EC2}"/>
              </a:ext>
            </a:extLst>
          </p:cNvPr>
          <p:cNvSpPr>
            <a:spLocks noGrp="1"/>
          </p:cNvSpPr>
          <p:nvPr>
            <p:ph idx="1"/>
          </p:nvPr>
        </p:nvSpPr>
        <p:spPr/>
        <p:txBody>
          <a:bodyPr/>
          <a:lstStyle/>
          <a:p>
            <a:pPr algn="just"/>
            <a:r>
              <a:rPr lang="en-US" dirty="0"/>
              <a:t>OpenGL has options for texture filtering as well. There are several options available but for now we'll discuss the most important options: </a:t>
            </a:r>
            <a:r>
              <a:rPr lang="en-US" b="1" dirty="0">
                <a:solidFill>
                  <a:srgbClr val="53AE6E"/>
                </a:solidFill>
              </a:rPr>
              <a:t>GL_NEAREST</a:t>
            </a:r>
            <a:r>
              <a:rPr lang="en-US" dirty="0"/>
              <a:t> and </a:t>
            </a:r>
            <a:r>
              <a:rPr lang="en-US" b="1" dirty="0">
                <a:solidFill>
                  <a:srgbClr val="53AE6E"/>
                </a:solidFill>
              </a:rPr>
              <a:t>GL_LINEAR</a:t>
            </a:r>
            <a:r>
              <a:rPr lang="en-US" dirty="0"/>
              <a:t>.</a:t>
            </a:r>
          </a:p>
          <a:p>
            <a:pPr algn="just"/>
            <a:endParaRPr lang="en-US" dirty="0"/>
          </a:p>
          <a:p>
            <a:pPr algn="just"/>
            <a:r>
              <a:rPr lang="en-US" b="1" dirty="0">
                <a:solidFill>
                  <a:srgbClr val="53AE6E"/>
                </a:solidFill>
              </a:rPr>
              <a:t>GL_NEAREST</a:t>
            </a:r>
            <a:r>
              <a:rPr lang="en-US" dirty="0"/>
              <a:t> (also known as nearest neighbor filtering) is the default texture filtering method of OpenGL. When set to GL_NEAREST, OpenGL selects the pixel which center is closest to the texture coordinate. Below you can see 4 pixels where the cross represents the exact texture coordinate. The upper-left </a:t>
            </a:r>
            <a:r>
              <a:rPr lang="en-US" dirty="0" err="1"/>
              <a:t>texel</a:t>
            </a:r>
            <a:r>
              <a:rPr lang="en-US" dirty="0"/>
              <a:t> has its center closest to the texture coordinate and is therefore chosen as the sampled color:</a:t>
            </a:r>
          </a:p>
        </p:txBody>
      </p:sp>
      <p:pic>
        <p:nvPicPr>
          <p:cNvPr id="5" name="Picture 4">
            <a:extLst>
              <a:ext uri="{FF2B5EF4-FFF2-40B4-BE49-F238E27FC236}">
                <a16:creationId xmlns:a16="http://schemas.microsoft.com/office/drawing/2014/main" id="{B082BE9B-F351-4DF5-8960-15C4C1B77765}"/>
              </a:ext>
            </a:extLst>
          </p:cNvPr>
          <p:cNvPicPr>
            <a:picLocks noChangeAspect="1"/>
          </p:cNvPicPr>
          <p:nvPr/>
        </p:nvPicPr>
        <p:blipFill>
          <a:blip r:embed="rId2"/>
          <a:stretch>
            <a:fillRect/>
          </a:stretch>
        </p:blipFill>
        <p:spPr>
          <a:xfrm>
            <a:off x="8890318" y="5092290"/>
            <a:ext cx="2539682" cy="1574603"/>
          </a:xfrm>
          <a:prstGeom prst="rect">
            <a:avLst/>
          </a:prstGeom>
        </p:spPr>
      </p:pic>
    </p:spTree>
    <p:extLst>
      <p:ext uri="{BB962C8B-B14F-4D97-AF65-F5344CB8AC3E}">
        <p14:creationId xmlns:p14="http://schemas.microsoft.com/office/powerpoint/2010/main" val="33890580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6B3BF2-23D7-4C0A-915F-9FAC85EB7D0E}"/>
              </a:ext>
            </a:extLst>
          </p:cNvPr>
          <p:cNvSpPr>
            <a:spLocks noGrp="1"/>
          </p:cNvSpPr>
          <p:nvPr>
            <p:ph type="title"/>
          </p:nvPr>
        </p:nvSpPr>
        <p:spPr/>
        <p:txBody>
          <a:bodyPr anchor="ctr"/>
          <a:lstStyle/>
          <a:p>
            <a:r>
              <a:rPr lang="en-US" b="1" dirty="0"/>
              <a:t>Texture Filtering</a:t>
            </a:r>
            <a:endParaRPr lang="en-US" dirty="0"/>
          </a:p>
        </p:txBody>
      </p:sp>
      <p:sp>
        <p:nvSpPr>
          <p:cNvPr id="3" name="Content Placeholder 2">
            <a:extLst>
              <a:ext uri="{FF2B5EF4-FFF2-40B4-BE49-F238E27FC236}">
                <a16:creationId xmlns:a16="http://schemas.microsoft.com/office/drawing/2014/main" id="{3555C590-E4F0-4882-8B88-7232B2188997}"/>
              </a:ext>
            </a:extLst>
          </p:cNvPr>
          <p:cNvSpPr>
            <a:spLocks noGrp="1"/>
          </p:cNvSpPr>
          <p:nvPr>
            <p:ph idx="1"/>
          </p:nvPr>
        </p:nvSpPr>
        <p:spPr/>
        <p:txBody>
          <a:bodyPr/>
          <a:lstStyle/>
          <a:p>
            <a:pPr algn="just"/>
            <a:r>
              <a:rPr lang="en-US" b="1" dirty="0">
                <a:solidFill>
                  <a:srgbClr val="53AE6E"/>
                </a:solidFill>
              </a:rPr>
              <a:t>GL_LINEAR</a:t>
            </a:r>
            <a:r>
              <a:rPr lang="en-US" dirty="0"/>
              <a:t> (also known as (bi)linear filtering) takes an interpolated value from the texture coordinate's neighboring </a:t>
            </a:r>
            <a:r>
              <a:rPr lang="en-US" dirty="0" err="1"/>
              <a:t>texels</a:t>
            </a:r>
            <a:r>
              <a:rPr lang="en-US" dirty="0"/>
              <a:t>, approximating a color between the </a:t>
            </a:r>
            <a:r>
              <a:rPr lang="en-US" dirty="0" err="1"/>
              <a:t>texels</a:t>
            </a:r>
            <a:r>
              <a:rPr lang="en-US" dirty="0"/>
              <a:t>. The smaller the distance from the texture coordinate to a </a:t>
            </a:r>
            <a:r>
              <a:rPr lang="en-US" dirty="0" err="1"/>
              <a:t>texel's</a:t>
            </a:r>
            <a:r>
              <a:rPr lang="en-US" dirty="0"/>
              <a:t> center, the more that </a:t>
            </a:r>
            <a:r>
              <a:rPr lang="en-US" dirty="0" err="1"/>
              <a:t>texel's</a:t>
            </a:r>
            <a:r>
              <a:rPr lang="en-US" dirty="0"/>
              <a:t> color contributes to the sampled color. Below we can see that a mixed color of the neighboring pixels is returned:</a:t>
            </a:r>
          </a:p>
          <a:p>
            <a:pPr marL="0" indent="0" algn="just">
              <a:buNone/>
            </a:pPr>
            <a:endParaRPr lang="en-US" dirty="0"/>
          </a:p>
        </p:txBody>
      </p:sp>
      <p:pic>
        <p:nvPicPr>
          <p:cNvPr id="5" name="Picture 4">
            <a:extLst>
              <a:ext uri="{FF2B5EF4-FFF2-40B4-BE49-F238E27FC236}">
                <a16:creationId xmlns:a16="http://schemas.microsoft.com/office/drawing/2014/main" id="{7DAA66EC-66B3-462E-857D-E556CB923715}"/>
              </a:ext>
            </a:extLst>
          </p:cNvPr>
          <p:cNvPicPr>
            <a:picLocks noChangeAspect="1"/>
          </p:cNvPicPr>
          <p:nvPr/>
        </p:nvPicPr>
        <p:blipFill>
          <a:blip r:embed="rId2"/>
          <a:stretch>
            <a:fillRect/>
          </a:stretch>
        </p:blipFill>
        <p:spPr>
          <a:xfrm>
            <a:off x="9000593" y="4304989"/>
            <a:ext cx="2539682" cy="1574603"/>
          </a:xfrm>
          <a:prstGeom prst="rect">
            <a:avLst/>
          </a:prstGeom>
        </p:spPr>
      </p:pic>
    </p:spTree>
    <p:extLst>
      <p:ext uri="{BB962C8B-B14F-4D97-AF65-F5344CB8AC3E}">
        <p14:creationId xmlns:p14="http://schemas.microsoft.com/office/powerpoint/2010/main" val="5801057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D803F-0B34-44D7-8BC2-2B86A361F48B}"/>
              </a:ext>
            </a:extLst>
          </p:cNvPr>
          <p:cNvSpPr>
            <a:spLocks noGrp="1"/>
          </p:cNvSpPr>
          <p:nvPr>
            <p:ph type="title"/>
          </p:nvPr>
        </p:nvSpPr>
        <p:spPr/>
        <p:txBody>
          <a:bodyPr anchor="ctr"/>
          <a:lstStyle/>
          <a:p>
            <a:r>
              <a:rPr lang="en-US" b="1" dirty="0"/>
              <a:t>Texture Filtering</a:t>
            </a:r>
            <a:endParaRPr lang="en-US" dirty="0"/>
          </a:p>
        </p:txBody>
      </p:sp>
      <p:pic>
        <p:nvPicPr>
          <p:cNvPr id="9" name="Content Placeholder 8">
            <a:extLst>
              <a:ext uri="{FF2B5EF4-FFF2-40B4-BE49-F238E27FC236}">
                <a16:creationId xmlns:a16="http://schemas.microsoft.com/office/drawing/2014/main" id="{465613A5-65D8-4C56-9B7D-AFFCBBFDE4A6}"/>
              </a:ext>
            </a:extLst>
          </p:cNvPr>
          <p:cNvPicPr>
            <a:picLocks noGrp="1" noChangeAspect="1"/>
          </p:cNvPicPr>
          <p:nvPr>
            <p:ph idx="1"/>
          </p:nvPr>
        </p:nvPicPr>
        <p:blipFill>
          <a:blip r:embed="rId2"/>
          <a:stretch>
            <a:fillRect/>
          </a:stretch>
        </p:blipFill>
        <p:spPr>
          <a:xfrm>
            <a:off x="2100470" y="2387811"/>
            <a:ext cx="7991059" cy="2595673"/>
          </a:xfrm>
        </p:spPr>
      </p:pic>
      <p:sp>
        <p:nvSpPr>
          <p:cNvPr id="10" name="Rectangle 9">
            <a:extLst>
              <a:ext uri="{FF2B5EF4-FFF2-40B4-BE49-F238E27FC236}">
                <a16:creationId xmlns:a16="http://schemas.microsoft.com/office/drawing/2014/main" id="{C9979C8E-2BF9-4B98-A734-FFDFE8345DC9}"/>
              </a:ext>
            </a:extLst>
          </p:cNvPr>
          <p:cNvSpPr/>
          <p:nvPr/>
        </p:nvSpPr>
        <p:spPr>
          <a:xfrm>
            <a:off x="1251678" y="5173612"/>
            <a:ext cx="9880148"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r>
              <a:rPr lang="en-US" dirty="0" err="1"/>
              <a:t>glTexParameteri</a:t>
            </a:r>
            <a:r>
              <a:rPr lang="en-US" dirty="0"/>
              <a:t>(GL_TEXTURE_2D, GL_TEXTURE_MIN_FILTER, GL_NEAREST); </a:t>
            </a:r>
            <a:r>
              <a:rPr lang="en-US" dirty="0" err="1"/>
              <a:t>glTexParameteri</a:t>
            </a:r>
            <a:r>
              <a:rPr lang="en-US" dirty="0"/>
              <a:t>(GL_TEXTURE_2D, GL_TEXTURE_MAG_FILTER, GL_LINEAR);</a:t>
            </a:r>
          </a:p>
        </p:txBody>
      </p:sp>
    </p:spTree>
    <p:extLst>
      <p:ext uri="{BB962C8B-B14F-4D97-AF65-F5344CB8AC3E}">
        <p14:creationId xmlns:p14="http://schemas.microsoft.com/office/powerpoint/2010/main" val="35277746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28195-A2F9-4194-8987-A91F7E5F2E1E}"/>
              </a:ext>
            </a:extLst>
          </p:cNvPr>
          <p:cNvSpPr>
            <a:spLocks noGrp="1"/>
          </p:cNvSpPr>
          <p:nvPr>
            <p:ph type="title"/>
          </p:nvPr>
        </p:nvSpPr>
        <p:spPr/>
        <p:txBody>
          <a:bodyPr anchor="ctr">
            <a:normAutofit/>
          </a:bodyPr>
          <a:lstStyle/>
          <a:p>
            <a:r>
              <a:rPr lang="en-US" b="1" dirty="0"/>
              <a:t>Generating a texture</a:t>
            </a:r>
            <a:endParaRPr lang="en-US" dirty="0"/>
          </a:p>
        </p:txBody>
      </p:sp>
      <p:sp>
        <p:nvSpPr>
          <p:cNvPr id="3" name="Content Placeholder 2">
            <a:extLst>
              <a:ext uri="{FF2B5EF4-FFF2-40B4-BE49-F238E27FC236}">
                <a16:creationId xmlns:a16="http://schemas.microsoft.com/office/drawing/2014/main" id="{614E04E4-E25D-4E42-976E-CB11118E0B27}"/>
              </a:ext>
            </a:extLst>
          </p:cNvPr>
          <p:cNvSpPr>
            <a:spLocks noGrp="1"/>
          </p:cNvSpPr>
          <p:nvPr>
            <p:ph idx="1"/>
          </p:nvPr>
        </p:nvSpPr>
        <p:spPr/>
        <p:txBody>
          <a:bodyPr/>
          <a:lstStyle/>
          <a:p>
            <a:r>
              <a:rPr lang="en-US" dirty="0"/>
              <a:t>Like any of the previous objects in OpenGL, textures are referenced with an ID; let's create one:</a:t>
            </a:r>
          </a:p>
          <a:p>
            <a:endParaRPr lang="en-US" dirty="0"/>
          </a:p>
          <a:p>
            <a:pPr marL="0" indent="0">
              <a:buNone/>
            </a:pPr>
            <a:endParaRPr lang="en-US" dirty="0"/>
          </a:p>
          <a:p>
            <a:pPr marL="0" indent="0">
              <a:buNone/>
            </a:pPr>
            <a:endParaRPr lang="en-US" dirty="0"/>
          </a:p>
          <a:p>
            <a:r>
              <a:rPr lang="en-US" dirty="0"/>
              <a:t>The </a:t>
            </a:r>
            <a:r>
              <a:rPr lang="en-US" b="1" dirty="0" err="1">
                <a:solidFill>
                  <a:srgbClr val="53AE6E"/>
                </a:solidFill>
              </a:rPr>
              <a:t>glGenTextures</a:t>
            </a:r>
            <a:r>
              <a:rPr lang="en-US" dirty="0"/>
              <a:t> function first takes as input how many textures we want to generate and stores them in a unsigned </a:t>
            </a:r>
            <a:r>
              <a:rPr lang="en-US" dirty="0" err="1"/>
              <a:t>int</a:t>
            </a:r>
            <a:r>
              <a:rPr lang="en-US" dirty="0"/>
              <a:t> array given as its second argument. Just like other objects we need to bind it so any subsequent texture commands will configure the currently bound texture:</a:t>
            </a:r>
          </a:p>
          <a:p>
            <a:pPr marL="0" indent="0">
              <a:buNone/>
            </a:pPr>
            <a:endParaRPr lang="en-US" dirty="0"/>
          </a:p>
        </p:txBody>
      </p:sp>
      <p:sp>
        <p:nvSpPr>
          <p:cNvPr id="5" name="Rectangle 4">
            <a:extLst>
              <a:ext uri="{FF2B5EF4-FFF2-40B4-BE49-F238E27FC236}">
                <a16:creationId xmlns:a16="http://schemas.microsoft.com/office/drawing/2014/main" id="{405266E7-193A-428E-8152-1D14FBE0EBBE}"/>
              </a:ext>
            </a:extLst>
          </p:cNvPr>
          <p:cNvSpPr/>
          <p:nvPr/>
        </p:nvSpPr>
        <p:spPr>
          <a:xfrm>
            <a:off x="1556803" y="2840790"/>
            <a:ext cx="9568071"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endParaRPr lang="en-US" b="1" dirty="0"/>
          </a:p>
          <a:p>
            <a:r>
              <a:rPr lang="en-US" dirty="0" err="1"/>
              <a:t>GLuint</a:t>
            </a:r>
            <a:r>
              <a:rPr lang="en-US" dirty="0"/>
              <a:t>  texture; //The id of the texture</a:t>
            </a:r>
          </a:p>
          <a:p>
            <a:r>
              <a:rPr lang="en-US" dirty="0" err="1"/>
              <a:t>glGenTextures</a:t>
            </a:r>
            <a:r>
              <a:rPr lang="en-US" dirty="0"/>
              <a:t>(1, &amp;texture); </a:t>
            </a:r>
          </a:p>
        </p:txBody>
      </p:sp>
      <p:sp>
        <p:nvSpPr>
          <p:cNvPr id="8" name="Rectangle 7">
            <a:extLst>
              <a:ext uri="{FF2B5EF4-FFF2-40B4-BE49-F238E27FC236}">
                <a16:creationId xmlns:a16="http://schemas.microsoft.com/office/drawing/2014/main" id="{B61EFCC3-5A9F-48D2-971A-112567AFEB6C}"/>
              </a:ext>
            </a:extLst>
          </p:cNvPr>
          <p:cNvSpPr/>
          <p:nvPr/>
        </p:nvSpPr>
        <p:spPr>
          <a:xfrm>
            <a:off x="1556803" y="5233261"/>
            <a:ext cx="9568071" cy="646331"/>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endParaRPr lang="fr-FR" dirty="0"/>
          </a:p>
          <a:p>
            <a:r>
              <a:rPr lang="fr-FR" dirty="0" err="1"/>
              <a:t>glBindTexture</a:t>
            </a:r>
            <a:r>
              <a:rPr lang="fr-FR" dirty="0"/>
              <a:t>(GL_TEXTURE_2D, texture); </a:t>
            </a:r>
            <a:endParaRPr lang="en-US" dirty="0"/>
          </a:p>
        </p:txBody>
      </p:sp>
    </p:spTree>
    <p:extLst>
      <p:ext uri="{BB962C8B-B14F-4D97-AF65-F5344CB8AC3E}">
        <p14:creationId xmlns:p14="http://schemas.microsoft.com/office/powerpoint/2010/main" val="11185366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8C50C-C832-4B4C-880B-AF8FF37F7B42}"/>
              </a:ext>
            </a:extLst>
          </p:cNvPr>
          <p:cNvSpPr>
            <a:spLocks noGrp="1"/>
          </p:cNvSpPr>
          <p:nvPr>
            <p:ph type="title"/>
          </p:nvPr>
        </p:nvSpPr>
        <p:spPr/>
        <p:txBody>
          <a:bodyPr anchor="ctr"/>
          <a:lstStyle/>
          <a:p>
            <a:r>
              <a:rPr lang="en-US" b="1" dirty="0"/>
              <a:t>Generating a texture</a:t>
            </a:r>
            <a:endParaRPr lang="en-US" dirty="0"/>
          </a:p>
        </p:txBody>
      </p:sp>
      <p:sp>
        <p:nvSpPr>
          <p:cNvPr id="3" name="Content Placeholder 2">
            <a:extLst>
              <a:ext uri="{FF2B5EF4-FFF2-40B4-BE49-F238E27FC236}">
                <a16:creationId xmlns:a16="http://schemas.microsoft.com/office/drawing/2014/main" id="{AA21255E-1B35-4E65-9D5E-9A7B6D8AF029}"/>
              </a:ext>
            </a:extLst>
          </p:cNvPr>
          <p:cNvSpPr>
            <a:spLocks noGrp="1"/>
          </p:cNvSpPr>
          <p:nvPr>
            <p:ph idx="1"/>
          </p:nvPr>
        </p:nvSpPr>
        <p:spPr>
          <a:xfrm>
            <a:off x="1251678" y="2535298"/>
            <a:ext cx="10178322" cy="4322701"/>
          </a:xfrm>
        </p:spPr>
        <p:txBody>
          <a:bodyPr>
            <a:noAutofit/>
          </a:bodyPr>
          <a:lstStyle/>
          <a:p>
            <a:pPr marL="0" indent="0">
              <a:buNone/>
            </a:pPr>
            <a:endParaRPr lang="en-US" sz="1600" dirty="0"/>
          </a:p>
        </p:txBody>
      </p:sp>
      <p:sp>
        <p:nvSpPr>
          <p:cNvPr id="5" name="Rectangle 4">
            <a:extLst>
              <a:ext uri="{FF2B5EF4-FFF2-40B4-BE49-F238E27FC236}">
                <a16:creationId xmlns:a16="http://schemas.microsoft.com/office/drawing/2014/main" id="{ED1B517E-101A-4344-A8FA-06D6CE53CBA6}"/>
              </a:ext>
            </a:extLst>
          </p:cNvPr>
          <p:cNvSpPr/>
          <p:nvPr/>
        </p:nvSpPr>
        <p:spPr>
          <a:xfrm>
            <a:off x="1556803" y="3773318"/>
            <a:ext cx="9568071" cy="923330"/>
          </a:xfrm>
          <a:prstGeom prst="rect">
            <a:avLst/>
          </a:prstGeom>
        </p:spPr>
        <p:style>
          <a:lnRef idx="0">
            <a:schemeClr val="accent2"/>
          </a:lnRef>
          <a:fillRef idx="3">
            <a:schemeClr val="accent2"/>
          </a:fillRef>
          <a:effectRef idx="3">
            <a:schemeClr val="accent2"/>
          </a:effectRef>
          <a:fontRef idx="minor">
            <a:schemeClr val="lt1"/>
          </a:fontRef>
        </p:style>
        <p:txBody>
          <a:bodyPr wrap="square">
            <a:spAutoFit/>
          </a:bodyPr>
          <a:lstStyle/>
          <a:p>
            <a:br>
              <a:rPr lang="en-US" dirty="0"/>
            </a:br>
            <a:r>
              <a:rPr lang="en-US" dirty="0"/>
              <a:t>glTexImage2D(GL_TEXTURE_2D, 0, GL_RGB, width, height, 0, GL_RGB, GL_UNSIGNED_BYTE, data); </a:t>
            </a:r>
            <a:r>
              <a:rPr lang="en-US" dirty="0" err="1"/>
              <a:t>glGenerateMipmap</a:t>
            </a:r>
            <a:r>
              <a:rPr lang="en-US" dirty="0"/>
              <a:t>(GL_TEXTURE_2D);</a:t>
            </a:r>
          </a:p>
        </p:txBody>
      </p:sp>
    </p:spTree>
    <p:extLst>
      <p:ext uri="{BB962C8B-B14F-4D97-AF65-F5344CB8AC3E}">
        <p14:creationId xmlns:p14="http://schemas.microsoft.com/office/powerpoint/2010/main" val="18375486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08BC1-2675-45B0-9B32-E32C3B911BE5}"/>
              </a:ext>
            </a:extLst>
          </p:cNvPr>
          <p:cNvSpPr>
            <a:spLocks noGrp="1"/>
          </p:cNvSpPr>
          <p:nvPr>
            <p:ph type="title"/>
          </p:nvPr>
        </p:nvSpPr>
        <p:spPr/>
        <p:txBody>
          <a:bodyPr anchor="ctr"/>
          <a:lstStyle/>
          <a:p>
            <a:r>
              <a:rPr lang="en-US" b="1" dirty="0"/>
              <a:t>Generating a texture</a:t>
            </a:r>
            <a:endParaRPr lang="en-US" dirty="0"/>
          </a:p>
        </p:txBody>
      </p:sp>
      <p:sp>
        <p:nvSpPr>
          <p:cNvPr id="3" name="Content Placeholder 2">
            <a:extLst>
              <a:ext uri="{FF2B5EF4-FFF2-40B4-BE49-F238E27FC236}">
                <a16:creationId xmlns:a16="http://schemas.microsoft.com/office/drawing/2014/main" id="{E32A72D0-F82F-4B6B-A726-C43198DCA20D}"/>
              </a:ext>
            </a:extLst>
          </p:cNvPr>
          <p:cNvSpPr>
            <a:spLocks noGrp="1"/>
          </p:cNvSpPr>
          <p:nvPr>
            <p:ph idx="1"/>
          </p:nvPr>
        </p:nvSpPr>
        <p:spPr>
          <a:xfrm>
            <a:off x="1251678" y="2054087"/>
            <a:ext cx="10178322" cy="4625009"/>
          </a:xfrm>
        </p:spPr>
        <p:txBody>
          <a:bodyPr>
            <a:normAutofit fontScale="92500" lnSpcReduction="10000"/>
          </a:bodyPr>
          <a:lstStyle/>
          <a:p>
            <a:pPr marL="0" indent="0">
              <a:buNone/>
            </a:pPr>
            <a:r>
              <a:rPr lang="en-US" dirty="0"/>
              <a:t>This is a large function with quite a few parameters so we'll walk through them step-by-step:</a:t>
            </a:r>
          </a:p>
          <a:p>
            <a:r>
              <a:rPr lang="en-US" dirty="0"/>
              <a:t>The </a:t>
            </a:r>
            <a:r>
              <a:rPr lang="en-US" b="1" dirty="0">
                <a:solidFill>
                  <a:srgbClr val="53AE6E"/>
                </a:solidFill>
              </a:rPr>
              <a:t>first argument </a:t>
            </a:r>
            <a:r>
              <a:rPr lang="en-US" dirty="0"/>
              <a:t>specifies the texture target; setting this to GL_TEXTURE_2D means this operation will generate a texture on the currently bound texture object at the same target.</a:t>
            </a:r>
          </a:p>
          <a:p>
            <a:r>
              <a:rPr lang="en-US" dirty="0"/>
              <a:t>The </a:t>
            </a:r>
            <a:r>
              <a:rPr lang="en-US" b="1" dirty="0">
                <a:solidFill>
                  <a:srgbClr val="53AE6E"/>
                </a:solidFill>
              </a:rPr>
              <a:t>second argument </a:t>
            </a:r>
            <a:r>
              <a:rPr lang="en-US" dirty="0"/>
              <a:t>specifies the mipmap level for which we want to create a texture for if you want to set each mipmap level manually, but we'll leave it at the base level which is 0.</a:t>
            </a:r>
          </a:p>
          <a:p>
            <a:r>
              <a:rPr lang="en-US" dirty="0"/>
              <a:t>The </a:t>
            </a:r>
            <a:r>
              <a:rPr lang="en-US" b="1" dirty="0">
                <a:solidFill>
                  <a:srgbClr val="53AE6E"/>
                </a:solidFill>
              </a:rPr>
              <a:t>third argument </a:t>
            </a:r>
            <a:r>
              <a:rPr lang="en-US" dirty="0"/>
              <a:t>tells OpenGL in what kind of format we want to store the texture. Our image has only RGB values so we'll store the texture with RGB values as well.</a:t>
            </a:r>
          </a:p>
          <a:p>
            <a:r>
              <a:rPr lang="en-US" dirty="0"/>
              <a:t>The </a:t>
            </a:r>
            <a:r>
              <a:rPr lang="en-US" b="1" dirty="0">
                <a:solidFill>
                  <a:srgbClr val="53AE6E"/>
                </a:solidFill>
              </a:rPr>
              <a:t>4th and 5th argument </a:t>
            </a:r>
            <a:r>
              <a:rPr lang="en-US" dirty="0"/>
              <a:t>sets the width and height of the resulting texture. We stored those earlier when loading the image so we'll use the corresponding variables.</a:t>
            </a:r>
          </a:p>
          <a:p>
            <a:r>
              <a:rPr lang="en-US" dirty="0"/>
              <a:t>The </a:t>
            </a:r>
            <a:r>
              <a:rPr lang="en-US" b="1" dirty="0">
                <a:solidFill>
                  <a:srgbClr val="53AE6E"/>
                </a:solidFill>
              </a:rPr>
              <a:t>next argument </a:t>
            </a:r>
            <a:r>
              <a:rPr lang="en-US" dirty="0"/>
              <a:t>should always be 0 (some legacy stuff).</a:t>
            </a:r>
          </a:p>
          <a:p>
            <a:r>
              <a:rPr lang="en-US" dirty="0"/>
              <a:t>The </a:t>
            </a:r>
            <a:r>
              <a:rPr lang="en-US" b="1" dirty="0">
                <a:solidFill>
                  <a:srgbClr val="53AE6E"/>
                </a:solidFill>
              </a:rPr>
              <a:t>7th and 8th argument </a:t>
            </a:r>
            <a:r>
              <a:rPr lang="en-US" dirty="0"/>
              <a:t>specify the format and datatype of the source image. We loaded the image with RGB values and stored them as chars (bytes) so we'll pass in the corresponding values.</a:t>
            </a:r>
          </a:p>
          <a:p>
            <a:r>
              <a:rPr lang="en-US" dirty="0"/>
              <a:t>The </a:t>
            </a:r>
            <a:r>
              <a:rPr lang="en-US" b="1" dirty="0">
                <a:solidFill>
                  <a:srgbClr val="53AE6E"/>
                </a:solidFill>
              </a:rPr>
              <a:t>last argument </a:t>
            </a:r>
            <a:r>
              <a:rPr lang="en-US" dirty="0"/>
              <a:t>is the actual image data.</a:t>
            </a:r>
          </a:p>
          <a:p>
            <a:endParaRPr lang="en-US" dirty="0"/>
          </a:p>
        </p:txBody>
      </p:sp>
    </p:spTree>
    <p:extLst>
      <p:ext uri="{BB962C8B-B14F-4D97-AF65-F5344CB8AC3E}">
        <p14:creationId xmlns:p14="http://schemas.microsoft.com/office/powerpoint/2010/main" val="27103872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3A296-BEC6-4BA3-92A8-0D5A4C6D7030}"/>
              </a:ext>
            </a:extLst>
          </p:cNvPr>
          <p:cNvSpPr>
            <a:spLocks noGrp="1"/>
          </p:cNvSpPr>
          <p:nvPr>
            <p:ph type="ctrTitle"/>
          </p:nvPr>
        </p:nvSpPr>
        <p:spPr/>
        <p:txBody>
          <a:bodyPr/>
          <a:lstStyle/>
          <a:p>
            <a:r>
              <a:rPr lang="en-US" sz="5400" b="1" dirty="0"/>
              <a:t>Example</a:t>
            </a:r>
          </a:p>
        </p:txBody>
      </p:sp>
      <p:sp>
        <p:nvSpPr>
          <p:cNvPr id="3" name="Subtitle 2">
            <a:extLst>
              <a:ext uri="{FF2B5EF4-FFF2-40B4-BE49-F238E27FC236}">
                <a16:creationId xmlns:a16="http://schemas.microsoft.com/office/drawing/2014/main" id="{3F479C34-26E7-464D-9E8D-93712309909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33098038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3A296-BEC6-4BA3-92A8-0D5A4C6D7030}"/>
              </a:ext>
            </a:extLst>
          </p:cNvPr>
          <p:cNvSpPr>
            <a:spLocks noGrp="1"/>
          </p:cNvSpPr>
          <p:nvPr>
            <p:ph type="ctrTitle"/>
          </p:nvPr>
        </p:nvSpPr>
        <p:spPr/>
        <p:txBody>
          <a:bodyPr/>
          <a:lstStyle/>
          <a:p>
            <a:r>
              <a:rPr lang="en-US" sz="6000" b="1" dirty="0"/>
              <a:t>Collision</a:t>
            </a:r>
          </a:p>
        </p:txBody>
      </p:sp>
      <p:sp>
        <p:nvSpPr>
          <p:cNvPr id="3" name="Subtitle 2">
            <a:extLst>
              <a:ext uri="{FF2B5EF4-FFF2-40B4-BE49-F238E27FC236}">
                <a16:creationId xmlns:a16="http://schemas.microsoft.com/office/drawing/2014/main" id="{3F479C34-26E7-464D-9E8D-93712309909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3208418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08BC1-2675-45B0-9B32-E32C3B911BE5}"/>
              </a:ext>
            </a:extLst>
          </p:cNvPr>
          <p:cNvSpPr>
            <a:spLocks noGrp="1"/>
          </p:cNvSpPr>
          <p:nvPr>
            <p:ph type="title"/>
          </p:nvPr>
        </p:nvSpPr>
        <p:spPr/>
        <p:txBody>
          <a:bodyPr anchor="ctr"/>
          <a:lstStyle/>
          <a:p>
            <a:r>
              <a:rPr lang="en-US" b="1" dirty="0"/>
              <a:t>Collision</a:t>
            </a:r>
            <a:endParaRPr lang="en-US" dirty="0"/>
          </a:p>
        </p:txBody>
      </p:sp>
      <p:sp>
        <p:nvSpPr>
          <p:cNvPr id="3" name="Content Placeholder 2">
            <a:extLst>
              <a:ext uri="{FF2B5EF4-FFF2-40B4-BE49-F238E27FC236}">
                <a16:creationId xmlns:a16="http://schemas.microsoft.com/office/drawing/2014/main" id="{E32A72D0-F82F-4B6B-A726-C43198DCA20D}"/>
              </a:ext>
            </a:extLst>
          </p:cNvPr>
          <p:cNvSpPr>
            <a:spLocks noGrp="1"/>
          </p:cNvSpPr>
          <p:nvPr>
            <p:ph idx="1"/>
          </p:nvPr>
        </p:nvSpPr>
        <p:spPr>
          <a:xfrm>
            <a:off x="1251678" y="2054087"/>
            <a:ext cx="10178322" cy="4625009"/>
          </a:xfrm>
        </p:spPr>
        <p:txBody>
          <a:bodyPr>
            <a:normAutofit/>
          </a:bodyPr>
          <a:lstStyle/>
          <a:p>
            <a:pPr algn="just"/>
            <a:r>
              <a:rPr lang="en-US" sz="2400" dirty="0"/>
              <a:t>When trying to determine if a </a:t>
            </a:r>
            <a:r>
              <a:rPr lang="en-US" sz="2400" b="1" dirty="0">
                <a:solidFill>
                  <a:srgbClr val="53AE6E"/>
                </a:solidFill>
              </a:rPr>
              <a:t>collision</a:t>
            </a:r>
            <a:r>
              <a:rPr lang="en-US" sz="2400" dirty="0"/>
              <a:t> occurs between two objects, we generally do not use the data of the objects themselves since these objects are often quite complicated; this in turn also makes the </a:t>
            </a:r>
            <a:r>
              <a:rPr lang="en-US" sz="2400" b="1" dirty="0">
                <a:solidFill>
                  <a:srgbClr val="53AE6E"/>
                </a:solidFill>
              </a:rPr>
              <a:t>collision</a:t>
            </a:r>
            <a:r>
              <a:rPr lang="en-US" sz="2400" dirty="0"/>
              <a:t> detection complicated. For this reason, it is a common practice to use more simple shapes (that usually have a nice mathematical definition) for </a:t>
            </a:r>
            <a:r>
              <a:rPr lang="en-US" sz="2400" b="1" dirty="0">
                <a:solidFill>
                  <a:srgbClr val="53AE6E"/>
                </a:solidFill>
              </a:rPr>
              <a:t>collision</a:t>
            </a:r>
            <a:r>
              <a:rPr lang="en-US" sz="2400" dirty="0"/>
              <a:t> detection that we overlay on top of the original object. We then check for collisions based on these simple shapes which makes the code easier and saves a lot of performance. Several examples of such </a:t>
            </a:r>
            <a:r>
              <a:rPr lang="en-US" sz="2400" b="1" dirty="0">
                <a:solidFill>
                  <a:srgbClr val="53AE6E"/>
                </a:solidFill>
              </a:rPr>
              <a:t>collision</a:t>
            </a:r>
            <a:r>
              <a:rPr lang="en-US" sz="2400" dirty="0"/>
              <a:t> shapes are circles, spheres, rectangles and boxes; these are a lot simpler to work with compared to meshes with hundreds of triangles.</a:t>
            </a:r>
          </a:p>
        </p:txBody>
      </p:sp>
    </p:spTree>
    <p:extLst>
      <p:ext uri="{BB962C8B-B14F-4D97-AF65-F5344CB8AC3E}">
        <p14:creationId xmlns:p14="http://schemas.microsoft.com/office/powerpoint/2010/main" val="420382833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08BC1-2675-45B0-9B32-E32C3B911BE5}"/>
              </a:ext>
            </a:extLst>
          </p:cNvPr>
          <p:cNvSpPr>
            <a:spLocks noGrp="1"/>
          </p:cNvSpPr>
          <p:nvPr>
            <p:ph type="title"/>
          </p:nvPr>
        </p:nvSpPr>
        <p:spPr/>
        <p:txBody>
          <a:bodyPr anchor="ctr"/>
          <a:lstStyle/>
          <a:p>
            <a:r>
              <a:rPr lang="en-US" b="1" dirty="0"/>
              <a:t>AABB - AABB collisions</a:t>
            </a:r>
            <a:endParaRPr lang="en-US" dirty="0"/>
          </a:p>
        </p:txBody>
      </p:sp>
      <p:sp>
        <p:nvSpPr>
          <p:cNvPr id="3" name="Content Placeholder 2">
            <a:extLst>
              <a:ext uri="{FF2B5EF4-FFF2-40B4-BE49-F238E27FC236}">
                <a16:creationId xmlns:a16="http://schemas.microsoft.com/office/drawing/2014/main" id="{E32A72D0-F82F-4B6B-A726-C43198DCA20D}"/>
              </a:ext>
            </a:extLst>
          </p:cNvPr>
          <p:cNvSpPr>
            <a:spLocks noGrp="1"/>
          </p:cNvSpPr>
          <p:nvPr>
            <p:ph idx="1"/>
          </p:nvPr>
        </p:nvSpPr>
        <p:spPr>
          <a:xfrm>
            <a:off x="1251678" y="2054087"/>
            <a:ext cx="10178322" cy="4625009"/>
          </a:xfrm>
        </p:spPr>
        <p:txBody>
          <a:bodyPr>
            <a:normAutofit/>
          </a:bodyPr>
          <a:lstStyle/>
          <a:p>
            <a:pPr algn="just"/>
            <a:r>
              <a:rPr lang="en-US" b="1" dirty="0">
                <a:solidFill>
                  <a:srgbClr val="53AE6E"/>
                </a:solidFill>
              </a:rPr>
              <a:t>AABB</a:t>
            </a:r>
            <a:r>
              <a:rPr lang="en-US" dirty="0"/>
              <a:t> stands for </a:t>
            </a:r>
            <a:r>
              <a:rPr lang="en-US" b="1" i="1" dirty="0">
                <a:solidFill>
                  <a:srgbClr val="53AE6E"/>
                </a:solidFill>
              </a:rPr>
              <a:t>axis-aligned bounding </a:t>
            </a:r>
            <a:r>
              <a:rPr lang="en-US" dirty="0"/>
              <a:t>box which is a rectangular collision shape aligned to the base axes of the scene, which in 2D aligns to the x and y axis. Being axis-aligned means the rectangular box is not rotated and its edges are parallel to the base axes of the scene (e.g. left and right edge are parallel to the y axis). The fact that these boxes are always aligned to the axes of the scene makes all calculations easier. Here we surround the ball object with an AABB:</a:t>
            </a:r>
          </a:p>
        </p:txBody>
      </p:sp>
      <p:pic>
        <p:nvPicPr>
          <p:cNvPr id="4" name="Picture 3">
            <a:extLst>
              <a:ext uri="{FF2B5EF4-FFF2-40B4-BE49-F238E27FC236}">
                <a16:creationId xmlns:a16="http://schemas.microsoft.com/office/drawing/2014/main" id="{A327C73E-A81F-45AE-94A1-1ED27A20A40C}"/>
              </a:ext>
            </a:extLst>
          </p:cNvPr>
          <p:cNvPicPr>
            <a:picLocks noChangeAspect="1"/>
          </p:cNvPicPr>
          <p:nvPr/>
        </p:nvPicPr>
        <p:blipFill>
          <a:blip r:embed="rId2"/>
          <a:stretch>
            <a:fillRect/>
          </a:stretch>
        </p:blipFill>
        <p:spPr>
          <a:xfrm>
            <a:off x="8572500" y="3875290"/>
            <a:ext cx="2857500" cy="2600325"/>
          </a:xfrm>
          <a:prstGeom prst="rect">
            <a:avLst/>
          </a:prstGeom>
        </p:spPr>
      </p:pic>
    </p:spTree>
    <p:extLst>
      <p:ext uri="{BB962C8B-B14F-4D97-AF65-F5344CB8AC3E}">
        <p14:creationId xmlns:p14="http://schemas.microsoft.com/office/powerpoint/2010/main" val="31326123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08BC1-2675-45B0-9B32-E32C3B911BE5}"/>
              </a:ext>
            </a:extLst>
          </p:cNvPr>
          <p:cNvSpPr>
            <a:spLocks noGrp="1"/>
          </p:cNvSpPr>
          <p:nvPr>
            <p:ph type="title"/>
          </p:nvPr>
        </p:nvSpPr>
        <p:spPr/>
        <p:txBody>
          <a:bodyPr anchor="ctr"/>
          <a:lstStyle/>
          <a:p>
            <a:r>
              <a:rPr lang="en-US" b="1" dirty="0"/>
              <a:t>how do we determine collisions?</a:t>
            </a:r>
            <a:endParaRPr lang="en-US" dirty="0"/>
          </a:p>
        </p:txBody>
      </p:sp>
      <p:sp>
        <p:nvSpPr>
          <p:cNvPr id="3" name="Content Placeholder 2">
            <a:extLst>
              <a:ext uri="{FF2B5EF4-FFF2-40B4-BE49-F238E27FC236}">
                <a16:creationId xmlns:a16="http://schemas.microsoft.com/office/drawing/2014/main" id="{E32A72D0-F82F-4B6B-A726-C43198DCA20D}"/>
              </a:ext>
            </a:extLst>
          </p:cNvPr>
          <p:cNvSpPr>
            <a:spLocks noGrp="1"/>
          </p:cNvSpPr>
          <p:nvPr>
            <p:ph idx="1"/>
          </p:nvPr>
        </p:nvSpPr>
        <p:spPr>
          <a:xfrm>
            <a:off x="1251678" y="2054087"/>
            <a:ext cx="10178322" cy="4625009"/>
          </a:xfrm>
        </p:spPr>
        <p:txBody>
          <a:bodyPr>
            <a:normAutofit/>
          </a:bodyPr>
          <a:lstStyle/>
          <a:p>
            <a:pPr algn="just"/>
            <a:r>
              <a:rPr lang="en-US" dirty="0"/>
              <a:t>A collision occurs when two collision shapes enter each other's regions e.g. the shape that determines the first object is in some way inside the shape of the second object. For </a:t>
            </a:r>
            <a:r>
              <a:rPr lang="en-US" b="1" dirty="0">
                <a:solidFill>
                  <a:srgbClr val="53AE6E"/>
                </a:solidFill>
              </a:rPr>
              <a:t>AABBs</a:t>
            </a:r>
            <a:r>
              <a:rPr lang="en-US" dirty="0"/>
              <a:t> this is quite easy to determine due to the fact that they're aligned to the scene's axes: we check for each axis if the two object' edges on that axis overlap. So basically we check if the horizontal edges overlap and if the vertical edges overlap of both objects. If both the horizontal </a:t>
            </a:r>
            <a:r>
              <a:rPr lang="en-US" b="1" dirty="0"/>
              <a:t>and </a:t>
            </a:r>
            <a:r>
              <a:rPr lang="en-US" dirty="0"/>
              <a:t>vertical edges overlap we have a collision.</a:t>
            </a:r>
          </a:p>
        </p:txBody>
      </p:sp>
      <p:pic>
        <p:nvPicPr>
          <p:cNvPr id="1026" name="Picture 2" descr="Image of overlapping edges of AABB">
            <a:extLst>
              <a:ext uri="{FF2B5EF4-FFF2-40B4-BE49-F238E27FC236}">
                <a16:creationId xmlns:a16="http://schemas.microsoft.com/office/drawing/2014/main" id="{59D99764-340D-4D72-A7CE-5C6A4998C7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15000" y="4342015"/>
            <a:ext cx="5715000" cy="21336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04449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08BC1-2675-45B0-9B32-E32C3B911BE5}"/>
              </a:ext>
            </a:extLst>
          </p:cNvPr>
          <p:cNvSpPr>
            <a:spLocks noGrp="1"/>
          </p:cNvSpPr>
          <p:nvPr>
            <p:ph type="title"/>
          </p:nvPr>
        </p:nvSpPr>
        <p:spPr/>
        <p:txBody>
          <a:bodyPr anchor="ctr"/>
          <a:lstStyle/>
          <a:p>
            <a:r>
              <a:rPr lang="en-US" b="1" dirty="0"/>
              <a:t>how do we determine collisions?</a:t>
            </a:r>
            <a:endParaRPr lang="en-US" dirty="0"/>
          </a:p>
        </p:txBody>
      </p:sp>
      <p:pic>
        <p:nvPicPr>
          <p:cNvPr id="4" name="collisions">
            <a:hlinkClick r:id="" action="ppaction://media"/>
            <a:extLst>
              <a:ext uri="{FF2B5EF4-FFF2-40B4-BE49-F238E27FC236}">
                <a16:creationId xmlns:a16="http://schemas.microsoft.com/office/drawing/2014/main" id="{021E83C5-4DA9-4D9B-BB9E-AC2E4630641A}"/>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4"/>
          <a:stretch>
            <a:fillRect/>
          </a:stretch>
        </p:blipFill>
        <p:spPr>
          <a:xfrm>
            <a:off x="3257550" y="2054225"/>
            <a:ext cx="6165850" cy="4624388"/>
          </a:xfrm>
        </p:spPr>
      </p:pic>
    </p:spTree>
    <p:extLst>
      <p:ext uri="{BB962C8B-B14F-4D97-AF65-F5344CB8AC3E}">
        <p14:creationId xmlns:p14="http://schemas.microsoft.com/office/powerpoint/2010/main" val="3307317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4738"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4"/>
                </p:tgtEl>
              </p:cMediaNode>
            </p:video>
            <p:seq concurrent="1" nextAc="seek">
              <p:cTn id="8" restart="whenNotActive" fill="hold" evtFilter="cancelBubble" nodeType="interactiveSeq">
                <p:stCondLst>
                  <p:cond evt="onClick" delay="0">
                    <p:tgtEl>
                      <p:spTgt spid="4"/>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4"/>
                                        </p:tgtEl>
                                      </p:cBhvr>
                                    </p:cmd>
                                  </p:childTnLst>
                                </p:cTn>
                              </p:par>
                            </p:childTnLst>
                          </p:cTn>
                        </p:par>
                      </p:childTnLst>
                    </p:cTn>
                  </p:par>
                </p:childTnLst>
              </p:cTn>
              <p:nextCondLst>
                <p:cond evt="onClick" delay="0">
                  <p:tgtEl>
                    <p:spTgt spid="4"/>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2050" name="Picture 2" descr="Ball colliding with brick as an AABB">
            <a:extLst>
              <a:ext uri="{FF2B5EF4-FFF2-40B4-BE49-F238E27FC236}">
                <a16:creationId xmlns:a16="http://schemas.microsoft.com/office/drawing/2014/main" id="{857AE449-2AC8-40F6-9250-7FE6F189F19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r="22954" b="3"/>
          <a:stretch/>
        </p:blipFill>
        <p:spPr bwMode="auto">
          <a:xfrm>
            <a:off x="7373816" y="2145636"/>
            <a:ext cx="4261588" cy="3954707"/>
          </a:xfrm>
          <a:prstGeom prst="rect">
            <a:avLst/>
          </a:prstGeom>
          <a:noFill/>
          <a:extLst>
            <a:ext uri="{909E8E84-426E-40DD-AFC4-6F175D3DCCD1}">
              <a14:hiddenFill xmlns:a14="http://schemas.microsoft.com/office/drawing/2010/main">
                <a:solidFill>
                  <a:srgbClr val="FFFFFF"/>
                </a:solidFill>
              </a14:hiddenFill>
            </a:ext>
          </a:extLst>
        </p:spPr>
      </p:pic>
      <p:sp>
        <p:nvSpPr>
          <p:cNvPr id="71" name="Freeform 8" title="scalloped circle">
            <a:extLst>
              <a:ext uri="{FF2B5EF4-FFF2-40B4-BE49-F238E27FC236}">
                <a16:creationId xmlns:a16="http://schemas.microsoft.com/office/drawing/2014/main" id="{F2AF447E-E08D-4A51-ABEE-3A2D71E1E44C}"/>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1"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858000 h 6858000"/>
              <a:gd name="connsiteX3" fmla="*/ 0 w 12192000"/>
              <a:gd name="connsiteY3" fmla="*/ 6858000 h 6858000"/>
              <a:gd name="connsiteX4" fmla="*/ 0 w 12192000"/>
              <a:gd name="connsiteY4" fmla="*/ 0 h 6858000"/>
              <a:gd name="connsiteX5" fmla="*/ 9528486 w 12192000"/>
              <a:gd name="connsiteY5" fmla="*/ 2197353 h 6858000"/>
              <a:gd name="connsiteX6" fmla="*/ 9491031 w 12192000"/>
              <a:gd name="connsiteY6" fmla="*/ 2200864 h 6858000"/>
              <a:gd name="connsiteX7" fmla="*/ 9454747 w 12192000"/>
              <a:gd name="connsiteY7" fmla="*/ 2210228 h 6858000"/>
              <a:gd name="connsiteX8" fmla="*/ 9419633 w 12192000"/>
              <a:gd name="connsiteY8" fmla="*/ 2224273 h 6858000"/>
              <a:gd name="connsiteX9" fmla="*/ 9383349 w 12192000"/>
              <a:gd name="connsiteY9" fmla="*/ 2241830 h 6858000"/>
              <a:gd name="connsiteX10" fmla="*/ 9349405 w 12192000"/>
              <a:gd name="connsiteY10" fmla="*/ 2261728 h 6858000"/>
              <a:gd name="connsiteX11" fmla="*/ 9314292 w 12192000"/>
              <a:gd name="connsiteY11" fmla="*/ 2282796 h 6858000"/>
              <a:gd name="connsiteX12" fmla="*/ 9279178 w 12192000"/>
              <a:gd name="connsiteY12" fmla="*/ 2301524 h 6858000"/>
              <a:gd name="connsiteX13" fmla="*/ 9244064 w 12192000"/>
              <a:gd name="connsiteY13" fmla="*/ 2320251 h 6858000"/>
              <a:gd name="connsiteX14" fmla="*/ 9208950 w 12192000"/>
              <a:gd name="connsiteY14" fmla="*/ 2334296 h 6858000"/>
              <a:gd name="connsiteX15" fmla="*/ 9172666 w 12192000"/>
              <a:gd name="connsiteY15" fmla="*/ 2343660 h 6858000"/>
              <a:gd name="connsiteX16" fmla="*/ 9136382 w 12192000"/>
              <a:gd name="connsiteY16" fmla="*/ 2348342 h 6858000"/>
              <a:gd name="connsiteX17" fmla="*/ 9097757 w 12192000"/>
              <a:gd name="connsiteY17" fmla="*/ 2348342 h 6858000"/>
              <a:gd name="connsiteX18" fmla="*/ 9057961 w 12192000"/>
              <a:gd name="connsiteY18" fmla="*/ 2346001 h 6858000"/>
              <a:gd name="connsiteX19" fmla="*/ 9018166 w 12192000"/>
              <a:gd name="connsiteY19" fmla="*/ 2341319 h 6858000"/>
              <a:gd name="connsiteX20" fmla="*/ 8978370 w 12192000"/>
              <a:gd name="connsiteY20" fmla="*/ 2335467 h 6858000"/>
              <a:gd name="connsiteX21" fmla="*/ 8938575 w 12192000"/>
              <a:gd name="connsiteY21" fmla="*/ 2330785 h 6858000"/>
              <a:gd name="connsiteX22" fmla="*/ 8898779 w 12192000"/>
              <a:gd name="connsiteY22" fmla="*/ 2327274 h 6858000"/>
              <a:gd name="connsiteX23" fmla="*/ 8861324 w 12192000"/>
              <a:gd name="connsiteY23" fmla="*/ 2328444 h 6858000"/>
              <a:gd name="connsiteX24" fmla="*/ 8825040 w 12192000"/>
              <a:gd name="connsiteY24" fmla="*/ 2333126 h 6858000"/>
              <a:gd name="connsiteX25" fmla="*/ 8789926 w 12192000"/>
              <a:gd name="connsiteY25" fmla="*/ 2343660 h 6858000"/>
              <a:gd name="connsiteX26" fmla="*/ 8760665 w 12192000"/>
              <a:gd name="connsiteY26" fmla="*/ 2358876 h 6858000"/>
              <a:gd name="connsiteX27" fmla="*/ 8732574 w 12192000"/>
              <a:gd name="connsiteY27" fmla="*/ 2378774 h 6858000"/>
              <a:gd name="connsiteX28" fmla="*/ 8707994 w 12192000"/>
              <a:gd name="connsiteY28" fmla="*/ 2402183 h 6858000"/>
              <a:gd name="connsiteX29" fmla="*/ 8683415 w 12192000"/>
              <a:gd name="connsiteY29" fmla="*/ 2429103 h 6858000"/>
              <a:gd name="connsiteX30" fmla="*/ 8661176 w 12192000"/>
              <a:gd name="connsiteY30" fmla="*/ 2457194 h 6858000"/>
              <a:gd name="connsiteX31" fmla="*/ 8638937 w 12192000"/>
              <a:gd name="connsiteY31" fmla="*/ 2486456 h 6858000"/>
              <a:gd name="connsiteX32" fmla="*/ 8616699 w 12192000"/>
              <a:gd name="connsiteY32" fmla="*/ 2515717 h 6858000"/>
              <a:gd name="connsiteX33" fmla="*/ 8594460 w 12192000"/>
              <a:gd name="connsiteY33" fmla="*/ 2543808 h 6858000"/>
              <a:gd name="connsiteX34" fmla="*/ 8571051 w 12192000"/>
              <a:gd name="connsiteY34" fmla="*/ 2570729 h 6858000"/>
              <a:gd name="connsiteX35" fmla="*/ 8544130 w 12192000"/>
              <a:gd name="connsiteY35" fmla="*/ 2594138 h 6858000"/>
              <a:gd name="connsiteX36" fmla="*/ 8518380 w 12192000"/>
              <a:gd name="connsiteY36" fmla="*/ 2615206 h 6858000"/>
              <a:gd name="connsiteX37" fmla="*/ 8489119 w 12192000"/>
              <a:gd name="connsiteY37" fmla="*/ 2631593 h 6858000"/>
              <a:gd name="connsiteX38" fmla="*/ 8457516 w 12192000"/>
              <a:gd name="connsiteY38" fmla="*/ 2645638 h 6858000"/>
              <a:gd name="connsiteX39" fmla="*/ 8423573 w 12192000"/>
              <a:gd name="connsiteY39" fmla="*/ 2657343 h 6858000"/>
              <a:gd name="connsiteX40" fmla="*/ 8388459 w 12192000"/>
              <a:gd name="connsiteY40" fmla="*/ 2667877 h 6858000"/>
              <a:gd name="connsiteX41" fmla="*/ 8353346 w 12192000"/>
              <a:gd name="connsiteY41" fmla="*/ 2677241 h 6858000"/>
              <a:gd name="connsiteX42" fmla="*/ 8317062 w 12192000"/>
              <a:gd name="connsiteY42" fmla="*/ 2686604 h 6858000"/>
              <a:gd name="connsiteX43" fmla="*/ 8283118 w 12192000"/>
              <a:gd name="connsiteY43" fmla="*/ 2697138 h 6858000"/>
              <a:gd name="connsiteX44" fmla="*/ 8249175 w 12192000"/>
              <a:gd name="connsiteY44" fmla="*/ 2708843 h 6858000"/>
              <a:gd name="connsiteX45" fmla="*/ 8217573 w 12192000"/>
              <a:gd name="connsiteY45" fmla="*/ 2722888 h 6858000"/>
              <a:gd name="connsiteX46" fmla="*/ 8189482 w 12192000"/>
              <a:gd name="connsiteY46" fmla="*/ 2740445 h 6858000"/>
              <a:gd name="connsiteX47" fmla="*/ 8163732 w 12192000"/>
              <a:gd name="connsiteY47" fmla="*/ 2761514 h 6858000"/>
              <a:gd name="connsiteX48" fmla="*/ 8142663 w 12192000"/>
              <a:gd name="connsiteY48" fmla="*/ 2787264 h 6858000"/>
              <a:gd name="connsiteX49" fmla="*/ 8125106 w 12192000"/>
              <a:gd name="connsiteY49" fmla="*/ 2815355 h 6858000"/>
              <a:gd name="connsiteX50" fmla="*/ 8111061 w 12192000"/>
              <a:gd name="connsiteY50" fmla="*/ 2846957 h 6858000"/>
              <a:gd name="connsiteX51" fmla="*/ 8099356 w 12192000"/>
              <a:gd name="connsiteY51" fmla="*/ 2880900 h 6858000"/>
              <a:gd name="connsiteX52" fmla="*/ 8088822 w 12192000"/>
              <a:gd name="connsiteY52" fmla="*/ 2914844 h 6858000"/>
              <a:gd name="connsiteX53" fmla="*/ 8079459 w 12192000"/>
              <a:gd name="connsiteY53" fmla="*/ 2951128 h 6858000"/>
              <a:gd name="connsiteX54" fmla="*/ 8070095 w 12192000"/>
              <a:gd name="connsiteY54" fmla="*/ 2986242 h 6858000"/>
              <a:gd name="connsiteX55" fmla="*/ 8059561 w 12192000"/>
              <a:gd name="connsiteY55" fmla="*/ 3021355 h 6858000"/>
              <a:gd name="connsiteX56" fmla="*/ 8047856 w 12192000"/>
              <a:gd name="connsiteY56" fmla="*/ 3055299 h 6858000"/>
              <a:gd name="connsiteX57" fmla="*/ 8033811 w 12192000"/>
              <a:gd name="connsiteY57" fmla="*/ 3086901 h 6858000"/>
              <a:gd name="connsiteX58" fmla="*/ 8017424 w 12192000"/>
              <a:gd name="connsiteY58" fmla="*/ 3116162 h 6858000"/>
              <a:gd name="connsiteX59" fmla="*/ 7996356 w 12192000"/>
              <a:gd name="connsiteY59" fmla="*/ 3141913 h 6858000"/>
              <a:gd name="connsiteX60" fmla="*/ 7972947 w 12192000"/>
              <a:gd name="connsiteY60" fmla="*/ 3168833 h 6858000"/>
              <a:gd name="connsiteX61" fmla="*/ 7946026 w 12192000"/>
              <a:gd name="connsiteY61" fmla="*/ 3192242 h 6858000"/>
              <a:gd name="connsiteX62" fmla="*/ 7916765 w 12192000"/>
              <a:gd name="connsiteY62" fmla="*/ 3214481 h 6858000"/>
              <a:gd name="connsiteX63" fmla="*/ 7887503 w 12192000"/>
              <a:gd name="connsiteY63" fmla="*/ 3236720 h 6858000"/>
              <a:gd name="connsiteX64" fmla="*/ 7858242 w 12192000"/>
              <a:gd name="connsiteY64" fmla="*/ 3258958 h 6858000"/>
              <a:gd name="connsiteX65" fmla="*/ 7830151 w 12192000"/>
              <a:gd name="connsiteY65" fmla="*/ 3281197 h 6858000"/>
              <a:gd name="connsiteX66" fmla="*/ 7803230 w 12192000"/>
              <a:gd name="connsiteY66" fmla="*/ 3305777 h 6858000"/>
              <a:gd name="connsiteX67" fmla="*/ 7779821 w 12192000"/>
              <a:gd name="connsiteY67" fmla="*/ 3330356 h 6858000"/>
              <a:gd name="connsiteX68" fmla="*/ 7759923 w 12192000"/>
              <a:gd name="connsiteY68" fmla="*/ 3358447 h 6858000"/>
              <a:gd name="connsiteX69" fmla="*/ 7744708 w 12192000"/>
              <a:gd name="connsiteY69" fmla="*/ 3387709 h 6858000"/>
              <a:gd name="connsiteX70" fmla="*/ 7734173 w 12192000"/>
              <a:gd name="connsiteY70" fmla="*/ 3422822 h 6858000"/>
              <a:gd name="connsiteX71" fmla="*/ 7729492 w 12192000"/>
              <a:gd name="connsiteY71" fmla="*/ 3459107 h 6858000"/>
              <a:gd name="connsiteX72" fmla="*/ 7728321 w 12192000"/>
              <a:gd name="connsiteY72" fmla="*/ 3496561 h 6858000"/>
              <a:gd name="connsiteX73" fmla="*/ 7731832 w 12192000"/>
              <a:gd name="connsiteY73" fmla="*/ 3536357 h 6858000"/>
              <a:gd name="connsiteX74" fmla="*/ 7736514 w 12192000"/>
              <a:gd name="connsiteY74" fmla="*/ 3576152 h 6858000"/>
              <a:gd name="connsiteX75" fmla="*/ 7742367 w 12192000"/>
              <a:gd name="connsiteY75" fmla="*/ 3615948 h 6858000"/>
              <a:gd name="connsiteX76" fmla="*/ 7747048 w 12192000"/>
              <a:gd name="connsiteY76" fmla="*/ 3655744 h 6858000"/>
              <a:gd name="connsiteX77" fmla="*/ 7749389 w 12192000"/>
              <a:gd name="connsiteY77" fmla="*/ 3695539 h 6858000"/>
              <a:gd name="connsiteX78" fmla="*/ 7749389 w 12192000"/>
              <a:gd name="connsiteY78" fmla="*/ 3734164 h 6858000"/>
              <a:gd name="connsiteX79" fmla="*/ 7744708 w 12192000"/>
              <a:gd name="connsiteY79" fmla="*/ 3770449 h 6858000"/>
              <a:gd name="connsiteX80" fmla="*/ 7735344 w 12192000"/>
              <a:gd name="connsiteY80" fmla="*/ 3806733 h 6858000"/>
              <a:gd name="connsiteX81" fmla="*/ 7721298 w 12192000"/>
              <a:gd name="connsiteY81" fmla="*/ 3840676 h 6858000"/>
              <a:gd name="connsiteX82" fmla="*/ 7703741 w 12192000"/>
              <a:gd name="connsiteY82" fmla="*/ 3875790 h 6858000"/>
              <a:gd name="connsiteX83" fmla="*/ 7683844 w 12192000"/>
              <a:gd name="connsiteY83" fmla="*/ 3910903 h 6858000"/>
              <a:gd name="connsiteX84" fmla="*/ 7662775 w 12192000"/>
              <a:gd name="connsiteY84" fmla="*/ 3946017 h 6858000"/>
              <a:gd name="connsiteX85" fmla="*/ 7642878 w 12192000"/>
              <a:gd name="connsiteY85" fmla="*/ 3979961 h 6858000"/>
              <a:gd name="connsiteX86" fmla="*/ 7625321 w 12192000"/>
              <a:gd name="connsiteY86" fmla="*/ 4016245 h 6858000"/>
              <a:gd name="connsiteX87" fmla="*/ 7611275 w 12192000"/>
              <a:gd name="connsiteY87" fmla="*/ 4051358 h 6858000"/>
              <a:gd name="connsiteX88" fmla="*/ 7601912 w 12192000"/>
              <a:gd name="connsiteY88" fmla="*/ 4087643 h 6858000"/>
              <a:gd name="connsiteX89" fmla="*/ 7598400 w 12192000"/>
              <a:gd name="connsiteY89" fmla="*/ 4125097 h 6858000"/>
              <a:gd name="connsiteX90" fmla="*/ 7601912 w 12192000"/>
              <a:gd name="connsiteY90" fmla="*/ 4162552 h 6858000"/>
              <a:gd name="connsiteX91" fmla="*/ 7611275 w 12192000"/>
              <a:gd name="connsiteY91" fmla="*/ 4198836 h 6858000"/>
              <a:gd name="connsiteX92" fmla="*/ 7625321 w 12192000"/>
              <a:gd name="connsiteY92" fmla="*/ 4233950 h 6858000"/>
              <a:gd name="connsiteX93" fmla="*/ 7642878 w 12192000"/>
              <a:gd name="connsiteY93" fmla="*/ 4270234 h 6858000"/>
              <a:gd name="connsiteX94" fmla="*/ 7662775 w 12192000"/>
              <a:gd name="connsiteY94" fmla="*/ 4304177 h 6858000"/>
              <a:gd name="connsiteX95" fmla="*/ 7683844 w 12192000"/>
              <a:gd name="connsiteY95" fmla="*/ 4339291 h 6858000"/>
              <a:gd name="connsiteX96" fmla="*/ 7703741 w 12192000"/>
              <a:gd name="connsiteY96" fmla="*/ 4374405 h 6858000"/>
              <a:gd name="connsiteX97" fmla="*/ 7721298 w 12192000"/>
              <a:gd name="connsiteY97" fmla="*/ 4409519 h 6858000"/>
              <a:gd name="connsiteX98" fmla="*/ 7735344 w 12192000"/>
              <a:gd name="connsiteY98" fmla="*/ 4443462 h 6858000"/>
              <a:gd name="connsiteX99" fmla="*/ 7744708 w 12192000"/>
              <a:gd name="connsiteY99" fmla="*/ 4479746 h 6858000"/>
              <a:gd name="connsiteX100" fmla="*/ 7749389 w 12192000"/>
              <a:gd name="connsiteY100" fmla="*/ 4516030 h 6858000"/>
              <a:gd name="connsiteX101" fmla="*/ 7749389 w 12192000"/>
              <a:gd name="connsiteY101" fmla="*/ 4554655 h 6858000"/>
              <a:gd name="connsiteX102" fmla="*/ 7747048 w 12192000"/>
              <a:gd name="connsiteY102" fmla="*/ 4594451 h 6858000"/>
              <a:gd name="connsiteX103" fmla="*/ 7742367 w 12192000"/>
              <a:gd name="connsiteY103" fmla="*/ 4634247 h 6858000"/>
              <a:gd name="connsiteX104" fmla="*/ 7736514 w 12192000"/>
              <a:gd name="connsiteY104" fmla="*/ 4674042 h 6858000"/>
              <a:gd name="connsiteX105" fmla="*/ 7731832 w 12192000"/>
              <a:gd name="connsiteY105" fmla="*/ 4713838 h 6858000"/>
              <a:gd name="connsiteX106" fmla="*/ 7728321 w 12192000"/>
              <a:gd name="connsiteY106" fmla="*/ 4753633 h 6858000"/>
              <a:gd name="connsiteX107" fmla="*/ 7729492 w 12192000"/>
              <a:gd name="connsiteY107" fmla="*/ 4791088 h 6858000"/>
              <a:gd name="connsiteX108" fmla="*/ 7734173 w 12192000"/>
              <a:gd name="connsiteY108" fmla="*/ 4827372 h 6858000"/>
              <a:gd name="connsiteX109" fmla="*/ 7744708 w 12192000"/>
              <a:gd name="connsiteY109" fmla="*/ 4862486 h 6858000"/>
              <a:gd name="connsiteX110" fmla="*/ 7759923 w 12192000"/>
              <a:gd name="connsiteY110" fmla="*/ 4891747 h 6858000"/>
              <a:gd name="connsiteX111" fmla="*/ 7779821 w 12192000"/>
              <a:gd name="connsiteY111" fmla="*/ 4919838 h 6858000"/>
              <a:gd name="connsiteX112" fmla="*/ 7803230 w 12192000"/>
              <a:gd name="connsiteY112" fmla="*/ 4944418 h 6858000"/>
              <a:gd name="connsiteX113" fmla="*/ 7830151 w 12192000"/>
              <a:gd name="connsiteY113" fmla="*/ 4968998 h 6858000"/>
              <a:gd name="connsiteX114" fmla="*/ 7858242 w 12192000"/>
              <a:gd name="connsiteY114" fmla="*/ 4991236 h 6858000"/>
              <a:gd name="connsiteX115" fmla="*/ 7887503 w 12192000"/>
              <a:gd name="connsiteY115" fmla="*/ 5013475 h 6858000"/>
              <a:gd name="connsiteX116" fmla="*/ 7916765 w 12192000"/>
              <a:gd name="connsiteY116" fmla="*/ 5035714 h 6858000"/>
              <a:gd name="connsiteX117" fmla="*/ 7946026 w 12192000"/>
              <a:gd name="connsiteY117" fmla="*/ 5057952 h 6858000"/>
              <a:gd name="connsiteX118" fmla="*/ 7972947 w 12192000"/>
              <a:gd name="connsiteY118" fmla="*/ 5081362 h 6858000"/>
              <a:gd name="connsiteX119" fmla="*/ 7996356 w 12192000"/>
              <a:gd name="connsiteY119" fmla="*/ 5108282 h 6858000"/>
              <a:gd name="connsiteX120" fmla="*/ 8017424 w 12192000"/>
              <a:gd name="connsiteY120" fmla="*/ 5134032 h 6858000"/>
              <a:gd name="connsiteX121" fmla="*/ 8033811 w 12192000"/>
              <a:gd name="connsiteY121" fmla="*/ 5163294 h 6858000"/>
              <a:gd name="connsiteX122" fmla="*/ 8047856 w 12192000"/>
              <a:gd name="connsiteY122" fmla="*/ 5194896 h 6858000"/>
              <a:gd name="connsiteX123" fmla="*/ 8059561 w 12192000"/>
              <a:gd name="connsiteY123" fmla="*/ 5228839 h 6858000"/>
              <a:gd name="connsiteX124" fmla="*/ 8070095 w 12192000"/>
              <a:gd name="connsiteY124" fmla="*/ 5263953 h 6858000"/>
              <a:gd name="connsiteX125" fmla="*/ 8079459 w 12192000"/>
              <a:gd name="connsiteY125" fmla="*/ 5299067 h 6858000"/>
              <a:gd name="connsiteX126" fmla="*/ 8088822 w 12192000"/>
              <a:gd name="connsiteY126" fmla="*/ 5335351 h 6858000"/>
              <a:gd name="connsiteX127" fmla="*/ 8099356 w 12192000"/>
              <a:gd name="connsiteY127" fmla="*/ 5369294 h 6858000"/>
              <a:gd name="connsiteX128" fmla="*/ 8111061 w 12192000"/>
              <a:gd name="connsiteY128" fmla="*/ 5403238 h 6858000"/>
              <a:gd name="connsiteX129" fmla="*/ 8125106 w 12192000"/>
              <a:gd name="connsiteY129" fmla="*/ 5434840 h 6858000"/>
              <a:gd name="connsiteX130" fmla="*/ 8142663 w 12192000"/>
              <a:gd name="connsiteY130" fmla="*/ 5462931 h 6858000"/>
              <a:gd name="connsiteX131" fmla="*/ 8163732 w 12192000"/>
              <a:gd name="connsiteY131" fmla="*/ 5488681 h 6858000"/>
              <a:gd name="connsiteX132" fmla="*/ 8189482 w 12192000"/>
              <a:gd name="connsiteY132" fmla="*/ 5509749 h 6858000"/>
              <a:gd name="connsiteX133" fmla="*/ 8217573 w 12192000"/>
              <a:gd name="connsiteY133" fmla="*/ 5527306 h 6858000"/>
              <a:gd name="connsiteX134" fmla="*/ 8249175 w 12192000"/>
              <a:gd name="connsiteY134" fmla="*/ 5541352 h 6858000"/>
              <a:gd name="connsiteX135" fmla="*/ 8283118 w 12192000"/>
              <a:gd name="connsiteY135" fmla="*/ 5553056 h 6858000"/>
              <a:gd name="connsiteX136" fmla="*/ 8317062 w 12192000"/>
              <a:gd name="connsiteY136" fmla="*/ 5563590 h 6858000"/>
              <a:gd name="connsiteX137" fmla="*/ 8353346 w 12192000"/>
              <a:gd name="connsiteY137" fmla="*/ 5572954 h 6858000"/>
              <a:gd name="connsiteX138" fmla="*/ 8388459 w 12192000"/>
              <a:gd name="connsiteY138" fmla="*/ 5582318 h 6858000"/>
              <a:gd name="connsiteX139" fmla="*/ 8423573 w 12192000"/>
              <a:gd name="connsiteY139" fmla="*/ 5592852 h 6858000"/>
              <a:gd name="connsiteX140" fmla="*/ 8457516 w 12192000"/>
              <a:gd name="connsiteY140" fmla="*/ 5604556 h 6858000"/>
              <a:gd name="connsiteX141" fmla="*/ 8489119 w 12192000"/>
              <a:gd name="connsiteY141" fmla="*/ 5618602 h 6858000"/>
              <a:gd name="connsiteX142" fmla="*/ 8518380 w 12192000"/>
              <a:gd name="connsiteY142" fmla="*/ 5634988 h 6858000"/>
              <a:gd name="connsiteX143" fmla="*/ 8544130 w 12192000"/>
              <a:gd name="connsiteY143" fmla="*/ 5656057 h 6858000"/>
              <a:gd name="connsiteX144" fmla="*/ 8571051 w 12192000"/>
              <a:gd name="connsiteY144" fmla="*/ 5679466 h 6858000"/>
              <a:gd name="connsiteX145" fmla="*/ 8594460 w 12192000"/>
              <a:gd name="connsiteY145" fmla="*/ 5706386 h 6858000"/>
              <a:gd name="connsiteX146" fmla="*/ 8616699 w 12192000"/>
              <a:gd name="connsiteY146" fmla="*/ 5734477 h 6858000"/>
              <a:gd name="connsiteX147" fmla="*/ 8638937 w 12192000"/>
              <a:gd name="connsiteY147" fmla="*/ 5763739 h 6858000"/>
              <a:gd name="connsiteX148" fmla="*/ 8661176 w 12192000"/>
              <a:gd name="connsiteY148" fmla="*/ 5793000 h 6858000"/>
              <a:gd name="connsiteX149" fmla="*/ 8683415 w 12192000"/>
              <a:gd name="connsiteY149" fmla="*/ 5821091 h 6858000"/>
              <a:gd name="connsiteX150" fmla="*/ 8707994 w 12192000"/>
              <a:gd name="connsiteY150" fmla="*/ 5848012 h 6858000"/>
              <a:gd name="connsiteX151" fmla="*/ 8732574 w 12192000"/>
              <a:gd name="connsiteY151" fmla="*/ 5871421 h 6858000"/>
              <a:gd name="connsiteX152" fmla="*/ 8760665 w 12192000"/>
              <a:gd name="connsiteY152" fmla="*/ 5891319 h 6858000"/>
              <a:gd name="connsiteX153" fmla="*/ 8789926 w 12192000"/>
              <a:gd name="connsiteY153" fmla="*/ 5906535 h 6858000"/>
              <a:gd name="connsiteX154" fmla="*/ 8825040 w 12192000"/>
              <a:gd name="connsiteY154" fmla="*/ 5917069 h 6858000"/>
              <a:gd name="connsiteX155" fmla="*/ 8861324 w 12192000"/>
              <a:gd name="connsiteY155" fmla="*/ 5921751 h 6858000"/>
              <a:gd name="connsiteX156" fmla="*/ 8898779 w 12192000"/>
              <a:gd name="connsiteY156" fmla="*/ 5922921 h 6858000"/>
              <a:gd name="connsiteX157" fmla="*/ 8938575 w 12192000"/>
              <a:gd name="connsiteY157" fmla="*/ 5919410 h 6858000"/>
              <a:gd name="connsiteX158" fmla="*/ 8978370 w 12192000"/>
              <a:gd name="connsiteY158" fmla="*/ 5914728 h 6858000"/>
              <a:gd name="connsiteX159" fmla="*/ 9018166 w 12192000"/>
              <a:gd name="connsiteY159" fmla="*/ 5908876 h 6858000"/>
              <a:gd name="connsiteX160" fmla="*/ 9057961 w 12192000"/>
              <a:gd name="connsiteY160" fmla="*/ 5904194 h 6858000"/>
              <a:gd name="connsiteX161" fmla="*/ 9097757 w 12192000"/>
              <a:gd name="connsiteY161" fmla="*/ 5901853 h 6858000"/>
              <a:gd name="connsiteX162" fmla="*/ 9136382 w 12192000"/>
              <a:gd name="connsiteY162" fmla="*/ 5901853 h 6858000"/>
              <a:gd name="connsiteX163" fmla="*/ 9172666 w 12192000"/>
              <a:gd name="connsiteY163" fmla="*/ 5906535 h 6858000"/>
              <a:gd name="connsiteX164" fmla="*/ 9208950 w 12192000"/>
              <a:gd name="connsiteY164" fmla="*/ 5915898 h 6858000"/>
              <a:gd name="connsiteX165" fmla="*/ 9244064 w 12192000"/>
              <a:gd name="connsiteY165" fmla="*/ 5929944 h 6858000"/>
              <a:gd name="connsiteX166" fmla="*/ 9279178 w 12192000"/>
              <a:gd name="connsiteY166" fmla="*/ 5948671 h 6858000"/>
              <a:gd name="connsiteX167" fmla="*/ 9314292 w 12192000"/>
              <a:gd name="connsiteY167" fmla="*/ 5967398 h 6858000"/>
              <a:gd name="connsiteX168" fmla="*/ 9349405 w 12192000"/>
              <a:gd name="connsiteY168" fmla="*/ 5988467 h 6858000"/>
              <a:gd name="connsiteX169" fmla="*/ 9383349 w 12192000"/>
              <a:gd name="connsiteY169" fmla="*/ 6008364 h 6858000"/>
              <a:gd name="connsiteX170" fmla="*/ 9419633 w 12192000"/>
              <a:gd name="connsiteY170" fmla="*/ 6025921 h 6858000"/>
              <a:gd name="connsiteX171" fmla="*/ 9454747 w 12192000"/>
              <a:gd name="connsiteY171" fmla="*/ 6039967 h 6858000"/>
              <a:gd name="connsiteX172" fmla="*/ 9491031 w 12192000"/>
              <a:gd name="connsiteY172" fmla="*/ 6049331 h 6858000"/>
              <a:gd name="connsiteX173" fmla="*/ 9528486 w 12192000"/>
              <a:gd name="connsiteY173" fmla="*/ 6052842 h 6858000"/>
              <a:gd name="connsiteX174" fmla="*/ 9565940 w 12192000"/>
              <a:gd name="connsiteY174" fmla="*/ 6049331 h 6858000"/>
              <a:gd name="connsiteX175" fmla="*/ 9602224 w 12192000"/>
              <a:gd name="connsiteY175" fmla="*/ 6039967 h 6858000"/>
              <a:gd name="connsiteX176" fmla="*/ 9637338 w 12192000"/>
              <a:gd name="connsiteY176" fmla="*/ 6025921 h 6858000"/>
              <a:gd name="connsiteX177" fmla="*/ 9673622 w 12192000"/>
              <a:gd name="connsiteY177" fmla="*/ 6008364 h 6858000"/>
              <a:gd name="connsiteX178" fmla="*/ 9707566 w 12192000"/>
              <a:gd name="connsiteY178" fmla="*/ 5988467 h 6858000"/>
              <a:gd name="connsiteX179" fmla="*/ 9742679 w 12192000"/>
              <a:gd name="connsiteY179" fmla="*/ 5967398 h 6858000"/>
              <a:gd name="connsiteX180" fmla="*/ 9777793 w 12192000"/>
              <a:gd name="connsiteY180" fmla="*/ 5948671 h 6858000"/>
              <a:gd name="connsiteX181" fmla="*/ 9812907 w 12192000"/>
              <a:gd name="connsiteY181" fmla="*/ 5929944 h 6858000"/>
              <a:gd name="connsiteX182" fmla="*/ 9846850 w 12192000"/>
              <a:gd name="connsiteY182" fmla="*/ 5915898 h 6858000"/>
              <a:gd name="connsiteX183" fmla="*/ 9884305 w 12192000"/>
              <a:gd name="connsiteY183" fmla="*/ 5906535 h 6858000"/>
              <a:gd name="connsiteX184" fmla="*/ 9920589 w 12192000"/>
              <a:gd name="connsiteY184" fmla="*/ 5901853 h 6858000"/>
              <a:gd name="connsiteX185" fmla="*/ 9959214 w 12192000"/>
              <a:gd name="connsiteY185" fmla="*/ 5901853 h 6858000"/>
              <a:gd name="connsiteX186" fmla="*/ 9999010 w 12192000"/>
              <a:gd name="connsiteY186" fmla="*/ 5904194 h 6858000"/>
              <a:gd name="connsiteX187" fmla="*/ 10038805 w 12192000"/>
              <a:gd name="connsiteY187" fmla="*/ 5908876 h 6858000"/>
              <a:gd name="connsiteX188" fmla="*/ 10078601 w 12192000"/>
              <a:gd name="connsiteY188" fmla="*/ 5914728 h 6858000"/>
              <a:gd name="connsiteX189" fmla="*/ 10118396 w 12192000"/>
              <a:gd name="connsiteY189" fmla="*/ 5919410 h 6858000"/>
              <a:gd name="connsiteX190" fmla="*/ 10158192 w 12192000"/>
              <a:gd name="connsiteY190" fmla="*/ 5922921 h 6858000"/>
              <a:gd name="connsiteX191" fmla="*/ 10195647 w 12192000"/>
              <a:gd name="connsiteY191" fmla="*/ 5921751 h 6858000"/>
              <a:gd name="connsiteX192" fmla="*/ 10231931 w 12192000"/>
              <a:gd name="connsiteY192" fmla="*/ 5917069 h 6858000"/>
              <a:gd name="connsiteX193" fmla="*/ 10267044 w 12192000"/>
              <a:gd name="connsiteY193" fmla="*/ 5906535 h 6858000"/>
              <a:gd name="connsiteX194" fmla="*/ 10296306 w 12192000"/>
              <a:gd name="connsiteY194" fmla="*/ 5891319 h 6858000"/>
              <a:gd name="connsiteX195" fmla="*/ 10324397 w 12192000"/>
              <a:gd name="connsiteY195" fmla="*/ 5871421 h 6858000"/>
              <a:gd name="connsiteX196" fmla="*/ 10348977 w 12192000"/>
              <a:gd name="connsiteY196" fmla="*/ 5848012 h 6858000"/>
              <a:gd name="connsiteX197" fmla="*/ 10373556 w 12192000"/>
              <a:gd name="connsiteY197" fmla="*/ 5821091 h 6858000"/>
              <a:gd name="connsiteX198" fmla="*/ 10395795 w 12192000"/>
              <a:gd name="connsiteY198" fmla="*/ 5793000 h 6858000"/>
              <a:gd name="connsiteX199" fmla="*/ 10418034 w 12192000"/>
              <a:gd name="connsiteY199" fmla="*/ 5763739 h 6858000"/>
              <a:gd name="connsiteX200" fmla="*/ 10440272 w 12192000"/>
              <a:gd name="connsiteY200" fmla="*/ 5734477 h 6858000"/>
              <a:gd name="connsiteX201" fmla="*/ 10462511 w 12192000"/>
              <a:gd name="connsiteY201" fmla="*/ 5706386 h 6858000"/>
              <a:gd name="connsiteX202" fmla="*/ 10485920 w 12192000"/>
              <a:gd name="connsiteY202" fmla="*/ 5679466 h 6858000"/>
              <a:gd name="connsiteX203" fmla="*/ 10512841 w 12192000"/>
              <a:gd name="connsiteY203" fmla="*/ 5656057 h 6858000"/>
              <a:gd name="connsiteX204" fmla="*/ 10538591 w 12192000"/>
              <a:gd name="connsiteY204" fmla="*/ 5634988 h 6858000"/>
              <a:gd name="connsiteX205" fmla="*/ 10567852 w 12192000"/>
              <a:gd name="connsiteY205" fmla="*/ 5618602 h 6858000"/>
              <a:gd name="connsiteX206" fmla="*/ 10599455 w 12192000"/>
              <a:gd name="connsiteY206" fmla="*/ 5604556 h 6858000"/>
              <a:gd name="connsiteX207" fmla="*/ 10633398 w 12192000"/>
              <a:gd name="connsiteY207" fmla="*/ 5592852 h 6858000"/>
              <a:gd name="connsiteX208" fmla="*/ 10668512 w 12192000"/>
              <a:gd name="connsiteY208" fmla="*/ 5582318 h 6858000"/>
              <a:gd name="connsiteX209" fmla="*/ 10703626 w 12192000"/>
              <a:gd name="connsiteY209" fmla="*/ 5572954 h 6858000"/>
              <a:gd name="connsiteX210" fmla="*/ 10739910 w 12192000"/>
              <a:gd name="connsiteY210" fmla="*/ 5563590 h 6858000"/>
              <a:gd name="connsiteX211" fmla="*/ 10773853 w 12192000"/>
              <a:gd name="connsiteY211" fmla="*/ 5553056 h 6858000"/>
              <a:gd name="connsiteX212" fmla="*/ 10807796 w 12192000"/>
              <a:gd name="connsiteY212" fmla="*/ 5541352 h 6858000"/>
              <a:gd name="connsiteX213" fmla="*/ 10839399 w 12192000"/>
              <a:gd name="connsiteY213" fmla="*/ 5527306 h 6858000"/>
              <a:gd name="connsiteX214" fmla="*/ 10867490 w 12192000"/>
              <a:gd name="connsiteY214" fmla="*/ 5509749 h 6858000"/>
              <a:gd name="connsiteX215" fmla="*/ 10893240 w 12192000"/>
              <a:gd name="connsiteY215" fmla="*/ 5488681 h 6858000"/>
              <a:gd name="connsiteX216" fmla="*/ 10914308 w 12192000"/>
              <a:gd name="connsiteY216" fmla="*/ 5462931 h 6858000"/>
              <a:gd name="connsiteX217" fmla="*/ 10931865 w 12192000"/>
              <a:gd name="connsiteY217" fmla="*/ 5434840 h 6858000"/>
              <a:gd name="connsiteX218" fmla="*/ 10945910 w 12192000"/>
              <a:gd name="connsiteY218" fmla="*/ 5403238 h 6858000"/>
              <a:gd name="connsiteX219" fmla="*/ 10957615 w 12192000"/>
              <a:gd name="connsiteY219" fmla="*/ 5369294 h 6858000"/>
              <a:gd name="connsiteX220" fmla="*/ 10968149 w 12192000"/>
              <a:gd name="connsiteY220" fmla="*/ 5335351 h 6858000"/>
              <a:gd name="connsiteX221" fmla="*/ 10977513 w 12192000"/>
              <a:gd name="connsiteY221" fmla="*/ 5299067 h 6858000"/>
              <a:gd name="connsiteX222" fmla="*/ 10986876 w 12192000"/>
              <a:gd name="connsiteY222" fmla="*/ 5263953 h 6858000"/>
              <a:gd name="connsiteX223" fmla="*/ 10997410 w 12192000"/>
              <a:gd name="connsiteY223" fmla="*/ 5228839 h 6858000"/>
              <a:gd name="connsiteX224" fmla="*/ 11009115 w 12192000"/>
              <a:gd name="connsiteY224" fmla="*/ 5194896 h 6858000"/>
              <a:gd name="connsiteX225" fmla="*/ 11023160 w 12192000"/>
              <a:gd name="connsiteY225" fmla="*/ 5163294 h 6858000"/>
              <a:gd name="connsiteX226" fmla="*/ 11039547 w 12192000"/>
              <a:gd name="connsiteY226" fmla="*/ 5134032 h 6858000"/>
              <a:gd name="connsiteX227" fmla="*/ 11060615 w 12192000"/>
              <a:gd name="connsiteY227" fmla="*/ 5108282 h 6858000"/>
              <a:gd name="connsiteX228" fmla="*/ 11084024 w 12192000"/>
              <a:gd name="connsiteY228" fmla="*/ 5081362 h 6858000"/>
              <a:gd name="connsiteX229" fmla="*/ 11110945 w 12192000"/>
              <a:gd name="connsiteY229" fmla="*/ 5057952 h 6858000"/>
              <a:gd name="connsiteX230" fmla="*/ 11139036 w 12192000"/>
              <a:gd name="connsiteY230" fmla="*/ 5035714 h 6858000"/>
              <a:gd name="connsiteX231" fmla="*/ 11169468 w 12192000"/>
              <a:gd name="connsiteY231" fmla="*/ 5013475 h 6858000"/>
              <a:gd name="connsiteX232" fmla="*/ 11198729 w 12192000"/>
              <a:gd name="connsiteY232" fmla="*/ 4991236 h 6858000"/>
              <a:gd name="connsiteX233" fmla="*/ 11226820 w 12192000"/>
              <a:gd name="connsiteY233" fmla="*/ 4968998 h 6858000"/>
              <a:gd name="connsiteX234" fmla="*/ 11253741 w 12192000"/>
              <a:gd name="connsiteY234" fmla="*/ 4944418 h 6858000"/>
              <a:gd name="connsiteX235" fmla="*/ 11277150 w 12192000"/>
              <a:gd name="connsiteY235" fmla="*/ 4919838 h 6858000"/>
              <a:gd name="connsiteX236" fmla="*/ 11297048 w 12192000"/>
              <a:gd name="connsiteY236" fmla="*/ 4891747 h 6858000"/>
              <a:gd name="connsiteX237" fmla="*/ 11312264 w 12192000"/>
              <a:gd name="connsiteY237" fmla="*/ 4862486 h 6858000"/>
              <a:gd name="connsiteX238" fmla="*/ 11322798 w 12192000"/>
              <a:gd name="connsiteY238" fmla="*/ 4827372 h 6858000"/>
              <a:gd name="connsiteX239" fmla="*/ 11327480 w 12192000"/>
              <a:gd name="connsiteY239" fmla="*/ 4791088 h 6858000"/>
              <a:gd name="connsiteX240" fmla="*/ 11328650 w 12192000"/>
              <a:gd name="connsiteY240" fmla="*/ 4753633 h 6858000"/>
              <a:gd name="connsiteX241" fmla="*/ 11325139 w 12192000"/>
              <a:gd name="connsiteY241" fmla="*/ 4713838 h 6858000"/>
              <a:gd name="connsiteX242" fmla="*/ 11320457 w 12192000"/>
              <a:gd name="connsiteY242" fmla="*/ 4674042 h 6858000"/>
              <a:gd name="connsiteX243" fmla="*/ 11314605 w 12192000"/>
              <a:gd name="connsiteY243" fmla="*/ 4634247 h 6858000"/>
              <a:gd name="connsiteX244" fmla="*/ 11309923 w 12192000"/>
              <a:gd name="connsiteY244" fmla="*/ 4594451 h 6858000"/>
              <a:gd name="connsiteX245" fmla="*/ 11307582 w 12192000"/>
              <a:gd name="connsiteY245" fmla="*/ 4554655 h 6858000"/>
              <a:gd name="connsiteX246" fmla="*/ 11307582 w 12192000"/>
              <a:gd name="connsiteY246" fmla="*/ 4516030 h 6858000"/>
              <a:gd name="connsiteX247" fmla="*/ 11312264 w 12192000"/>
              <a:gd name="connsiteY247" fmla="*/ 4479746 h 6858000"/>
              <a:gd name="connsiteX248" fmla="*/ 11321628 w 12192000"/>
              <a:gd name="connsiteY248" fmla="*/ 4443462 h 6858000"/>
              <a:gd name="connsiteX249" fmla="*/ 11335673 w 12192000"/>
              <a:gd name="connsiteY249" fmla="*/ 4409519 h 6858000"/>
              <a:gd name="connsiteX250" fmla="*/ 11354400 w 12192000"/>
              <a:gd name="connsiteY250" fmla="*/ 4374405 h 6858000"/>
              <a:gd name="connsiteX251" fmla="*/ 11373128 w 12192000"/>
              <a:gd name="connsiteY251" fmla="*/ 4339291 h 6858000"/>
              <a:gd name="connsiteX252" fmla="*/ 11394196 w 12192000"/>
              <a:gd name="connsiteY252" fmla="*/ 4304177 h 6858000"/>
              <a:gd name="connsiteX253" fmla="*/ 11414094 w 12192000"/>
              <a:gd name="connsiteY253" fmla="*/ 4270234 h 6858000"/>
              <a:gd name="connsiteX254" fmla="*/ 11431650 w 12192000"/>
              <a:gd name="connsiteY254" fmla="*/ 4233950 h 6858000"/>
              <a:gd name="connsiteX255" fmla="*/ 11445696 w 12192000"/>
              <a:gd name="connsiteY255" fmla="*/ 4198836 h 6858000"/>
              <a:gd name="connsiteX256" fmla="*/ 11455060 w 12192000"/>
              <a:gd name="connsiteY256" fmla="*/ 4162552 h 6858000"/>
              <a:gd name="connsiteX257" fmla="*/ 11458571 w 12192000"/>
              <a:gd name="connsiteY257" fmla="*/ 4125097 h 6858000"/>
              <a:gd name="connsiteX258" fmla="*/ 11455060 w 12192000"/>
              <a:gd name="connsiteY258" fmla="*/ 4087643 h 6858000"/>
              <a:gd name="connsiteX259" fmla="*/ 11445696 w 12192000"/>
              <a:gd name="connsiteY259" fmla="*/ 4051358 h 6858000"/>
              <a:gd name="connsiteX260" fmla="*/ 11431650 w 12192000"/>
              <a:gd name="connsiteY260" fmla="*/ 4016245 h 6858000"/>
              <a:gd name="connsiteX261" fmla="*/ 11414094 w 12192000"/>
              <a:gd name="connsiteY261" fmla="*/ 3979961 h 6858000"/>
              <a:gd name="connsiteX262" fmla="*/ 11394196 w 12192000"/>
              <a:gd name="connsiteY262" fmla="*/ 3946017 h 6858000"/>
              <a:gd name="connsiteX263" fmla="*/ 11373128 w 12192000"/>
              <a:gd name="connsiteY263" fmla="*/ 3910903 h 6858000"/>
              <a:gd name="connsiteX264" fmla="*/ 11354400 w 12192000"/>
              <a:gd name="connsiteY264" fmla="*/ 3875790 h 6858000"/>
              <a:gd name="connsiteX265" fmla="*/ 11335673 w 12192000"/>
              <a:gd name="connsiteY265" fmla="*/ 3840676 h 6858000"/>
              <a:gd name="connsiteX266" fmla="*/ 11321628 w 12192000"/>
              <a:gd name="connsiteY266" fmla="*/ 3806733 h 6858000"/>
              <a:gd name="connsiteX267" fmla="*/ 11312264 w 12192000"/>
              <a:gd name="connsiteY267" fmla="*/ 3770449 h 6858000"/>
              <a:gd name="connsiteX268" fmla="*/ 11307582 w 12192000"/>
              <a:gd name="connsiteY268" fmla="*/ 3734164 h 6858000"/>
              <a:gd name="connsiteX269" fmla="*/ 11307582 w 12192000"/>
              <a:gd name="connsiteY269" fmla="*/ 3695539 h 6858000"/>
              <a:gd name="connsiteX270" fmla="*/ 11309923 w 12192000"/>
              <a:gd name="connsiteY270" fmla="*/ 3655744 h 6858000"/>
              <a:gd name="connsiteX271" fmla="*/ 11314605 w 12192000"/>
              <a:gd name="connsiteY271" fmla="*/ 3615948 h 6858000"/>
              <a:gd name="connsiteX272" fmla="*/ 11320457 w 12192000"/>
              <a:gd name="connsiteY272" fmla="*/ 3576152 h 6858000"/>
              <a:gd name="connsiteX273" fmla="*/ 11325139 w 12192000"/>
              <a:gd name="connsiteY273" fmla="*/ 3536357 h 6858000"/>
              <a:gd name="connsiteX274" fmla="*/ 11328650 w 12192000"/>
              <a:gd name="connsiteY274" fmla="*/ 3496561 h 6858000"/>
              <a:gd name="connsiteX275" fmla="*/ 11327480 w 12192000"/>
              <a:gd name="connsiteY275" fmla="*/ 3459107 h 6858000"/>
              <a:gd name="connsiteX276" fmla="*/ 11322798 w 12192000"/>
              <a:gd name="connsiteY276" fmla="*/ 3422822 h 6858000"/>
              <a:gd name="connsiteX277" fmla="*/ 11312264 w 12192000"/>
              <a:gd name="connsiteY277" fmla="*/ 3387709 h 6858000"/>
              <a:gd name="connsiteX278" fmla="*/ 11297048 w 12192000"/>
              <a:gd name="connsiteY278" fmla="*/ 3358447 h 6858000"/>
              <a:gd name="connsiteX279" fmla="*/ 11277150 w 12192000"/>
              <a:gd name="connsiteY279" fmla="*/ 3330356 h 6858000"/>
              <a:gd name="connsiteX280" fmla="*/ 11253741 w 12192000"/>
              <a:gd name="connsiteY280" fmla="*/ 3305777 h 6858000"/>
              <a:gd name="connsiteX281" fmla="*/ 11226820 w 12192000"/>
              <a:gd name="connsiteY281" fmla="*/ 3281197 h 6858000"/>
              <a:gd name="connsiteX282" fmla="*/ 11198729 w 12192000"/>
              <a:gd name="connsiteY282" fmla="*/ 3258958 h 6858000"/>
              <a:gd name="connsiteX283" fmla="*/ 11169468 w 12192000"/>
              <a:gd name="connsiteY283" fmla="*/ 3236720 h 6858000"/>
              <a:gd name="connsiteX284" fmla="*/ 11139036 w 12192000"/>
              <a:gd name="connsiteY284" fmla="*/ 3214481 h 6858000"/>
              <a:gd name="connsiteX285" fmla="*/ 11110945 w 12192000"/>
              <a:gd name="connsiteY285" fmla="*/ 3192242 h 6858000"/>
              <a:gd name="connsiteX286" fmla="*/ 11084024 w 12192000"/>
              <a:gd name="connsiteY286" fmla="*/ 3168833 h 6858000"/>
              <a:gd name="connsiteX287" fmla="*/ 11060615 w 12192000"/>
              <a:gd name="connsiteY287" fmla="*/ 3141913 h 6858000"/>
              <a:gd name="connsiteX288" fmla="*/ 11039547 w 12192000"/>
              <a:gd name="connsiteY288" fmla="*/ 3116162 h 6858000"/>
              <a:gd name="connsiteX289" fmla="*/ 11023160 w 12192000"/>
              <a:gd name="connsiteY289" fmla="*/ 3086901 h 6858000"/>
              <a:gd name="connsiteX290" fmla="*/ 11009115 w 12192000"/>
              <a:gd name="connsiteY290" fmla="*/ 3055299 h 6858000"/>
              <a:gd name="connsiteX291" fmla="*/ 10997410 w 12192000"/>
              <a:gd name="connsiteY291" fmla="*/ 3021355 h 6858000"/>
              <a:gd name="connsiteX292" fmla="*/ 10986876 w 12192000"/>
              <a:gd name="connsiteY292" fmla="*/ 2986242 h 6858000"/>
              <a:gd name="connsiteX293" fmla="*/ 10977513 w 12192000"/>
              <a:gd name="connsiteY293" fmla="*/ 2951128 h 6858000"/>
              <a:gd name="connsiteX294" fmla="*/ 10968149 w 12192000"/>
              <a:gd name="connsiteY294" fmla="*/ 2914844 h 6858000"/>
              <a:gd name="connsiteX295" fmla="*/ 10957615 w 12192000"/>
              <a:gd name="connsiteY295" fmla="*/ 2880900 h 6858000"/>
              <a:gd name="connsiteX296" fmla="*/ 10945910 w 12192000"/>
              <a:gd name="connsiteY296" fmla="*/ 2846957 h 6858000"/>
              <a:gd name="connsiteX297" fmla="*/ 10931865 w 12192000"/>
              <a:gd name="connsiteY297" fmla="*/ 2815355 h 6858000"/>
              <a:gd name="connsiteX298" fmla="*/ 10914308 w 12192000"/>
              <a:gd name="connsiteY298" fmla="*/ 2787264 h 6858000"/>
              <a:gd name="connsiteX299" fmla="*/ 10893240 w 12192000"/>
              <a:gd name="connsiteY299" fmla="*/ 2761514 h 6858000"/>
              <a:gd name="connsiteX300" fmla="*/ 10867490 w 12192000"/>
              <a:gd name="connsiteY300" fmla="*/ 2740445 h 6858000"/>
              <a:gd name="connsiteX301" fmla="*/ 10839399 w 12192000"/>
              <a:gd name="connsiteY301" fmla="*/ 2722888 h 6858000"/>
              <a:gd name="connsiteX302" fmla="*/ 10807796 w 12192000"/>
              <a:gd name="connsiteY302" fmla="*/ 2708843 h 6858000"/>
              <a:gd name="connsiteX303" fmla="*/ 10773853 w 12192000"/>
              <a:gd name="connsiteY303" fmla="*/ 2697138 h 6858000"/>
              <a:gd name="connsiteX304" fmla="*/ 10739910 w 12192000"/>
              <a:gd name="connsiteY304" fmla="*/ 2686604 h 6858000"/>
              <a:gd name="connsiteX305" fmla="*/ 10703626 w 12192000"/>
              <a:gd name="connsiteY305" fmla="*/ 2677241 h 6858000"/>
              <a:gd name="connsiteX306" fmla="*/ 10668512 w 12192000"/>
              <a:gd name="connsiteY306" fmla="*/ 2667877 h 6858000"/>
              <a:gd name="connsiteX307" fmla="*/ 10633398 w 12192000"/>
              <a:gd name="connsiteY307" fmla="*/ 2657343 h 6858000"/>
              <a:gd name="connsiteX308" fmla="*/ 10599455 w 12192000"/>
              <a:gd name="connsiteY308" fmla="*/ 2645638 h 6858000"/>
              <a:gd name="connsiteX309" fmla="*/ 10567852 w 12192000"/>
              <a:gd name="connsiteY309" fmla="*/ 2631593 h 6858000"/>
              <a:gd name="connsiteX310" fmla="*/ 10538591 w 12192000"/>
              <a:gd name="connsiteY310" fmla="*/ 2615206 h 6858000"/>
              <a:gd name="connsiteX311" fmla="*/ 10512841 w 12192000"/>
              <a:gd name="connsiteY311" fmla="*/ 2594138 h 6858000"/>
              <a:gd name="connsiteX312" fmla="*/ 10485920 w 12192000"/>
              <a:gd name="connsiteY312" fmla="*/ 2570729 h 6858000"/>
              <a:gd name="connsiteX313" fmla="*/ 10462511 w 12192000"/>
              <a:gd name="connsiteY313" fmla="*/ 2543808 h 6858000"/>
              <a:gd name="connsiteX314" fmla="*/ 10440272 w 12192000"/>
              <a:gd name="connsiteY314" fmla="*/ 2515717 h 6858000"/>
              <a:gd name="connsiteX315" fmla="*/ 10418034 w 12192000"/>
              <a:gd name="connsiteY315" fmla="*/ 2486456 h 6858000"/>
              <a:gd name="connsiteX316" fmla="*/ 10395795 w 12192000"/>
              <a:gd name="connsiteY316" fmla="*/ 2457194 h 6858000"/>
              <a:gd name="connsiteX317" fmla="*/ 10373556 w 12192000"/>
              <a:gd name="connsiteY317" fmla="*/ 2429103 h 6858000"/>
              <a:gd name="connsiteX318" fmla="*/ 10348977 w 12192000"/>
              <a:gd name="connsiteY318" fmla="*/ 2402183 h 6858000"/>
              <a:gd name="connsiteX319" fmla="*/ 10324397 w 12192000"/>
              <a:gd name="connsiteY319" fmla="*/ 2378774 h 6858000"/>
              <a:gd name="connsiteX320" fmla="*/ 10296306 w 12192000"/>
              <a:gd name="connsiteY320" fmla="*/ 2358876 h 6858000"/>
              <a:gd name="connsiteX321" fmla="*/ 10267044 w 12192000"/>
              <a:gd name="connsiteY321" fmla="*/ 2343660 h 6858000"/>
              <a:gd name="connsiteX322" fmla="*/ 10231931 w 12192000"/>
              <a:gd name="connsiteY322" fmla="*/ 2333126 h 6858000"/>
              <a:gd name="connsiteX323" fmla="*/ 10195647 w 12192000"/>
              <a:gd name="connsiteY323" fmla="*/ 2328444 h 6858000"/>
              <a:gd name="connsiteX324" fmla="*/ 10158192 w 12192000"/>
              <a:gd name="connsiteY324" fmla="*/ 2327274 h 6858000"/>
              <a:gd name="connsiteX325" fmla="*/ 10118396 w 12192000"/>
              <a:gd name="connsiteY325" fmla="*/ 2330785 h 6858000"/>
              <a:gd name="connsiteX326" fmla="*/ 10078601 w 12192000"/>
              <a:gd name="connsiteY326" fmla="*/ 2335467 h 6858000"/>
              <a:gd name="connsiteX327" fmla="*/ 10038805 w 12192000"/>
              <a:gd name="connsiteY327" fmla="*/ 2341319 h 6858000"/>
              <a:gd name="connsiteX328" fmla="*/ 9999010 w 12192000"/>
              <a:gd name="connsiteY328" fmla="*/ 2346001 h 6858000"/>
              <a:gd name="connsiteX329" fmla="*/ 9959214 w 12192000"/>
              <a:gd name="connsiteY329" fmla="*/ 2348342 h 6858000"/>
              <a:gd name="connsiteX330" fmla="*/ 9920589 w 12192000"/>
              <a:gd name="connsiteY330" fmla="*/ 2348342 h 6858000"/>
              <a:gd name="connsiteX331" fmla="*/ 9884305 w 12192000"/>
              <a:gd name="connsiteY331" fmla="*/ 2343660 h 6858000"/>
              <a:gd name="connsiteX332" fmla="*/ 9846850 w 12192000"/>
              <a:gd name="connsiteY332" fmla="*/ 2334296 h 6858000"/>
              <a:gd name="connsiteX333" fmla="*/ 9812907 w 12192000"/>
              <a:gd name="connsiteY333" fmla="*/ 2320251 h 6858000"/>
              <a:gd name="connsiteX334" fmla="*/ 9777793 w 12192000"/>
              <a:gd name="connsiteY334" fmla="*/ 2301524 h 6858000"/>
              <a:gd name="connsiteX335" fmla="*/ 9742679 w 12192000"/>
              <a:gd name="connsiteY335" fmla="*/ 2282796 h 6858000"/>
              <a:gd name="connsiteX336" fmla="*/ 9707566 w 12192000"/>
              <a:gd name="connsiteY336" fmla="*/ 2261728 h 6858000"/>
              <a:gd name="connsiteX337" fmla="*/ 9673622 w 12192000"/>
              <a:gd name="connsiteY337" fmla="*/ 2241830 h 6858000"/>
              <a:gd name="connsiteX338" fmla="*/ 9637338 w 12192000"/>
              <a:gd name="connsiteY338" fmla="*/ 2224273 h 6858000"/>
              <a:gd name="connsiteX339" fmla="*/ 9602224 w 12192000"/>
              <a:gd name="connsiteY339" fmla="*/ 2210228 h 6858000"/>
              <a:gd name="connsiteX340" fmla="*/ 9565940 w 12192000"/>
              <a:gd name="connsiteY340" fmla="*/ 2200864 h 6858000"/>
              <a:gd name="connsiteX341" fmla="*/ 9528486 w 12192000"/>
              <a:gd name="connsiteY341" fmla="*/ 219735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Lst>
            <a:rect l="l" t="t" r="r" b="b"/>
            <a:pathLst>
              <a:path w="12192000" h="6858000">
                <a:moveTo>
                  <a:pt x="0" y="0"/>
                </a:moveTo>
                <a:lnTo>
                  <a:pt x="12192000" y="0"/>
                </a:lnTo>
                <a:lnTo>
                  <a:pt x="12192000" y="6858000"/>
                </a:lnTo>
                <a:lnTo>
                  <a:pt x="0" y="6858000"/>
                </a:lnTo>
                <a:lnTo>
                  <a:pt x="0" y="0"/>
                </a:lnTo>
                <a:close/>
                <a:moveTo>
                  <a:pt x="9528486" y="2197353"/>
                </a:moveTo>
                <a:lnTo>
                  <a:pt x="9491031" y="2200864"/>
                </a:lnTo>
                <a:lnTo>
                  <a:pt x="9454747" y="2210228"/>
                </a:lnTo>
                <a:lnTo>
                  <a:pt x="9419633" y="2224273"/>
                </a:lnTo>
                <a:lnTo>
                  <a:pt x="9383349" y="2241830"/>
                </a:lnTo>
                <a:lnTo>
                  <a:pt x="9349405" y="2261728"/>
                </a:lnTo>
                <a:lnTo>
                  <a:pt x="9314292" y="2282796"/>
                </a:lnTo>
                <a:lnTo>
                  <a:pt x="9279178" y="2301524"/>
                </a:lnTo>
                <a:lnTo>
                  <a:pt x="9244064" y="2320251"/>
                </a:lnTo>
                <a:lnTo>
                  <a:pt x="9208950" y="2334296"/>
                </a:lnTo>
                <a:lnTo>
                  <a:pt x="9172666" y="2343660"/>
                </a:lnTo>
                <a:lnTo>
                  <a:pt x="9136382" y="2348342"/>
                </a:lnTo>
                <a:lnTo>
                  <a:pt x="9097757" y="2348342"/>
                </a:lnTo>
                <a:lnTo>
                  <a:pt x="9057961" y="2346001"/>
                </a:lnTo>
                <a:lnTo>
                  <a:pt x="9018166" y="2341319"/>
                </a:lnTo>
                <a:lnTo>
                  <a:pt x="8978370" y="2335467"/>
                </a:lnTo>
                <a:lnTo>
                  <a:pt x="8938575" y="2330785"/>
                </a:lnTo>
                <a:lnTo>
                  <a:pt x="8898779" y="2327274"/>
                </a:lnTo>
                <a:lnTo>
                  <a:pt x="8861324" y="2328444"/>
                </a:lnTo>
                <a:lnTo>
                  <a:pt x="8825040" y="2333126"/>
                </a:lnTo>
                <a:lnTo>
                  <a:pt x="8789926" y="2343660"/>
                </a:lnTo>
                <a:lnTo>
                  <a:pt x="8760665" y="2358876"/>
                </a:lnTo>
                <a:lnTo>
                  <a:pt x="8732574" y="2378774"/>
                </a:lnTo>
                <a:lnTo>
                  <a:pt x="8707994" y="2402183"/>
                </a:lnTo>
                <a:lnTo>
                  <a:pt x="8683415" y="2429103"/>
                </a:lnTo>
                <a:lnTo>
                  <a:pt x="8661176" y="2457194"/>
                </a:lnTo>
                <a:lnTo>
                  <a:pt x="8638937" y="2486456"/>
                </a:lnTo>
                <a:lnTo>
                  <a:pt x="8616699" y="2515717"/>
                </a:lnTo>
                <a:lnTo>
                  <a:pt x="8594460" y="2543808"/>
                </a:lnTo>
                <a:lnTo>
                  <a:pt x="8571051" y="2570729"/>
                </a:lnTo>
                <a:lnTo>
                  <a:pt x="8544130" y="2594138"/>
                </a:lnTo>
                <a:lnTo>
                  <a:pt x="8518380" y="2615206"/>
                </a:lnTo>
                <a:lnTo>
                  <a:pt x="8489119" y="2631593"/>
                </a:lnTo>
                <a:lnTo>
                  <a:pt x="8457516" y="2645638"/>
                </a:lnTo>
                <a:lnTo>
                  <a:pt x="8423573" y="2657343"/>
                </a:lnTo>
                <a:lnTo>
                  <a:pt x="8388459" y="2667877"/>
                </a:lnTo>
                <a:lnTo>
                  <a:pt x="8353346" y="2677241"/>
                </a:lnTo>
                <a:lnTo>
                  <a:pt x="8317062" y="2686604"/>
                </a:lnTo>
                <a:lnTo>
                  <a:pt x="8283118" y="2697138"/>
                </a:lnTo>
                <a:lnTo>
                  <a:pt x="8249175" y="2708843"/>
                </a:lnTo>
                <a:lnTo>
                  <a:pt x="8217573" y="2722888"/>
                </a:lnTo>
                <a:lnTo>
                  <a:pt x="8189482" y="2740445"/>
                </a:lnTo>
                <a:lnTo>
                  <a:pt x="8163732" y="2761514"/>
                </a:lnTo>
                <a:lnTo>
                  <a:pt x="8142663" y="2787264"/>
                </a:lnTo>
                <a:lnTo>
                  <a:pt x="8125106" y="2815355"/>
                </a:lnTo>
                <a:lnTo>
                  <a:pt x="8111061" y="2846957"/>
                </a:lnTo>
                <a:lnTo>
                  <a:pt x="8099356" y="2880900"/>
                </a:lnTo>
                <a:lnTo>
                  <a:pt x="8088822" y="2914844"/>
                </a:lnTo>
                <a:lnTo>
                  <a:pt x="8079459" y="2951128"/>
                </a:lnTo>
                <a:lnTo>
                  <a:pt x="8070095" y="2986242"/>
                </a:lnTo>
                <a:lnTo>
                  <a:pt x="8059561" y="3021355"/>
                </a:lnTo>
                <a:lnTo>
                  <a:pt x="8047856" y="3055299"/>
                </a:lnTo>
                <a:lnTo>
                  <a:pt x="8033811" y="3086901"/>
                </a:lnTo>
                <a:lnTo>
                  <a:pt x="8017424" y="3116162"/>
                </a:lnTo>
                <a:lnTo>
                  <a:pt x="7996356" y="3141913"/>
                </a:lnTo>
                <a:lnTo>
                  <a:pt x="7972947" y="3168833"/>
                </a:lnTo>
                <a:lnTo>
                  <a:pt x="7946026" y="3192242"/>
                </a:lnTo>
                <a:lnTo>
                  <a:pt x="7916765" y="3214481"/>
                </a:lnTo>
                <a:lnTo>
                  <a:pt x="7887503" y="3236720"/>
                </a:lnTo>
                <a:lnTo>
                  <a:pt x="7858242" y="3258958"/>
                </a:lnTo>
                <a:lnTo>
                  <a:pt x="7830151" y="3281197"/>
                </a:lnTo>
                <a:lnTo>
                  <a:pt x="7803230" y="3305777"/>
                </a:lnTo>
                <a:lnTo>
                  <a:pt x="7779821" y="3330356"/>
                </a:lnTo>
                <a:lnTo>
                  <a:pt x="7759923" y="3358447"/>
                </a:lnTo>
                <a:lnTo>
                  <a:pt x="7744708" y="3387709"/>
                </a:lnTo>
                <a:lnTo>
                  <a:pt x="7734173" y="3422822"/>
                </a:lnTo>
                <a:lnTo>
                  <a:pt x="7729492" y="3459107"/>
                </a:lnTo>
                <a:lnTo>
                  <a:pt x="7728321" y="3496561"/>
                </a:lnTo>
                <a:lnTo>
                  <a:pt x="7731832" y="3536357"/>
                </a:lnTo>
                <a:lnTo>
                  <a:pt x="7736514" y="3576152"/>
                </a:lnTo>
                <a:lnTo>
                  <a:pt x="7742367" y="3615948"/>
                </a:lnTo>
                <a:lnTo>
                  <a:pt x="7747048" y="3655744"/>
                </a:lnTo>
                <a:lnTo>
                  <a:pt x="7749389" y="3695539"/>
                </a:lnTo>
                <a:lnTo>
                  <a:pt x="7749389" y="3734164"/>
                </a:lnTo>
                <a:lnTo>
                  <a:pt x="7744708" y="3770449"/>
                </a:lnTo>
                <a:lnTo>
                  <a:pt x="7735344" y="3806733"/>
                </a:lnTo>
                <a:lnTo>
                  <a:pt x="7721298" y="3840676"/>
                </a:lnTo>
                <a:lnTo>
                  <a:pt x="7703741" y="3875790"/>
                </a:lnTo>
                <a:lnTo>
                  <a:pt x="7683844" y="3910903"/>
                </a:lnTo>
                <a:lnTo>
                  <a:pt x="7662775" y="3946017"/>
                </a:lnTo>
                <a:lnTo>
                  <a:pt x="7642878" y="3979961"/>
                </a:lnTo>
                <a:lnTo>
                  <a:pt x="7625321" y="4016245"/>
                </a:lnTo>
                <a:lnTo>
                  <a:pt x="7611275" y="4051358"/>
                </a:lnTo>
                <a:lnTo>
                  <a:pt x="7601912" y="4087643"/>
                </a:lnTo>
                <a:lnTo>
                  <a:pt x="7598400" y="4125097"/>
                </a:lnTo>
                <a:lnTo>
                  <a:pt x="7601912" y="4162552"/>
                </a:lnTo>
                <a:lnTo>
                  <a:pt x="7611275" y="4198836"/>
                </a:lnTo>
                <a:lnTo>
                  <a:pt x="7625321" y="4233950"/>
                </a:lnTo>
                <a:lnTo>
                  <a:pt x="7642878" y="4270234"/>
                </a:lnTo>
                <a:lnTo>
                  <a:pt x="7662775" y="4304177"/>
                </a:lnTo>
                <a:lnTo>
                  <a:pt x="7683844" y="4339291"/>
                </a:lnTo>
                <a:lnTo>
                  <a:pt x="7703741" y="4374405"/>
                </a:lnTo>
                <a:lnTo>
                  <a:pt x="7721298" y="4409519"/>
                </a:lnTo>
                <a:lnTo>
                  <a:pt x="7735344" y="4443462"/>
                </a:lnTo>
                <a:lnTo>
                  <a:pt x="7744708" y="4479746"/>
                </a:lnTo>
                <a:lnTo>
                  <a:pt x="7749389" y="4516030"/>
                </a:lnTo>
                <a:lnTo>
                  <a:pt x="7749389" y="4554655"/>
                </a:lnTo>
                <a:lnTo>
                  <a:pt x="7747048" y="4594451"/>
                </a:lnTo>
                <a:lnTo>
                  <a:pt x="7742367" y="4634247"/>
                </a:lnTo>
                <a:lnTo>
                  <a:pt x="7736514" y="4674042"/>
                </a:lnTo>
                <a:lnTo>
                  <a:pt x="7731832" y="4713838"/>
                </a:lnTo>
                <a:lnTo>
                  <a:pt x="7728321" y="4753633"/>
                </a:lnTo>
                <a:lnTo>
                  <a:pt x="7729492" y="4791088"/>
                </a:lnTo>
                <a:lnTo>
                  <a:pt x="7734173" y="4827372"/>
                </a:lnTo>
                <a:lnTo>
                  <a:pt x="7744708" y="4862486"/>
                </a:lnTo>
                <a:lnTo>
                  <a:pt x="7759923" y="4891747"/>
                </a:lnTo>
                <a:lnTo>
                  <a:pt x="7779821" y="4919838"/>
                </a:lnTo>
                <a:lnTo>
                  <a:pt x="7803230" y="4944418"/>
                </a:lnTo>
                <a:lnTo>
                  <a:pt x="7830151" y="4968998"/>
                </a:lnTo>
                <a:lnTo>
                  <a:pt x="7858242" y="4991236"/>
                </a:lnTo>
                <a:lnTo>
                  <a:pt x="7887503" y="5013475"/>
                </a:lnTo>
                <a:lnTo>
                  <a:pt x="7916765" y="5035714"/>
                </a:lnTo>
                <a:lnTo>
                  <a:pt x="7946026" y="5057952"/>
                </a:lnTo>
                <a:lnTo>
                  <a:pt x="7972947" y="5081362"/>
                </a:lnTo>
                <a:lnTo>
                  <a:pt x="7996356" y="5108282"/>
                </a:lnTo>
                <a:lnTo>
                  <a:pt x="8017424" y="5134032"/>
                </a:lnTo>
                <a:lnTo>
                  <a:pt x="8033811" y="5163294"/>
                </a:lnTo>
                <a:lnTo>
                  <a:pt x="8047856" y="5194896"/>
                </a:lnTo>
                <a:lnTo>
                  <a:pt x="8059561" y="5228839"/>
                </a:lnTo>
                <a:lnTo>
                  <a:pt x="8070095" y="5263953"/>
                </a:lnTo>
                <a:lnTo>
                  <a:pt x="8079459" y="5299067"/>
                </a:lnTo>
                <a:lnTo>
                  <a:pt x="8088822" y="5335351"/>
                </a:lnTo>
                <a:lnTo>
                  <a:pt x="8099356" y="5369294"/>
                </a:lnTo>
                <a:lnTo>
                  <a:pt x="8111061" y="5403238"/>
                </a:lnTo>
                <a:lnTo>
                  <a:pt x="8125106" y="5434840"/>
                </a:lnTo>
                <a:lnTo>
                  <a:pt x="8142663" y="5462931"/>
                </a:lnTo>
                <a:lnTo>
                  <a:pt x="8163732" y="5488681"/>
                </a:lnTo>
                <a:lnTo>
                  <a:pt x="8189482" y="5509749"/>
                </a:lnTo>
                <a:lnTo>
                  <a:pt x="8217573" y="5527306"/>
                </a:lnTo>
                <a:lnTo>
                  <a:pt x="8249175" y="5541352"/>
                </a:lnTo>
                <a:lnTo>
                  <a:pt x="8283118" y="5553056"/>
                </a:lnTo>
                <a:lnTo>
                  <a:pt x="8317062" y="5563590"/>
                </a:lnTo>
                <a:lnTo>
                  <a:pt x="8353346" y="5572954"/>
                </a:lnTo>
                <a:lnTo>
                  <a:pt x="8388459" y="5582318"/>
                </a:lnTo>
                <a:lnTo>
                  <a:pt x="8423573" y="5592852"/>
                </a:lnTo>
                <a:lnTo>
                  <a:pt x="8457516" y="5604556"/>
                </a:lnTo>
                <a:lnTo>
                  <a:pt x="8489119" y="5618602"/>
                </a:lnTo>
                <a:lnTo>
                  <a:pt x="8518380" y="5634988"/>
                </a:lnTo>
                <a:lnTo>
                  <a:pt x="8544130" y="5656057"/>
                </a:lnTo>
                <a:lnTo>
                  <a:pt x="8571051" y="5679466"/>
                </a:lnTo>
                <a:lnTo>
                  <a:pt x="8594460" y="5706386"/>
                </a:lnTo>
                <a:lnTo>
                  <a:pt x="8616699" y="5734477"/>
                </a:lnTo>
                <a:lnTo>
                  <a:pt x="8638937" y="5763739"/>
                </a:lnTo>
                <a:lnTo>
                  <a:pt x="8661176" y="5793000"/>
                </a:lnTo>
                <a:lnTo>
                  <a:pt x="8683415" y="5821091"/>
                </a:lnTo>
                <a:lnTo>
                  <a:pt x="8707994" y="5848012"/>
                </a:lnTo>
                <a:lnTo>
                  <a:pt x="8732574" y="5871421"/>
                </a:lnTo>
                <a:lnTo>
                  <a:pt x="8760665" y="5891319"/>
                </a:lnTo>
                <a:lnTo>
                  <a:pt x="8789926" y="5906535"/>
                </a:lnTo>
                <a:lnTo>
                  <a:pt x="8825040" y="5917069"/>
                </a:lnTo>
                <a:lnTo>
                  <a:pt x="8861324" y="5921751"/>
                </a:lnTo>
                <a:lnTo>
                  <a:pt x="8898779" y="5922921"/>
                </a:lnTo>
                <a:lnTo>
                  <a:pt x="8938575" y="5919410"/>
                </a:lnTo>
                <a:lnTo>
                  <a:pt x="8978370" y="5914728"/>
                </a:lnTo>
                <a:lnTo>
                  <a:pt x="9018166" y="5908876"/>
                </a:lnTo>
                <a:lnTo>
                  <a:pt x="9057961" y="5904194"/>
                </a:lnTo>
                <a:lnTo>
                  <a:pt x="9097757" y="5901853"/>
                </a:lnTo>
                <a:lnTo>
                  <a:pt x="9136382" y="5901853"/>
                </a:lnTo>
                <a:lnTo>
                  <a:pt x="9172666" y="5906535"/>
                </a:lnTo>
                <a:lnTo>
                  <a:pt x="9208950" y="5915898"/>
                </a:lnTo>
                <a:lnTo>
                  <a:pt x="9244064" y="5929944"/>
                </a:lnTo>
                <a:lnTo>
                  <a:pt x="9279178" y="5948671"/>
                </a:lnTo>
                <a:lnTo>
                  <a:pt x="9314292" y="5967398"/>
                </a:lnTo>
                <a:lnTo>
                  <a:pt x="9349405" y="5988467"/>
                </a:lnTo>
                <a:lnTo>
                  <a:pt x="9383349" y="6008364"/>
                </a:lnTo>
                <a:lnTo>
                  <a:pt x="9419633" y="6025921"/>
                </a:lnTo>
                <a:lnTo>
                  <a:pt x="9454747" y="6039967"/>
                </a:lnTo>
                <a:lnTo>
                  <a:pt x="9491031" y="6049331"/>
                </a:lnTo>
                <a:lnTo>
                  <a:pt x="9528486" y="6052842"/>
                </a:lnTo>
                <a:lnTo>
                  <a:pt x="9565940" y="6049331"/>
                </a:lnTo>
                <a:lnTo>
                  <a:pt x="9602224" y="6039967"/>
                </a:lnTo>
                <a:lnTo>
                  <a:pt x="9637338" y="6025921"/>
                </a:lnTo>
                <a:lnTo>
                  <a:pt x="9673622" y="6008364"/>
                </a:lnTo>
                <a:lnTo>
                  <a:pt x="9707566" y="5988467"/>
                </a:lnTo>
                <a:lnTo>
                  <a:pt x="9742679" y="5967398"/>
                </a:lnTo>
                <a:lnTo>
                  <a:pt x="9777793" y="5948671"/>
                </a:lnTo>
                <a:lnTo>
                  <a:pt x="9812907" y="5929944"/>
                </a:lnTo>
                <a:lnTo>
                  <a:pt x="9846850" y="5915898"/>
                </a:lnTo>
                <a:lnTo>
                  <a:pt x="9884305" y="5906535"/>
                </a:lnTo>
                <a:lnTo>
                  <a:pt x="9920589" y="5901853"/>
                </a:lnTo>
                <a:lnTo>
                  <a:pt x="9959214" y="5901853"/>
                </a:lnTo>
                <a:lnTo>
                  <a:pt x="9999010" y="5904194"/>
                </a:lnTo>
                <a:lnTo>
                  <a:pt x="10038805" y="5908876"/>
                </a:lnTo>
                <a:lnTo>
                  <a:pt x="10078601" y="5914728"/>
                </a:lnTo>
                <a:lnTo>
                  <a:pt x="10118396" y="5919410"/>
                </a:lnTo>
                <a:lnTo>
                  <a:pt x="10158192" y="5922921"/>
                </a:lnTo>
                <a:lnTo>
                  <a:pt x="10195647" y="5921751"/>
                </a:lnTo>
                <a:lnTo>
                  <a:pt x="10231931" y="5917069"/>
                </a:lnTo>
                <a:lnTo>
                  <a:pt x="10267044" y="5906535"/>
                </a:lnTo>
                <a:lnTo>
                  <a:pt x="10296306" y="5891319"/>
                </a:lnTo>
                <a:lnTo>
                  <a:pt x="10324397" y="5871421"/>
                </a:lnTo>
                <a:lnTo>
                  <a:pt x="10348977" y="5848012"/>
                </a:lnTo>
                <a:lnTo>
                  <a:pt x="10373556" y="5821091"/>
                </a:lnTo>
                <a:lnTo>
                  <a:pt x="10395795" y="5793000"/>
                </a:lnTo>
                <a:lnTo>
                  <a:pt x="10418034" y="5763739"/>
                </a:lnTo>
                <a:lnTo>
                  <a:pt x="10440272" y="5734477"/>
                </a:lnTo>
                <a:lnTo>
                  <a:pt x="10462511" y="5706386"/>
                </a:lnTo>
                <a:lnTo>
                  <a:pt x="10485920" y="5679466"/>
                </a:lnTo>
                <a:lnTo>
                  <a:pt x="10512841" y="5656057"/>
                </a:lnTo>
                <a:lnTo>
                  <a:pt x="10538591" y="5634988"/>
                </a:lnTo>
                <a:lnTo>
                  <a:pt x="10567852" y="5618602"/>
                </a:lnTo>
                <a:lnTo>
                  <a:pt x="10599455" y="5604556"/>
                </a:lnTo>
                <a:lnTo>
                  <a:pt x="10633398" y="5592852"/>
                </a:lnTo>
                <a:lnTo>
                  <a:pt x="10668512" y="5582318"/>
                </a:lnTo>
                <a:lnTo>
                  <a:pt x="10703626" y="5572954"/>
                </a:lnTo>
                <a:lnTo>
                  <a:pt x="10739910" y="5563590"/>
                </a:lnTo>
                <a:lnTo>
                  <a:pt x="10773853" y="5553056"/>
                </a:lnTo>
                <a:lnTo>
                  <a:pt x="10807796" y="5541352"/>
                </a:lnTo>
                <a:lnTo>
                  <a:pt x="10839399" y="5527306"/>
                </a:lnTo>
                <a:lnTo>
                  <a:pt x="10867490" y="5509749"/>
                </a:lnTo>
                <a:lnTo>
                  <a:pt x="10893240" y="5488681"/>
                </a:lnTo>
                <a:lnTo>
                  <a:pt x="10914308" y="5462931"/>
                </a:lnTo>
                <a:lnTo>
                  <a:pt x="10931865" y="5434840"/>
                </a:lnTo>
                <a:lnTo>
                  <a:pt x="10945910" y="5403238"/>
                </a:lnTo>
                <a:lnTo>
                  <a:pt x="10957615" y="5369294"/>
                </a:lnTo>
                <a:lnTo>
                  <a:pt x="10968149" y="5335351"/>
                </a:lnTo>
                <a:lnTo>
                  <a:pt x="10977513" y="5299067"/>
                </a:lnTo>
                <a:lnTo>
                  <a:pt x="10986876" y="5263953"/>
                </a:lnTo>
                <a:lnTo>
                  <a:pt x="10997410" y="5228839"/>
                </a:lnTo>
                <a:lnTo>
                  <a:pt x="11009115" y="5194896"/>
                </a:lnTo>
                <a:lnTo>
                  <a:pt x="11023160" y="5163294"/>
                </a:lnTo>
                <a:lnTo>
                  <a:pt x="11039547" y="5134032"/>
                </a:lnTo>
                <a:lnTo>
                  <a:pt x="11060615" y="5108282"/>
                </a:lnTo>
                <a:lnTo>
                  <a:pt x="11084024" y="5081362"/>
                </a:lnTo>
                <a:lnTo>
                  <a:pt x="11110945" y="5057952"/>
                </a:lnTo>
                <a:lnTo>
                  <a:pt x="11139036" y="5035714"/>
                </a:lnTo>
                <a:lnTo>
                  <a:pt x="11169468" y="5013475"/>
                </a:lnTo>
                <a:lnTo>
                  <a:pt x="11198729" y="4991236"/>
                </a:lnTo>
                <a:lnTo>
                  <a:pt x="11226820" y="4968998"/>
                </a:lnTo>
                <a:lnTo>
                  <a:pt x="11253741" y="4944418"/>
                </a:lnTo>
                <a:lnTo>
                  <a:pt x="11277150" y="4919838"/>
                </a:lnTo>
                <a:lnTo>
                  <a:pt x="11297048" y="4891747"/>
                </a:lnTo>
                <a:lnTo>
                  <a:pt x="11312264" y="4862486"/>
                </a:lnTo>
                <a:lnTo>
                  <a:pt x="11322798" y="4827372"/>
                </a:lnTo>
                <a:lnTo>
                  <a:pt x="11327480" y="4791088"/>
                </a:lnTo>
                <a:lnTo>
                  <a:pt x="11328650" y="4753633"/>
                </a:lnTo>
                <a:lnTo>
                  <a:pt x="11325139" y="4713838"/>
                </a:lnTo>
                <a:lnTo>
                  <a:pt x="11320457" y="4674042"/>
                </a:lnTo>
                <a:lnTo>
                  <a:pt x="11314605" y="4634247"/>
                </a:lnTo>
                <a:lnTo>
                  <a:pt x="11309923" y="4594451"/>
                </a:lnTo>
                <a:lnTo>
                  <a:pt x="11307582" y="4554655"/>
                </a:lnTo>
                <a:lnTo>
                  <a:pt x="11307582" y="4516030"/>
                </a:lnTo>
                <a:lnTo>
                  <a:pt x="11312264" y="4479746"/>
                </a:lnTo>
                <a:lnTo>
                  <a:pt x="11321628" y="4443462"/>
                </a:lnTo>
                <a:lnTo>
                  <a:pt x="11335673" y="4409519"/>
                </a:lnTo>
                <a:lnTo>
                  <a:pt x="11354400" y="4374405"/>
                </a:lnTo>
                <a:lnTo>
                  <a:pt x="11373128" y="4339291"/>
                </a:lnTo>
                <a:lnTo>
                  <a:pt x="11394196" y="4304177"/>
                </a:lnTo>
                <a:lnTo>
                  <a:pt x="11414094" y="4270234"/>
                </a:lnTo>
                <a:lnTo>
                  <a:pt x="11431650" y="4233950"/>
                </a:lnTo>
                <a:lnTo>
                  <a:pt x="11445696" y="4198836"/>
                </a:lnTo>
                <a:lnTo>
                  <a:pt x="11455060" y="4162552"/>
                </a:lnTo>
                <a:lnTo>
                  <a:pt x="11458571" y="4125097"/>
                </a:lnTo>
                <a:lnTo>
                  <a:pt x="11455060" y="4087643"/>
                </a:lnTo>
                <a:lnTo>
                  <a:pt x="11445696" y="4051358"/>
                </a:lnTo>
                <a:lnTo>
                  <a:pt x="11431650" y="4016245"/>
                </a:lnTo>
                <a:lnTo>
                  <a:pt x="11414094" y="3979961"/>
                </a:lnTo>
                <a:lnTo>
                  <a:pt x="11394196" y="3946017"/>
                </a:lnTo>
                <a:lnTo>
                  <a:pt x="11373128" y="3910903"/>
                </a:lnTo>
                <a:lnTo>
                  <a:pt x="11354400" y="3875790"/>
                </a:lnTo>
                <a:lnTo>
                  <a:pt x="11335673" y="3840676"/>
                </a:lnTo>
                <a:lnTo>
                  <a:pt x="11321628" y="3806733"/>
                </a:lnTo>
                <a:lnTo>
                  <a:pt x="11312264" y="3770449"/>
                </a:lnTo>
                <a:lnTo>
                  <a:pt x="11307582" y="3734164"/>
                </a:lnTo>
                <a:lnTo>
                  <a:pt x="11307582" y="3695539"/>
                </a:lnTo>
                <a:lnTo>
                  <a:pt x="11309923" y="3655744"/>
                </a:lnTo>
                <a:lnTo>
                  <a:pt x="11314605" y="3615948"/>
                </a:lnTo>
                <a:lnTo>
                  <a:pt x="11320457" y="3576152"/>
                </a:lnTo>
                <a:lnTo>
                  <a:pt x="11325139" y="3536357"/>
                </a:lnTo>
                <a:lnTo>
                  <a:pt x="11328650" y="3496561"/>
                </a:lnTo>
                <a:lnTo>
                  <a:pt x="11327480" y="3459107"/>
                </a:lnTo>
                <a:lnTo>
                  <a:pt x="11322798" y="3422822"/>
                </a:lnTo>
                <a:lnTo>
                  <a:pt x="11312264" y="3387709"/>
                </a:lnTo>
                <a:lnTo>
                  <a:pt x="11297048" y="3358447"/>
                </a:lnTo>
                <a:lnTo>
                  <a:pt x="11277150" y="3330356"/>
                </a:lnTo>
                <a:lnTo>
                  <a:pt x="11253741" y="3305777"/>
                </a:lnTo>
                <a:lnTo>
                  <a:pt x="11226820" y="3281197"/>
                </a:lnTo>
                <a:lnTo>
                  <a:pt x="11198729" y="3258958"/>
                </a:lnTo>
                <a:lnTo>
                  <a:pt x="11169468" y="3236720"/>
                </a:lnTo>
                <a:lnTo>
                  <a:pt x="11139036" y="3214481"/>
                </a:lnTo>
                <a:lnTo>
                  <a:pt x="11110945" y="3192242"/>
                </a:lnTo>
                <a:lnTo>
                  <a:pt x="11084024" y="3168833"/>
                </a:lnTo>
                <a:lnTo>
                  <a:pt x="11060615" y="3141913"/>
                </a:lnTo>
                <a:lnTo>
                  <a:pt x="11039547" y="3116162"/>
                </a:lnTo>
                <a:lnTo>
                  <a:pt x="11023160" y="3086901"/>
                </a:lnTo>
                <a:lnTo>
                  <a:pt x="11009115" y="3055299"/>
                </a:lnTo>
                <a:lnTo>
                  <a:pt x="10997410" y="3021355"/>
                </a:lnTo>
                <a:lnTo>
                  <a:pt x="10986876" y="2986242"/>
                </a:lnTo>
                <a:lnTo>
                  <a:pt x="10977513" y="2951128"/>
                </a:lnTo>
                <a:lnTo>
                  <a:pt x="10968149" y="2914844"/>
                </a:lnTo>
                <a:lnTo>
                  <a:pt x="10957615" y="2880900"/>
                </a:lnTo>
                <a:lnTo>
                  <a:pt x="10945910" y="2846957"/>
                </a:lnTo>
                <a:lnTo>
                  <a:pt x="10931865" y="2815355"/>
                </a:lnTo>
                <a:lnTo>
                  <a:pt x="10914308" y="2787264"/>
                </a:lnTo>
                <a:lnTo>
                  <a:pt x="10893240" y="2761514"/>
                </a:lnTo>
                <a:lnTo>
                  <a:pt x="10867490" y="2740445"/>
                </a:lnTo>
                <a:lnTo>
                  <a:pt x="10839399" y="2722888"/>
                </a:lnTo>
                <a:lnTo>
                  <a:pt x="10807796" y="2708843"/>
                </a:lnTo>
                <a:lnTo>
                  <a:pt x="10773853" y="2697138"/>
                </a:lnTo>
                <a:lnTo>
                  <a:pt x="10739910" y="2686604"/>
                </a:lnTo>
                <a:lnTo>
                  <a:pt x="10703626" y="2677241"/>
                </a:lnTo>
                <a:lnTo>
                  <a:pt x="10668512" y="2667877"/>
                </a:lnTo>
                <a:lnTo>
                  <a:pt x="10633398" y="2657343"/>
                </a:lnTo>
                <a:lnTo>
                  <a:pt x="10599455" y="2645638"/>
                </a:lnTo>
                <a:lnTo>
                  <a:pt x="10567852" y="2631593"/>
                </a:lnTo>
                <a:lnTo>
                  <a:pt x="10538591" y="2615206"/>
                </a:lnTo>
                <a:lnTo>
                  <a:pt x="10512841" y="2594138"/>
                </a:lnTo>
                <a:lnTo>
                  <a:pt x="10485920" y="2570729"/>
                </a:lnTo>
                <a:lnTo>
                  <a:pt x="10462511" y="2543808"/>
                </a:lnTo>
                <a:lnTo>
                  <a:pt x="10440272" y="2515717"/>
                </a:lnTo>
                <a:lnTo>
                  <a:pt x="10418034" y="2486456"/>
                </a:lnTo>
                <a:lnTo>
                  <a:pt x="10395795" y="2457194"/>
                </a:lnTo>
                <a:lnTo>
                  <a:pt x="10373556" y="2429103"/>
                </a:lnTo>
                <a:lnTo>
                  <a:pt x="10348977" y="2402183"/>
                </a:lnTo>
                <a:lnTo>
                  <a:pt x="10324397" y="2378774"/>
                </a:lnTo>
                <a:lnTo>
                  <a:pt x="10296306" y="2358876"/>
                </a:lnTo>
                <a:lnTo>
                  <a:pt x="10267044" y="2343660"/>
                </a:lnTo>
                <a:lnTo>
                  <a:pt x="10231931" y="2333126"/>
                </a:lnTo>
                <a:lnTo>
                  <a:pt x="10195647" y="2328444"/>
                </a:lnTo>
                <a:lnTo>
                  <a:pt x="10158192" y="2327274"/>
                </a:lnTo>
                <a:lnTo>
                  <a:pt x="10118396" y="2330785"/>
                </a:lnTo>
                <a:lnTo>
                  <a:pt x="10078601" y="2335467"/>
                </a:lnTo>
                <a:lnTo>
                  <a:pt x="10038805" y="2341319"/>
                </a:lnTo>
                <a:lnTo>
                  <a:pt x="9999010" y="2346001"/>
                </a:lnTo>
                <a:lnTo>
                  <a:pt x="9959214" y="2348342"/>
                </a:lnTo>
                <a:lnTo>
                  <a:pt x="9920589" y="2348342"/>
                </a:lnTo>
                <a:lnTo>
                  <a:pt x="9884305" y="2343660"/>
                </a:lnTo>
                <a:lnTo>
                  <a:pt x="9846850" y="2334296"/>
                </a:lnTo>
                <a:lnTo>
                  <a:pt x="9812907" y="2320251"/>
                </a:lnTo>
                <a:lnTo>
                  <a:pt x="9777793" y="2301524"/>
                </a:lnTo>
                <a:lnTo>
                  <a:pt x="9742679" y="2282796"/>
                </a:lnTo>
                <a:lnTo>
                  <a:pt x="9707566" y="2261728"/>
                </a:lnTo>
                <a:lnTo>
                  <a:pt x="9673622" y="2241830"/>
                </a:lnTo>
                <a:lnTo>
                  <a:pt x="9637338" y="2224273"/>
                </a:lnTo>
                <a:lnTo>
                  <a:pt x="9602224" y="2210228"/>
                </a:lnTo>
                <a:lnTo>
                  <a:pt x="9565940" y="2200864"/>
                </a:lnTo>
                <a:lnTo>
                  <a:pt x="9528486" y="2197353"/>
                </a:lnTo>
                <a:close/>
              </a:path>
            </a:pathLst>
          </a:custGeom>
          <a:solidFill>
            <a:schemeClr val="bg2"/>
          </a:solidFill>
          <a:ln w="101600">
            <a:noFill/>
            <a:prstDash val="solid"/>
            <a:round/>
            <a:headEnd/>
            <a:tailEnd/>
          </a:ln>
        </p:spPr>
      </p:sp>
      <p:sp>
        <p:nvSpPr>
          <p:cNvPr id="73" name="Freeform 6" title="Left scallop edge">
            <a:extLst>
              <a:ext uri="{FF2B5EF4-FFF2-40B4-BE49-F238E27FC236}">
                <a16:creationId xmlns:a16="http://schemas.microsoft.com/office/drawing/2014/main" id="{59146B5A-0BC2-431D-8B26-141ADDE360BD}"/>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0"/>
            <a:ext cx="885825" cy="6858000"/>
          </a:xfrm>
          <a:custGeom>
            <a:avLst/>
            <a:gdLst/>
            <a:ahLst/>
            <a:cxnLst/>
            <a:rect l="0" t="0" r="r" b="b"/>
            <a:pathLst>
              <a:path w="558" h="4320">
                <a:moveTo>
                  <a:pt x="0" y="0"/>
                </a:moveTo>
                <a:lnTo>
                  <a:pt x="447" y="0"/>
                </a:lnTo>
                <a:lnTo>
                  <a:pt x="448" y="43"/>
                </a:lnTo>
                <a:lnTo>
                  <a:pt x="453" y="81"/>
                </a:lnTo>
                <a:lnTo>
                  <a:pt x="460" y="114"/>
                </a:lnTo>
                <a:lnTo>
                  <a:pt x="469" y="143"/>
                </a:lnTo>
                <a:lnTo>
                  <a:pt x="479" y="169"/>
                </a:lnTo>
                <a:lnTo>
                  <a:pt x="491" y="192"/>
                </a:lnTo>
                <a:lnTo>
                  <a:pt x="503" y="216"/>
                </a:lnTo>
                <a:lnTo>
                  <a:pt x="515" y="240"/>
                </a:lnTo>
                <a:lnTo>
                  <a:pt x="525" y="263"/>
                </a:lnTo>
                <a:lnTo>
                  <a:pt x="535" y="289"/>
                </a:lnTo>
                <a:lnTo>
                  <a:pt x="545" y="318"/>
                </a:lnTo>
                <a:lnTo>
                  <a:pt x="552" y="351"/>
                </a:lnTo>
                <a:lnTo>
                  <a:pt x="556" y="389"/>
                </a:lnTo>
                <a:lnTo>
                  <a:pt x="558" y="432"/>
                </a:lnTo>
                <a:lnTo>
                  <a:pt x="556" y="475"/>
                </a:lnTo>
                <a:lnTo>
                  <a:pt x="552" y="513"/>
                </a:lnTo>
                <a:lnTo>
                  <a:pt x="545" y="546"/>
                </a:lnTo>
                <a:lnTo>
                  <a:pt x="535" y="575"/>
                </a:lnTo>
                <a:lnTo>
                  <a:pt x="525" y="601"/>
                </a:lnTo>
                <a:lnTo>
                  <a:pt x="515" y="624"/>
                </a:lnTo>
                <a:lnTo>
                  <a:pt x="503" y="648"/>
                </a:lnTo>
                <a:lnTo>
                  <a:pt x="491" y="672"/>
                </a:lnTo>
                <a:lnTo>
                  <a:pt x="479" y="695"/>
                </a:lnTo>
                <a:lnTo>
                  <a:pt x="469" y="721"/>
                </a:lnTo>
                <a:lnTo>
                  <a:pt x="460" y="750"/>
                </a:lnTo>
                <a:lnTo>
                  <a:pt x="453" y="783"/>
                </a:lnTo>
                <a:lnTo>
                  <a:pt x="448" y="821"/>
                </a:lnTo>
                <a:lnTo>
                  <a:pt x="447" y="864"/>
                </a:lnTo>
                <a:lnTo>
                  <a:pt x="448" y="907"/>
                </a:lnTo>
                <a:lnTo>
                  <a:pt x="453" y="945"/>
                </a:lnTo>
                <a:lnTo>
                  <a:pt x="460" y="978"/>
                </a:lnTo>
                <a:lnTo>
                  <a:pt x="469" y="1007"/>
                </a:lnTo>
                <a:lnTo>
                  <a:pt x="479" y="1033"/>
                </a:lnTo>
                <a:lnTo>
                  <a:pt x="491" y="1056"/>
                </a:lnTo>
                <a:lnTo>
                  <a:pt x="503" y="1080"/>
                </a:lnTo>
                <a:lnTo>
                  <a:pt x="515" y="1104"/>
                </a:lnTo>
                <a:lnTo>
                  <a:pt x="525" y="1127"/>
                </a:lnTo>
                <a:lnTo>
                  <a:pt x="535" y="1153"/>
                </a:lnTo>
                <a:lnTo>
                  <a:pt x="545" y="1182"/>
                </a:lnTo>
                <a:lnTo>
                  <a:pt x="552" y="1215"/>
                </a:lnTo>
                <a:lnTo>
                  <a:pt x="556" y="1253"/>
                </a:lnTo>
                <a:lnTo>
                  <a:pt x="558" y="1296"/>
                </a:lnTo>
                <a:lnTo>
                  <a:pt x="556" y="1339"/>
                </a:lnTo>
                <a:lnTo>
                  <a:pt x="552" y="1377"/>
                </a:lnTo>
                <a:lnTo>
                  <a:pt x="545" y="1410"/>
                </a:lnTo>
                <a:lnTo>
                  <a:pt x="535" y="1439"/>
                </a:lnTo>
                <a:lnTo>
                  <a:pt x="525" y="1465"/>
                </a:lnTo>
                <a:lnTo>
                  <a:pt x="515" y="1488"/>
                </a:lnTo>
                <a:lnTo>
                  <a:pt x="503" y="1512"/>
                </a:lnTo>
                <a:lnTo>
                  <a:pt x="491" y="1536"/>
                </a:lnTo>
                <a:lnTo>
                  <a:pt x="479" y="1559"/>
                </a:lnTo>
                <a:lnTo>
                  <a:pt x="469" y="1585"/>
                </a:lnTo>
                <a:lnTo>
                  <a:pt x="460" y="1614"/>
                </a:lnTo>
                <a:lnTo>
                  <a:pt x="453" y="1647"/>
                </a:lnTo>
                <a:lnTo>
                  <a:pt x="448" y="1685"/>
                </a:lnTo>
                <a:lnTo>
                  <a:pt x="447" y="1728"/>
                </a:lnTo>
                <a:lnTo>
                  <a:pt x="448" y="1771"/>
                </a:lnTo>
                <a:lnTo>
                  <a:pt x="453" y="1809"/>
                </a:lnTo>
                <a:lnTo>
                  <a:pt x="460" y="1842"/>
                </a:lnTo>
                <a:lnTo>
                  <a:pt x="469" y="1871"/>
                </a:lnTo>
                <a:lnTo>
                  <a:pt x="479" y="1897"/>
                </a:lnTo>
                <a:lnTo>
                  <a:pt x="491" y="1920"/>
                </a:lnTo>
                <a:lnTo>
                  <a:pt x="503" y="1944"/>
                </a:lnTo>
                <a:lnTo>
                  <a:pt x="515" y="1968"/>
                </a:lnTo>
                <a:lnTo>
                  <a:pt x="525" y="1991"/>
                </a:lnTo>
                <a:lnTo>
                  <a:pt x="535" y="2017"/>
                </a:lnTo>
                <a:lnTo>
                  <a:pt x="545" y="2046"/>
                </a:lnTo>
                <a:lnTo>
                  <a:pt x="552" y="2079"/>
                </a:lnTo>
                <a:lnTo>
                  <a:pt x="556" y="2117"/>
                </a:lnTo>
                <a:lnTo>
                  <a:pt x="558" y="2159"/>
                </a:lnTo>
                <a:lnTo>
                  <a:pt x="556" y="2203"/>
                </a:lnTo>
                <a:lnTo>
                  <a:pt x="552" y="2241"/>
                </a:lnTo>
                <a:lnTo>
                  <a:pt x="545" y="2274"/>
                </a:lnTo>
                <a:lnTo>
                  <a:pt x="535" y="2303"/>
                </a:lnTo>
                <a:lnTo>
                  <a:pt x="525" y="2329"/>
                </a:lnTo>
                <a:lnTo>
                  <a:pt x="515" y="2352"/>
                </a:lnTo>
                <a:lnTo>
                  <a:pt x="503" y="2376"/>
                </a:lnTo>
                <a:lnTo>
                  <a:pt x="491" y="2400"/>
                </a:lnTo>
                <a:lnTo>
                  <a:pt x="479" y="2423"/>
                </a:lnTo>
                <a:lnTo>
                  <a:pt x="469" y="2449"/>
                </a:lnTo>
                <a:lnTo>
                  <a:pt x="460" y="2478"/>
                </a:lnTo>
                <a:lnTo>
                  <a:pt x="453" y="2511"/>
                </a:lnTo>
                <a:lnTo>
                  <a:pt x="448" y="2549"/>
                </a:lnTo>
                <a:lnTo>
                  <a:pt x="447" y="2592"/>
                </a:lnTo>
                <a:lnTo>
                  <a:pt x="448" y="2635"/>
                </a:lnTo>
                <a:lnTo>
                  <a:pt x="453" y="2673"/>
                </a:lnTo>
                <a:lnTo>
                  <a:pt x="460" y="2706"/>
                </a:lnTo>
                <a:lnTo>
                  <a:pt x="469" y="2735"/>
                </a:lnTo>
                <a:lnTo>
                  <a:pt x="479" y="2761"/>
                </a:lnTo>
                <a:lnTo>
                  <a:pt x="491" y="2784"/>
                </a:lnTo>
                <a:lnTo>
                  <a:pt x="515" y="2832"/>
                </a:lnTo>
                <a:lnTo>
                  <a:pt x="525" y="2855"/>
                </a:lnTo>
                <a:lnTo>
                  <a:pt x="535" y="2881"/>
                </a:lnTo>
                <a:lnTo>
                  <a:pt x="545" y="2910"/>
                </a:lnTo>
                <a:lnTo>
                  <a:pt x="552" y="2943"/>
                </a:lnTo>
                <a:lnTo>
                  <a:pt x="556" y="2981"/>
                </a:lnTo>
                <a:lnTo>
                  <a:pt x="558" y="3024"/>
                </a:lnTo>
                <a:lnTo>
                  <a:pt x="556" y="3067"/>
                </a:lnTo>
                <a:lnTo>
                  <a:pt x="552" y="3105"/>
                </a:lnTo>
                <a:lnTo>
                  <a:pt x="545" y="3138"/>
                </a:lnTo>
                <a:lnTo>
                  <a:pt x="535" y="3167"/>
                </a:lnTo>
                <a:lnTo>
                  <a:pt x="525" y="3193"/>
                </a:lnTo>
                <a:lnTo>
                  <a:pt x="515" y="3216"/>
                </a:lnTo>
                <a:lnTo>
                  <a:pt x="503" y="3240"/>
                </a:lnTo>
                <a:lnTo>
                  <a:pt x="491" y="3264"/>
                </a:lnTo>
                <a:lnTo>
                  <a:pt x="479" y="3287"/>
                </a:lnTo>
                <a:lnTo>
                  <a:pt x="469" y="3313"/>
                </a:lnTo>
                <a:lnTo>
                  <a:pt x="460" y="3342"/>
                </a:lnTo>
                <a:lnTo>
                  <a:pt x="453" y="3375"/>
                </a:lnTo>
                <a:lnTo>
                  <a:pt x="448" y="3413"/>
                </a:lnTo>
                <a:lnTo>
                  <a:pt x="447" y="3456"/>
                </a:lnTo>
                <a:lnTo>
                  <a:pt x="448" y="3499"/>
                </a:lnTo>
                <a:lnTo>
                  <a:pt x="453" y="3537"/>
                </a:lnTo>
                <a:lnTo>
                  <a:pt x="460" y="3570"/>
                </a:lnTo>
                <a:lnTo>
                  <a:pt x="469" y="3599"/>
                </a:lnTo>
                <a:lnTo>
                  <a:pt x="479" y="3625"/>
                </a:lnTo>
                <a:lnTo>
                  <a:pt x="491" y="3648"/>
                </a:lnTo>
                <a:lnTo>
                  <a:pt x="503" y="3672"/>
                </a:lnTo>
                <a:lnTo>
                  <a:pt x="515" y="3696"/>
                </a:lnTo>
                <a:lnTo>
                  <a:pt x="525" y="3719"/>
                </a:lnTo>
                <a:lnTo>
                  <a:pt x="535" y="3745"/>
                </a:lnTo>
                <a:lnTo>
                  <a:pt x="545" y="3774"/>
                </a:lnTo>
                <a:lnTo>
                  <a:pt x="552" y="3807"/>
                </a:lnTo>
                <a:lnTo>
                  <a:pt x="556" y="3845"/>
                </a:lnTo>
                <a:lnTo>
                  <a:pt x="558" y="3888"/>
                </a:lnTo>
                <a:lnTo>
                  <a:pt x="556" y="3931"/>
                </a:lnTo>
                <a:lnTo>
                  <a:pt x="552" y="3969"/>
                </a:lnTo>
                <a:lnTo>
                  <a:pt x="545" y="4002"/>
                </a:lnTo>
                <a:lnTo>
                  <a:pt x="535" y="4031"/>
                </a:lnTo>
                <a:lnTo>
                  <a:pt x="525" y="4057"/>
                </a:lnTo>
                <a:lnTo>
                  <a:pt x="515" y="4080"/>
                </a:lnTo>
                <a:lnTo>
                  <a:pt x="503" y="4104"/>
                </a:lnTo>
                <a:lnTo>
                  <a:pt x="491" y="4128"/>
                </a:lnTo>
                <a:lnTo>
                  <a:pt x="479" y="4151"/>
                </a:lnTo>
                <a:lnTo>
                  <a:pt x="469" y="4177"/>
                </a:lnTo>
                <a:lnTo>
                  <a:pt x="460" y="4206"/>
                </a:lnTo>
                <a:lnTo>
                  <a:pt x="453" y="4239"/>
                </a:lnTo>
                <a:lnTo>
                  <a:pt x="448" y="4277"/>
                </a:lnTo>
                <a:lnTo>
                  <a:pt x="447" y="4320"/>
                </a:lnTo>
                <a:lnTo>
                  <a:pt x="0" y="4320"/>
                </a:lnTo>
                <a:lnTo>
                  <a:pt x="0" y="0"/>
                </a:lnTo>
                <a:close/>
              </a:path>
            </a:pathLst>
          </a:custGeom>
          <a:solidFill>
            <a:schemeClr val="tx2"/>
          </a:solidFill>
          <a:ln w="0">
            <a:noFill/>
            <a:prstDash val="solid"/>
            <a:round/>
            <a:headEnd/>
            <a:tailEnd/>
          </a:ln>
        </p:spPr>
      </p:sp>
      <p:sp>
        <p:nvSpPr>
          <p:cNvPr id="75" name="Rectangle 74" title="right edge border">
            <a:extLst>
              <a:ext uri="{FF2B5EF4-FFF2-40B4-BE49-F238E27FC236}">
                <a16:creationId xmlns:a16="http://schemas.microsoft.com/office/drawing/2014/main" id="{28A7DA0B-D1CC-428A-941E-C31E8E7BD4AF}"/>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908536" y="0"/>
            <a:ext cx="283464"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a:extLst>
              <a:ext uri="{FF2B5EF4-FFF2-40B4-BE49-F238E27FC236}">
                <a16:creationId xmlns:a16="http://schemas.microsoft.com/office/drawing/2014/main" id="{C8208BC1-2675-45B0-9B32-E32C3B911BE5}"/>
              </a:ext>
            </a:extLst>
          </p:cNvPr>
          <p:cNvSpPr>
            <a:spLocks noGrp="1"/>
          </p:cNvSpPr>
          <p:nvPr>
            <p:ph type="title"/>
          </p:nvPr>
        </p:nvSpPr>
        <p:spPr>
          <a:xfrm>
            <a:off x="1251678" y="382385"/>
            <a:ext cx="10178322" cy="1492132"/>
          </a:xfrm>
        </p:spPr>
        <p:txBody>
          <a:bodyPr>
            <a:normAutofit/>
          </a:bodyPr>
          <a:lstStyle/>
          <a:p>
            <a:r>
              <a:rPr lang="en-US" b="1" dirty="0"/>
              <a:t>AABB - Circle collision detection</a:t>
            </a:r>
            <a:endParaRPr lang="en-US" dirty="0"/>
          </a:p>
        </p:txBody>
      </p:sp>
      <p:sp>
        <p:nvSpPr>
          <p:cNvPr id="5" name="Content Placeholder 4">
            <a:extLst>
              <a:ext uri="{FF2B5EF4-FFF2-40B4-BE49-F238E27FC236}">
                <a16:creationId xmlns:a16="http://schemas.microsoft.com/office/drawing/2014/main" id="{61FD18CB-4C31-44AE-8248-863E71B7064F}"/>
              </a:ext>
            </a:extLst>
          </p:cNvPr>
          <p:cNvSpPr>
            <a:spLocks noGrp="1"/>
          </p:cNvSpPr>
          <p:nvPr>
            <p:ph idx="1"/>
          </p:nvPr>
        </p:nvSpPr>
        <p:spPr>
          <a:xfrm>
            <a:off x="1251678" y="2286001"/>
            <a:ext cx="6015897" cy="3593591"/>
          </a:xfrm>
        </p:spPr>
        <p:txBody>
          <a:bodyPr>
            <a:normAutofit/>
          </a:bodyPr>
          <a:lstStyle/>
          <a:p>
            <a:r>
              <a:rPr lang="en-US" dirty="0" err="1"/>
              <a:t>Beacuse</a:t>
            </a:r>
            <a:r>
              <a:rPr lang="en-US" dirty="0"/>
              <a:t> the ball is a circle-like object an </a:t>
            </a:r>
            <a:r>
              <a:rPr lang="en-US" b="1" dirty="0">
                <a:solidFill>
                  <a:srgbClr val="53AE6E"/>
                </a:solidFill>
              </a:rPr>
              <a:t>AABB</a:t>
            </a:r>
            <a:r>
              <a:rPr lang="en-US" dirty="0"/>
              <a:t> is probably not the best choice as the ball's collision shape. The collision code thinks the ball is a rectangular box so the ball often collides with a brick even though the ball sprite itself isn't yet touching the brick</a:t>
            </a:r>
          </a:p>
        </p:txBody>
      </p:sp>
    </p:spTree>
    <p:extLst>
      <p:ext uri="{BB962C8B-B14F-4D97-AF65-F5344CB8AC3E}">
        <p14:creationId xmlns:p14="http://schemas.microsoft.com/office/powerpoint/2010/main" val="62031423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4098" name="Picture 2" descr="Ball circular collision shape">
            <a:extLst>
              <a:ext uri="{FF2B5EF4-FFF2-40B4-BE49-F238E27FC236}">
                <a16:creationId xmlns:a16="http://schemas.microsoft.com/office/drawing/2014/main" id="{428C1AC2-2F9A-4275-A150-7C4C87D5C5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8193" y="814341"/>
            <a:ext cx="5176744" cy="5255577"/>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C8208BC1-2675-45B0-9B32-E32C3B911BE5}"/>
              </a:ext>
            </a:extLst>
          </p:cNvPr>
          <p:cNvSpPr>
            <a:spLocks noGrp="1"/>
          </p:cNvSpPr>
          <p:nvPr>
            <p:ph type="title"/>
          </p:nvPr>
        </p:nvSpPr>
        <p:spPr>
          <a:xfrm>
            <a:off x="1251677" y="645105"/>
            <a:ext cx="4357499" cy="1320855"/>
          </a:xfrm>
        </p:spPr>
        <p:txBody>
          <a:bodyPr>
            <a:normAutofit/>
          </a:bodyPr>
          <a:lstStyle/>
          <a:p>
            <a:r>
              <a:rPr lang="en-US" sz="2800" b="1"/>
              <a:t>AABB - Circle collision detection</a:t>
            </a:r>
            <a:endParaRPr lang="en-US" sz="2800"/>
          </a:p>
        </p:txBody>
      </p:sp>
      <p:sp>
        <p:nvSpPr>
          <p:cNvPr id="3" name="Content Placeholder 2">
            <a:extLst>
              <a:ext uri="{FF2B5EF4-FFF2-40B4-BE49-F238E27FC236}">
                <a16:creationId xmlns:a16="http://schemas.microsoft.com/office/drawing/2014/main" id="{E32A72D0-F82F-4B6B-A726-C43198DCA20D}"/>
              </a:ext>
            </a:extLst>
          </p:cNvPr>
          <p:cNvSpPr>
            <a:spLocks noGrp="1"/>
          </p:cNvSpPr>
          <p:nvPr>
            <p:ph idx="1"/>
          </p:nvPr>
        </p:nvSpPr>
        <p:spPr>
          <a:xfrm>
            <a:off x="1251678" y="2286001"/>
            <a:ext cx="4363595" cy="3593591"/>
          </a:xfrm>
        </p:spPr>
        <p:txBody>
          <a:bodyPr>
            <a:normAutofit/>
          </a:bodyPr>
          <a:lstStyle/>
          <a:p>
            <a:pPr>
              <a:lnSpc>
                <a:spcPct val="100000"/>
              </a:lnSpc>
            </a:pPr>
            <a:r>
              <a:rPr lang="en-US" dirty="0"/>
              <a:t>It makes much more sense to represent the ball with a circle collision shape instead of an </a:t>
            </a:r>
            <a:r>
              <a:rPr lang="en-US" b="1" dirty="0">
                <a:solidFill>
                  <a:srgbClr val="53AE6E"/>
                </a:solidFill>
              </a:rPr>
              <a:t>AABB</a:t>
            </a:r>
            <a:r>
              <a:rPr lang="en-US" dirty="0"/>
              <a:t>. For this reason we included a Radius variable within the ball object. To define a circle collision shape all we need is a position vector and a radius.</a:t>
            </a:r>
            <a:endParaRPr lang="en-US" sz="1700" dirty="0">
              <a:solidFill>
                <a:srgbClr val="000000"/>
              </a:solidFill>
            </a:endParaRPr>
          </a:p>
        </p:txBody>
      </p:sp>
    </p:spTree>
    <p:extLst>
      <p:ext uri="{BB962C8B-B14F-4D97-AF65-F5344CB8AC3E}">
        <p14:creationId xmlns:p14="http://schemas.microsoft.com/office/powerpoint/2010/main" val="351929717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08BC1-2675-45B0-9B32-E32C3B911BE5}"/>
              </a:ext>
            </a:extLst>
          </p:cNvPr>
          <p:cNvSpPr>
            <a:spLocks noGrp="1"/>
          </p:cNvSpPr>
          <p:nvPr>
            <p:ph type="title"/>
          </p:nvPr>
        </p:nvSpPr>
        <p:spPr>
          <a:xfrm>
            <a:off x="1251678" y="382385"/>
            <a:ext cx="10178322" cy="1492132"/>
          </a:xfrm>
        </p:spPr>
        <p:txBody>
          <a:bodyPr anchor="ctr"/>
          <a:lstStyle/>
          <a:p>
            <a:r>
              <a:rPr lang="en-US" b="1" dirty="0"/>
              <a:t>AABB - Circle collision detection</a:t>
            </a:r>
            <a:endParaRPr lang="en-US" dirty="0"/>
          </a:p>
        </p:txBody>
      </p:sp>
      <p:sp>
        <p:nvSpPr>
          <p:cNvPr id="3" name="Content Placeholder 2">
            <a:extLst>
              <a:ext uri="{FF2B5EF4-FFF2-40B4-BE49-F238E27FC236}">
                <a16:creationId xmlns:a16="http://schemas.microsoft.com/office/drawing/2014/main" id="{E32A72D0-F82F-4B6B-A726-C43198DCA20D}"/>
              </a:ext>
            </a:extLst>
          </p:cNvPr>
          <p:cNvSpPr>
            <a:spLocks noGrp="1"/>
          </p:cNvSpPr>
          <p:nvPr>
            <p:ph idx="1"/>
          </p:nvPr>
        </p:nvSpPr>
        <p:spPr>
          <a:xfrm>
            <a:off x="1251678" y="2054087"/>
            <a:ext cx="10178322" cy="4625009"/>
          </a:xfrm>
        </p:spPr>
        <p:txBody>
          <a:bodyPr>
            <a:normAutofit/>
          </a:bodyPr>
          <a:lstStyle/>
          <a:p>
            <a:pPr algn="just"/>
            <a:r>
              <a:rPr lang="en-US" dirty="0"/>
              <a:t>This does mean we have to update the detection algorithm since it currently only works between two </a:t>
            </a:r>
            <a:r>
              <a:rPr lang="en-US" b="1" dirty="0">
                <a:solidFill>
                  <a:srgbClr val="53AE6E"/>
                </a:solidFill>
              </a:rPr>
              <a:t>AABBs</a:t>
            </a:r>
            <a:r>
              <a:rPr lang="en-US" dirty="0"/>
              <a:t>. Detecting collisions between a circle and a rectangle is slightly more complicated, but the trick is as follows: we find the point on the </a:t>
            </a:r>
            <a:r>
              <a:rPr lang="en-US" b="1" dirty="0">
                <a:solidFill>
                  <a:srgbClr val="53AE6E"/>
                </a:solidFill>
              </a:rPr>
              <a:t>AABB</a:t>
            </a:r>
            <a:r>
              <a:rPr lang="en-US" dirty="0"/>
              <a:t> that is closest to the circle and if the distance from the circle to this point is less than its radius, we have a collision.</a:t>
            </a:r>
          </a:p>
          <a:p>
            <a:pPr algn="just"/>
            <a:r>
              <a:rPr lang="en-US" dirty="0"/>
              <a:t>The difficult part is getting this closest point P¯ on the </a:t>
            </a:r>
            <a:r>
              <a:rPr lang="en-US" b="1" dirty="0">
                <a:solidFill>
                  <a:srgbClr val="53AE6E"/>
                </a:solidFill>
              </a:rPr>
              <a:t>AABB</a:t>
            </a:r>
            <a:r>
              <a:rPr lang="en-US" dirty="0"/>
              <a:t>. The following image shows how we can calculate this point for any arbitrary </a:t>
            </a:r>
            <a:r>
              <a:rPr lang="en-US" b="1" dirty="0">
                <a:solidFill>
                  <a:srgbClr val="53AE6E"/>
                </a:solidFill>
              </a:rPr>
              <a:t>AABB</a:t>
            </a:r>
            <a:r>
              <a:rPr lang="en-US" dirty="0"/>
              <a:t> and circle:</a:t>
            </a:r>
          </a:p>
        </p:txBody>
      </p:sp>
      <p:pic>
        <p:nvPicPr>
          <p:cNvPr id="5122" name="Picture 2" descr="AABB - Circle collision detection">
            <a:extLst>
              <a:ext uri="{FF2B5EF4-FFF2-40B4-BE49-F238E27FC236}">
                <a16:creationId xmlns:a16="http://schemas.microsoft.com/office/drawing/2014/main" id="{0C59B408-AF7D-4954-A658-375F8AD97C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79631" y="4232178"/>
            <a:ext cx="6860691" cy="24469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183195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08BC1-2675-45B0-9B32-E32C3B911BE5}"/>
              </a:ext>
            </a:extLst>
          </p:cNvPr>
          <p:cNvSpPr>
            <a:spLocks noGrp="1"/>
          </p:cNvSpPr>
          <p:nvPr>
            <p:ph type="title"/>
          </p:nvPr>
        </p:nvSpPr>
        <p:spPr/>
        <p:txBody>
          <a:bodyPr anchor="ctr"/>
          <a:lstStyle/>
          <a:p>
            <a:r>
              <a:rPr lang="en-US" b="1" dirty="0"/>
              <a:t>how do we determine collisions?</a:t>
            </a:r>
            <a:endParaRPr lang="en-US" dirty="0"/>
          </a:p>
        </p:txBody>
      </p:sp>
      <p:pic>
        <p:nvPicPr>
          <p:cNvPr id="6" name="collisions_circle">
            <a:hlinkClick r:id="" action="ppaction://media"/>
            <a:extLst>
              <a:ext uri="{FF2B5EF4-FFF2-40B4-BE49-F238E27FC236}">
                <a16:creationId xmlns:a16="http://schemas.microsoft.com/office/drawing/2014/main" id="{6C3FD112-F94D-4B6C-85CE-B57D0E01B746}"/>
              </a:ext>
            </a:extLst>
          </p:cNvPr>
          <p:cNvPicPr>
            <a:picLocks noGrp="1" noChangeAspect="1"/>
          </p:cNvPicPr>
          <p:nvPr>
            <p:ph idx="1"/>
            <a:videoFile r:link="rId2"/>
            <p:extLst>
              <p:ext uri="{DAA4B4D4-6D71-4841-9C94-3DE7FCFB9230}">
                <p14:media xmlns:p14="http://schemas.microsoft.com/office/powerpoint/2010/main" r:embed="rId1"/>
              </p:ext>
            </p:extLst>
          </p:nvPr>
        </p:nvPicPr>
        <p:blipFill>
          <a:blip r:embed="rId5"/>
          <a:stretch>
            <a:fillRect/>
          </a:stretch>
        </p:blipFill>
        <p:spPr>
          <a:xfrm>
            <a:off x="1730326" y="2039815"/>
            <a:ext cx="8764172" cy="4435799"/>
          </a:xfrm>
        </p:spPr>
      </p:pic>
    </p:spTree>
    <p:extLst>
      <p:ext uri="{BB962C8B-B14F-4D97-AF65-F5344CB8AC3E}">
        <p14:creationId xmlns:p14="http://schemas.microsoft.com/office/powerpoint/2010/main" val="12140626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180"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73A296-BEC6-4BA3-92A8-0D5A4C6D7030}"/>
              </a:ext>
            </a:extLst>
          </p:cNvPr>
          <p:cNvSpPr>
            <a:spLocks noGrp="1"/>
          </p:cNvSpPr>
          <p:nvPr>
            <p:ph type="ctrTitle"/>
          </p:nvPr>
        </p:nvSpPr>
        <p:spPr/>
        <p:txBody>
          <a:bodyPr/>
          <a:lstStyle/>
          <a:p>
            <a:r>
              <a:rPr lang="en-US" sz="5400" b="1" dirty="0"/>
              <a:t>Example</a:t>
            </a:r>
          </a:p>
        </p:txBody>
      </p:sp>
      <p:sp>
        <p:nvSpPr>
          <p:cNvPr id="3" name="Subtitle 2">
            <a:extLst>
              <a:ext uri="{FF2B5EF4-FFF2-40B4-BE49-F238E27FC236}">
                <a16:creationId xmlns:a16="http://schemas.microsoft.com/office/drawing/2014/main" id="{3F479C34-26E7-464D-9E8D-937123099093}"/>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8595368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208BC1-2675-45B0-9B32-E32C3B911BE5}"/>
              </a:ext>
            </a:extLst>
          </p:cNvPr>
          <p:cNvSpPr>
            <a:spLocks noGrp="1"/>
          </p:cNvSpPr>
          <p:nvPr>
            <p:ph type="title"/>
          </p:nvPr>
        </p:nvSpPr>
        <p:spPr>
          <a:xfrm>
            <a:off x="1251678" y="382385"/>
            <a:ext cx="10178322" cy="1492132"/>
          </a:xfrm>
        </p:spPr>
        <p:txBody>
          <a:bodyPr anchor="ctr"/>
          <a:lstStyle/>
          <a:p>
            <a:r>
              <a:rPr lang="en-US" b="1" dirty="0"/>
              <a:t>Links</a:t>
            </a:r>
            <a:endParaRPr lang="en-US" dirty="0"/>
          </a:p>
        </p:txBody>
      </p:sp>
      <p:sp>
        <p:nvSpPr>
          <p:cNvPr id="3" name="Content Placeholder 2">
            <a:extLst>
              <a:ext uri="{FF2B5EF4-FFF2-40B4-BE49-F238E27FC236}">
                <a16:creationId xmlns:a16="http://schemas.microsoft.com/office/drawing/2014/main" id="{E32A72D0-F82F-4B6B-A726-C43198DCA20D}"/>
              </a:ext>
            </a:extLst>
          </p:cNvPr>
          <p:cNvSpPr>
            <a:spLocks noGrp="1"/>
          </p:cNvSpPr>
          <p:nvPr>
            <p:ph idx="1"/>
          </p:nvPr>
        </p:nvSpPr>
        <p:spPr>
          <a:xfrm>
            <a:off x="1251678" y="2054087"/>
            <a:ext cx="10178322" cy="4625009"/>
          </a:xfrm>
        </p:spPr>
        <p:txBody>
          <a:bodyPr>
            <a:normAutofit fontScale="92500" lnSpcReduction="20000"/>
          </a:bodyPr>
          <a:lstStyle/>
          <a:p>
            <a:pPr algn="just"/>
            <a:r>
              <a:rPr lang="en-US" sz="3200" dirty="0">
                <a:hlinkClick r:id="rId2"/>
              </a:rPr>
              <a:t>https://learnopengl.com/</a:t>
            </a:r>
            <a:endParaRPr lang="en-US" sz="3200" dirty="0"/>
          </a:p>
          <a:p>
            <a:pPr algn="just"/>
            <a:r>
              <a:rPr lang="en-US" sz="3200" dirty="0">
                <a:hlinkClick r:id="rId3"/>
              </a:rPr>
              <a:t>http://www.videotutorialsrock.com/</a:t>
            </a:r>
            <a:endParaRPr lang="en-US" sz="3200" dirty="0"/>
          </a:p>
          <a:p>
            <a:pPr algn="just"/>
            <a:r>
              <a:rPr lang="en-US" sz="3200" dirty="0">
                <a:hlinkClick r:id="rId4"/>
              </a:rPr>
              <a:t>https://www.ntu.edu.sg/home/ehchua/programming/opengl/CG_Introduction.html</a:t>
            </a:r>
            <a:endParaRPr lang="en-US" sz="3200" dirty="0"/>
          </a:p>
          <a:p>
            <a:pPr algn="just"/>
            <a:r>
              <a:rPr lang="en-US" sz="3200" dirty="0">
                <a:hlinkClick r:id="rId5"/>
              </a:rPr>
              <a:t>https://www.coders-hub.com/2013/06/opengl-code-for-collision-detection.html#.WttVyIhubIV</a:t>
            </a:r>
            <a:endParaRPr lang="en-US" sz="3200" dirty="0"/>
          </a:p>
          <a:p>
            <a:pPr algn="just"/>
            <a:r>
              <a:rPr lang="en-US" sz="3200" dirty="0">
                <a:hlinkClick r:id="rId6"/>
              </a:rPr>
              <a:t>https://hackr.io/tutorials/learn-opengl</a:t>
            </a:r>
            <a:endParaRPr lang="en-US" sz="3200" dirty="0"/>
          </a:p>
          <a:p>
            <a:pPr algn="just"/>
            <a:r>
              <a:rPr lang="en-US" sz="3200" dirty="0">
                <a:hlinkClick r:id="rId7"/>
              </a:rPr>
              <a:t>https://open.gl/</a:t>
            </a:r>
            <a:endParaRPr lang="en-US" sz="3200" dirty="0"/>
          </a:p>
          <a:p>
            <a:pPr algn="just"/>
            <a:r>
              <a:rPr lang="en-US" sz="3200" dirty="0">
                <a:hlinkClick r:id="rId8"/>
              </a:rPr>
              <a:t>https://www.opengl.org/resources/libraries/glut/</a:t>
            </a:r>
            <a:endParaRPr lang="en-US" sz="3200" dirty="0"/>
          </a:p>
        </p:txBody>
      </p:sp>
    </p:spTree>
    <p:extLst>
      <p:ext uri="{BB962C8B-B14F-4D97-AF65-F5344CB8AC3E}">
        <p14:creationId xmlns:p14="http://schemas.microsoft.com/office/powerpoint/2010/main" val="150866910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D2B29-FF71-4E71-8424-180AD07CC344}"/>
              </a:ext>
            </a:extLst>
          </p:cNvPr>
          <p:cNvSpPr>
            <a:spLocks noGrp="1"/>
          </p:cNvSpPr>
          <p:nvPr>
            <p:ph type="title"/>
          </p:nvPr>
        </p:nvSpPr>
        <p:spPr/>
        <p:txBody>
          <a:bodyPr/>
          <a:lstStyle/>
          <a:p>
            <a:r>
              <a:rPr lang="en-US" dirty="0"/>
              <a:t>Thanks </a:t>
            </a:r>
            <a:r>
              <a:rPr lang="en-US" dirty="0">
                <a:sym typeface="Wingdings" panose="05000000000000000000" pitchFamily="2" charset="2"/>
              </a:rPr>
              <a:t></a:t>
            </a:r>
            <a:endParaRPr lang="en-US" dirty="0"/>
          </a:p>
        </p:txBody>
      </p:sp>
      <p:sp>
        <p:nvSpPr>
          <p:cNvPr id="3" name="Text Placeholder 2">
            <a:extLst>
              <a:ext uri="{FF2B5EF4-FFF2-40B4-BE49-F238E27FC236}">
                <a16:creationId xmlns:a16="http://schemas.microsoft.com/office/drawing/2014/main" id="{C3BFFBC8-C5DB-4A93-BAEB-24D942ABF2B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746448038"/>
      </p:ext>
    </p:extLst>
  </p:cSld>
  <p:clrMapOvr>
    <a:masterClrMapping/>
  </p:clrMapOvr>
</p:sld>
</file>

<file path=ppt/theme/theme1.xml><?xml version="1.0" encoding="utf-8"?>
<a:theme xmlns:a="http://schemas.openxmlformats.org/drawingml/2006/main" name="Badge">
  <a:themeElements>
    <a:clrScheme name="Badge">
      <a:dk1>
        <a:sysClr val="windowText" lastClr="000000"/>
      </a:dk1>
      <a:lt1>
        <a:sysClr val="window" lastClr="FFFFFF"/>
      </a:lt1>
      <a:dk2>
        <a:srgbClr val="171312"/>
      </a:dk2>
      <a:lt2>
        <a:srgbClr val="F7F0DF"/>
      </a:lt2>
      <a:accent1>
        <a:srgbClr val="53AE6E"/>
      </a:accent1>
      <a:accent2>
        <a:srgbClr val="326267"/>
      </a:accent2>
      <a:accent3>
        <a:srgbClr val="C5C34A"/>
      </a:accent3>
      <a:accent4>
        <a:srgbClr val="BF6546"/>
      </a:accent4>
      <a:accent5>
        <a:srgbClr val="81B5A8"/>
      </a:accent5>
      <a:accent6>
        <a:srgbClr val="636455"/>
      </a:accent6>
      <a:hlink>
        <a:srgbClr val="81B5A8"/>
      </a:hlink>
      <a:folHlink>
        <a:srgbClr val="936888"/>
      </a:folHlink>
    </a:clrScheme>
    <a:fontScheme name="Custom 1">
      <a:majorFont>
        <a:latin typeface="Arial"/>
        <a:ea typeface=""/>
        <a:cs typeface=""/>
      </a:majorFont>
      <a:minorFont>
        <a:latin typeface="Times New Roman"/>
        <a:ea typeface=""/>
        <a:cs typeface=""/>
      </a:minorFont>
    </a:fontScheme>
    <a:fmtScheme name="Badge">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12700" cap="flat" cmpd="sng" algn="in">
          <a:solidFill>
            <a:schemeClr val="phClr"/>
          </a:solidFill>
          <a:prstDash val="solid"/>
        </a:ln>
        <a:ln w="50800" cap="flat" cmpd="sng" algn="in">
          <a:solidFill>
            <a:schemeClr val="phClr"/>
          </a:solidFill>
          <a:prstDash val="solid"/>
        </a:ln>
      </a:lnStyleLst>
      <a:effectStyleLst>
        <a:effectStyle>
          <a:effectLst/>
        </a:effectStyle>
        <a:effectStyle>
          <a:effectLst/>
        </a:effectStyle>
        <a:effectStyle>
          <a:effectLst>
            <a:outerShdw blurRad="38100" dist="25400" dir="5400000" algn="ctr" rotWithShape="0">
              <a:srgbClr val="000000">
                <a:alpha val="2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adge" id="{71A07785-5930-41D4-9A83-E23602B48E98}" vid="{A1A3E1F0-B5EF-49C5-810A-B1B32AEDDC8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Badge</Template>
  <TotalTime>2777</TotalTime>
  <Words>3389</Words>
  <Application>Microsoft Office PowerPoint</Application>
  <PresentationFormat>Widescreen</PresentationFormat>
  <Paragraphs>229</Paragraphs>
  <Slides>45</Slides>
  <Notes>12</Notes>
  <HiddenSlides>0</HiddenSlides>
  <MMClips>2</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45</vt:i4>
      </vt:variant>
    </vt:vector>
  </HeadingPairs>
  <TitlesOfParts>
    <vt:vector size="53" baseType="lpstr">
      <vt:lpstr>Arial</vt:lpstr>
      <vt:lpstr>Calibri</vt:lpstr>
      <vt:lpstr>Cambria</vt:lpstr>
      <vt:lpstr>Consolas</vt:lpstr>
      <vt:lpstr>Courier New</vt:lpstr>
      <vt:lpstr>Gill Sans MT</vt:lpstr>
      <vt:lpstr>Times New Roman</vt:lpstr>
      <vt:lpstr>Badge</vt:lpstr>
      <vt:lpstr>Section 5</vt:lpstr>
      <vt:lpstr>3D  Environment</vt:lpstr>
      <vt:lpstr>Orthographic Projection vs. Perspective Projection</vt:lpstr>
      <vt:lpstr>Set UP 3D</vt:lpstr>
      <vt:lpstr>Set UP 3D</vt:lpstr>
      <vt:lpstr>Prespective</vt:lpstr>
      <vt:lpstr>Prespective</vt:lpstr>
      <vt:lpstr>glEnable()</vt:lpstr>
      <vt:lpstr>gluLookAt() </vt:lpstr>
      <vt:lpstr>Example</vt:lpstr>
      <vt:lpstr>Lightening</vt:lpstr>
      <vt:lpstr>Lightening</vt:lpstr>
      <vt:lpstr>Lightening</vt:lpstr>
      <vt:lpstr>Types of reflectioN</vt:lpstr>
      <vt:lpstr>Types of reflectioN</vt:lpstr>
      <vt:lpstr>Types of reflectioN</vt:lpstr>
      <vt:lpstr>light sources in OpenGL</vt:lpstr>
      <vt:lpstr>light sources in OpenGL</vt:lpstr>
      <vt:lpstr>Material Properties</vt:lpstr>
      <vt:lpstr>Example</vt:lpstr>
      <vt:lpstr>Texture</vt:lpstr>
      <vt:lpstr>Texture</vt:lpstr>
      <vt:lpstr>Texture</vt:lpstr>
      <vt:lpstr>Texture</vt:lpstr>
      <vt:lpstr>Texture Wrapping</vt:lpstr>
      <vt:lpstr>Texture Wrapping</vt:lpstr>
      <vt:lpstr>Texture Filtering</vt:lpstr>
      <vt:lpstr>Texture Filtering</vt:lpstr>
      <vt:lpstr>Texture Filtering</vt:lpstr>
      <vt:lpstr>Generating a texture</vt:lpstr>
      <vt:lpstr>Generating a texture</vt:lpstr>
      <vt:lpstr>Generating a texture</vt:lpstr>
      <vt:lpstr>Example</vt:lpstr>
      <vt:lpstr>Collision</vt:lpstr>
      <vt:lpstr>Collision</vt:lpstr>
      <vt:lpstr>AABB - AABB collisions</vt:lpstr>
      <vt:lpstr>how do we determine collisions?</vt:lpstr>
      <vt:lpstr>how do we determine collisions?</vt:lpstr>
      <vt:lpstr>AABB - Circle collision detection</vt:lpstr>
      <vt:lpstr>AABB - Circle collision detection</vt:lpstr>
      <vt:lpstr>AABB - Circle collision detection</vt:lpstr>
      <vt:lpstr>how do we determine collisions?</vt:lpstr>
      <vt:lpstr>Example</vt:lpstr>
      <vt:lpstr>Links</vt:lpstr>
      <vt:lpstr>Thanks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 Drawing and Transformations</dc:title>
  <dc:creator>RePack by Diakov</dc:creator>
  <cp:lastModifiedBy>Mai Ashraf Bakeer</cp:lastModifiedBy>
  <cp:revision>87</cp:revision>
  <dcterms:created xsi:type="dcterms:W3CDTF">2018-03-03T21:36:11Z</dcterms:created>
  <dcterms:modified xsi:type="dcterms:W3CDTF">2021-05-30T15:21:53Z</dcterms:modified>
</cp:coreProperties>
</file>